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1290" r:id="rId2"/>
    <p:sldId id="1262" r:id="rId3"/>
    <p:sldId id="1291" r:id="rId4"/>
    <p:sldId id="1292" r:id="rId5"/>
    <p:sldId id="1293" r:id="rId6"/>
    <p:sldId id="1294" r:id="rId7"/>
    <p:sldId id="1295" r:id="rId8"/>
    <p:sldId id="1296" r:id="rId9"/>
    <p:sldId id="1287" r:id="rId10"/>
    <p:sldId id="128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3F3F3"/>
    <a:srgbClr val="DAFFA3"/>
    <a:srgbClr val="1AB0C0"/>
    <a:srgbClr val="347EB6"/>
    <a:srgbClr val="BA996E"/>
    <a:srgbClr val="DAD5CC"/>
    <a:srgbClr val="1BBACB"/>
    <a:srgbClr val="1CC1D2"/>
    <a:srgbClr val="CE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884" autoAdjust="0"/>
  </p:normalViewPr>
  <p:slideViewPr>
    <p:cSldViewPr snapToGrid="0">
      <p:cViewPr varScale="1">
        <p:scale>
          <a:sx n="109" d="100"/>
          <a:sy n="109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A5AFE-8970-4B57-B423-C596FB58AC0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710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A5AFE-8970-4B57-B423-C596FB58AC0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568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A5AFE-8970-4B57-B423-C596FB58AC0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0008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A5AFE-8970-4B57-B423-C596FB58AC0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496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A5AFE-8970-4B57-B423-C596FB58AC0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11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PVN FME Q3 </a:t>
            </a:r>
            <a:r>
              <a:rPr lang="zh-TW" altLang="en-US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工作報告</a:t>
            </a:r>
            <a:endParaRPr lang="en-US" altLang="zh-TW" sz="3600" b="1" dirty="0">
              <a:solidFill>
                <a:srgbClr val="002060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部門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(PVN)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第六事業群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製造及營運管理中心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越南製造處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-PVN1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廠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-FME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自動化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課</a:t>
            </a:r>
            <a:endParaRPr lang="en-US" altLang="zh-TW" sz="1600" b="1" dirty="0" smtClean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姓名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Leon_Than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職等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19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日期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2026/09/18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4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17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9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0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187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409334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dirty="0" smtClean="0">
                  <a:latin typeface="Arial" panose="020B0604020202020204" pitchFamily="34" charset="0"/>
                  <a:sym typeface="+mn-ea"/>
                </a:rPr>
                <a:t>2026  - </a:t>
              </a:r>
              <a:r>
                <a:rPr lang="en-US" dirty="0">
                  <a:effectLst/>
                  <a:latin typeface="Arial" panose="020B0604020202020204" pitchFamily="34" charset="0"/>
                </a:rPr>
                <a:t>Annual Q2–Q3 Work Achievements</a:t>
              </a:r>
              <a:endParaRPr lang="en-US" altLang="zh-TW" dirty="0">
                <a:latin typeface="Arial" panose="020B0604020202020204" pitchFamily="34" charset="0"/>
                <a:sym typeface="+mn-ea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7ECDC0-7478-1389-3555-719F52C2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17898"/>
              </p:ext>
            </p:extLst>
          </p:nvPr>
        </p:nvGraphicFramePr>
        <p:xfrm>
          <a:off x="505217" y="1227823"/>
          <a:ext cx="11077303" cy="5206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Work Result</a:t>
                      </a:r>
                      <a:endParaRPr lang="zh-TW" altLang="en-US" sz="20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Continue c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omplete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unfinished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rojects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F5-4F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Q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1-2026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2.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new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External projects at F5-4F and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F5-5F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Improve missing component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detect function.</a:t>
                      </a:r>
                      <a:endParaRPr lang="vi-VN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Add new function for AOI Carton Machine of 4K-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Panasonic.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Build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ixed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nspection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Box</a:t>
                      </a:r>
                      <a:r>
                        <a:rPr lang="vi-VN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E</a:t>
                      </a:r>
                      <a:r>
                        <a:rPr lang="vi-VN" altLang="zh-TW" sz="1400" baseline="0" dirty="0" smtClean="0">
                          <a:latin typeface="+mn-lt"/>
                          <a:cs typeface="Arial" panose="020B0604020202020204" pitchFamily="34" charset="0"/>
                        </a:rPr>
                        <a:t>nhance Detection Accuracy.</a:t>
                      </a:r>
                      <a:endParaRPr lang="en-US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 Inspection Process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 for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Station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 in Revlon/Aurora/CCX Series.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Setup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 and Build the Program for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Label Station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 in Eero W/X.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 and organize human resources of Software and Vision </a:t>
                      </a:r>
                      <a:r>
                        <a:rPr lang="vi-V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Team.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Ensure production and customer requirements. Meet automation needs.</a:t>
                      </a:r>
                      <a:endParaRPr lang="vi-VN" altLang="zh-TW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Continue perform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plans and goals for the F5-5F AOI External 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Station.</a:t>
                      </a:r>
                      <a:endParaRPr lang="vi-VN" altLang="zh-TW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521946"/>
                  </a:ext>
                </a:extLst>
              </a:tr>
            </a:tbl>
          </a:graphicData>
        </a:graphic>
      </p:graphicFrame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799087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Continue c</a:t>
            </a:r>
            <a:r>
              <a:rPr lang="en-US" altLang="zh-TW" dirty="0" err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omplete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unfinished AOI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Projects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F5-4F of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- 202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</a:t>
            </a:r>
            <a:endParaRPr lang="en-US" altLang="zh-TW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3" y="1404817"/>
            <a:ext cx="5504688" cy="4614029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Process</a:t>
            </a:r>
            <a:endParaRPr lang="vi-VN" altLang="vi-VN" sz="1400" b="1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EZ1K/Lightsaber Series : Completed AOI External and Label Check projects.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Somerset Series : Somerset-Infra and Somerset-WP projects are completed.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Sky/Star/</a:t>
            </a:r>
            <a:r>
              <a:rPr lang="en-US" altLang="vi-VN" sz="12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Nanook</a:t>
            </a: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Series : Projects are in progress, mainly waiting for training models.</a:t>
            </a:r>
            <a:endParaRPr lang="vi-VN" altLang="vi-VN" sz="12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Panasonic Series : AOI Carton, AOI </a:t>
            </a:r>
            <a:r>
              <a:rPr lang="en-US" altLang="vi-VN" sz="12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Giftbox</a:t>
            </a: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and External projects are under training and verification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Revlon/R30/CCX Series : Most projects have been completed.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Yamaha/Zumba Series : Projects are currently in training and verification stages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&amp; Improvement</a:t>
            </a:r>
            <a:endParaRPr lang="vi-VN" altLang="vi-VN" sz="1400" b="1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Maintain stable inspection performance.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Improved defect detection accuracy and reduced false detection.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Continued AI training and verification.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Optimized inspection functions based on actual production feedback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53" y="2175093"/>
            <a:ext cx="5717385" cy="3400019"/>
          </a:xfrm>
          <a:prstGeom prst="rect">
            <a:avLst/>
          </a:prstGeom>
        </p:spPr>
      </p:pic>
      <p:grpSp>
        <p:nvGrpSpPr>
          <p:cNvPr id="14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320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dirty="0" smtClean="0">
                <a:latin typeface="Arial (Body)"/>
                <a:cs typeface="Arial" panose="020B0604020202020204" pitchFamily="34" charset="0"/>
                <a:sym typeface="+mn-ea"/>
              </a:rPr>
              <a:t>2. </a:t>
            </a:r>
            <a:r>
              <a:rPr lang="en-US" altLang="zh-TW" dirty="0">
                <a:latin typeface="Arial (Body)"/>
                <a:cs typeface="Arial" panose="020B0604020202020204" pitchFamily="34" charset="0"/>
              </a:rPr>
              <a:t>Complete new AOI External projects at </a:t>
            </a:r>
            <a:r>
              <a:rPr lang="en-US" altLang="zh-TW" dirty="0" smtClean="0">
                <a:latin typeface="Arial (Body)"/>
                <a:cs typeface="Arial" panose="020B0604020202020204" pitchFamily="34" charset="0"/>
              </a:rPr>
              <a:t>F5-4F and F5-5F. </a:t>
            </a:r>
            <a:r>
              <a:rPr lang="en-US" altLang="zh-TW" dirty="0">
                <a:latin typeface="Arial (Body)"/>
                <a:cs typeface="Arial" panose="020B0604020202020204" pitchFamily="34" charset="0"/>
              </a:rPr>
              <a:t>Improve missing component </a:t>
            </a:r>
            <a:r>
              <a:rPr lang="vi-VN" altLang="zh-TW" dirty="0" smtClean="0">
                <a:latin typeface="Arial (Body)"/>
                <a:cs typeface="Arial" panose="020B0604020202020204" pitchFamily="34" charset="0"/>
              </a:rPr>
              <a:t>issue</a:t>
            </a:r>
            <a:r>
              <a:rPr lang="en-US" altLang="zh-TW" dirty="0" smtClean="0">
                <a:latin typeface="Arial (Body)"/>
                <a:cs typeface="Arial" panose="020B0604020202020204" pitchFamily="34" charset="0"/>
              </a:rPr>
              <a:t> and detect function</a:t>
            </a:r>
            <a:r>
              <a:rPr lang="vi-VN" altLang="zh-TW" dirty="0" smtClean="0">
                <a:latin typeface="Arial (Body)"/>
                <a:cs typeface="Arial" panose="020B0604020202020204" pitchFamily="34" charset="0"/>
              </a:rPr>
              <a:t>.</a:t>
            </a:r>
            <a:endParaRPr lang="vi-VN" altLang="zh-TW" dirty="0"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3" y="1562866"/>
            <a:ext cx="5504688" cy="4222433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Process</a:t>
            </a:r>
            <a:r>
              <a:rPr lang="vi-VN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endParaRPr lang="vi-VN" altLang="vi-VN" sz="1400" b="1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Eero</a:t>
            </a: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Xenia/Wormhole: External project is completed ; Label Check is under verification.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Aurora Series : Most projects have been completed successfully and are under verification.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Summit Series : External project is completed ; Dimension project is under implementation and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  <a:r>
              <a:rPr lang="en-US" altLang="vi-VN" sz="1400" b="1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&amp; Improvement</a:t>
            </a:r>
            <a:endParaRPr lang="vi-VN" altLang="vi-VN" sz="1400" b="1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Ensured stable inspection results and improved defect detection accuracy.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Continued training and verifying AI models for new projects.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Optimized inspection parameters to reduce false detection and improve system stability</a:t>
            </a:r>
            <a:r>
              <a:rPr lang="en-US" altLang="vi-VN" sz="12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97" y="4256160"/>
            <a:ext cx="4631419" cy="1347658"/>
          </a:xfrm>
          <a:prstGeom prst="rect">
            <a:avLst/>
          </a:prstGeom>
        </p:spPr>
      </p:pic>
      <p:pic>
        <p:nvPicPr>
          <p:cNvPr id="2" name="Picture 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342126" y="1562866"/>
            <a:ext cx="2359152" cy="1413364"/>
          </a:xfrm>
          <a:prstGeom prst="rect">
            <a:avLst/>
          </a:prstGeom>
        </p:spPr>
      </p:pic>
      <p:pic>
        <p:nvPicPr>
          <p:cNvPr id="3" name="Picture 2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126" y="3354203"/>
            <a:ext cx="2359152" cy="1417320"/>
          </a:xfrm>
          <a:prstGeom prst="rect">
            <a:avLst/>
          </a:prstGeom>
        </p:spPr>
      </p:pic>
      <p:pic>
        <p:nvPicPr>
          <p:cNvPr id="4" name="Picture 3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003" y="3328066"/>
            <a:ext cx="2354502" cy="1417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003" y="1562866"/>
            <a:ext cx="2354502" cy="1413364"/>
          </a:xfrm>
          <a:prstGeom prst="rect">
            <a:avLst/>
          </a:prstGeom>
        </p:spPr>
      </p:pic>
      <p:pic>
        <p:nvPicPr>
          <p:cNvPr id="7" name="Picture 6"/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003" y="5081415"/>
            <a:ext cx="2359152" cy="1417320"/>
          </a:xfrm>
          <a:prstGeom prst="rect">
            <a:avLst/>
          </a:prstGeom>
        </p:spPr>
      </p:pic>
      <p:grpSp>
        <p:nvGrpSpPr>
          <p:cNvPr id="19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1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8" name="Picture 7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126" y="5092516"/>
            <a:ext cx="2359152" cy="1417320"/>
          </a:xfrm>
          <a:prstGeom prst="rect">
            <a:avLst/>
          </a:prstGeom>
        </p:spPr>
      </p:pic>
      <p:sp>
        <p:nvSpPr>
          <p:cNvPr id="27" name="圆角矩形 5"/>
          <p:cNvSpPr/>
          <p:nvPr/>
        </p:nvSpPr>
        <p:spPr>
          <a:xfrm>
            <a:off x="8188940" y="3023593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4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Summit Series</a:t>
            </a:r>
            <a:endParaRPr lang="en-US" altLang="zh-CN" sz="1400" dirty="0">
              <a:solidFill>
                <a:sysClr val="windowText" lastClr="000000"/>
              </a:solidFill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圆角矩形 5"/>
          <p:cNvSpPr/>
          <p:nvPr/>
        </p:nvSpPr>
        <p:spPr>
          <a:xfrm>
            <a:off x="8188939" y="4791722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4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Aurora Series</a:t>
            </a:r>
            <a:endParaRPr lang="en-US" altLang="zh-CN" sz="1400" dirty="0">
              <a:solidFill>
                <a:sysClr val="windowText" lastClr="000000"/>
              </a:solidFill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圆角矩形 5"/>
          <p:cNvSpPr/>
          <p:nvPr/>
        </p:nvSpPr>
        <p:spPr>
          <a:xfrm>
            <a:off x="8188939" y="6532379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4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Eero W/X Series</a:t>
            </a:r>
            <a:endParaRPr lang="en-US" altLang="zh-CN" sz="1400" dirty="0">
              <a:solidFill>
                <a:sysClr val="windowText" lastClr="000000"/>
              </a:solidFill>
              <a:ea typeface="SimSun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19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27398" y="1399752"/>
            <a:ext cx="6076257" cy="510778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Add new function</a:t>
            </a:r>
            <a:r>
              <a:rPr lang="vi-VN" altLang="zh-TW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for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AOI Carton Machine of 4K-Panasonic</a:t>
            </a:r>
          </a:p>
        </p:txBody>
      </p:sp>
      <p:sp>
        <p:nvSpPr>
          <p:cNvPr id="15" name="AutoShape 18"/>
          <p:cNvSpPr/>
          <p:nvPr/>
        </p:nvSpPr>
        <p:spPr>
          <a:xfrm rot="5400000">
            <a:off x="2782233" y="4058856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195262" y="1462013"/>
            <a:ext cx="3729039" cy="606823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14"/>
          <p:cNvSpPr txBox="1"/>
          <p:nvPr/>
        </p:nvSpPr>
        <p:spPr>
          <a:xfrm>
            <a:off x="6035347" y="1951149"/>
            <a:ext cx="552010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Due to their large size, the K10 and WET stations of the Zumba model must be operated manually. After operation, the cartons must be manually moved onto pallets.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results in increased time, labor, and a potential risk of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collisions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during transportation.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4"/>
          <p:cNvSpPr txBox="1"/>
          <p:nvPr/>
        </p:nvSpPr>
        <p:spPr>
          <a:xfrm>
            <a:off x="6035347" y="3173140"/>
            <a:ext cx="5563174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lvl="0" indent="-171450" defTabSz="457200">
              <a:buFont typeface="Arial" panose="020B0604020202020204" pitchFamily="34" charset="0"/>
              <a:buChar char="•"/>
            </a:pPr>
            <a:r>
              <a:rPr lang="vi-VN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Program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Improvement :</a:t>
            </a:r>
          </a:p>
          <a:p>
            <a:pPr marL="628650" lvl="1" indent="-171450" defTabSz="45720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Added bypass function,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transmit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the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 M0 and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M5 signal to the PLC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200" dirty="0">
              <a:solidFill>
                <a:sysClr val="windowText" lastClr="000000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628650" lvl="1" indent="-171450" defTabSz="45720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If the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bypass mode is set =&gt;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The program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will change the mode and transmit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signal to PLC.</a:t>
            </a:r>
            <a:endParaRPr lang="vi-VN" sz="1200" dirty="0">
              <a:solidFill>
                <a:sysClr val="windowText" lastClr="000000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171450" lvl="0" indent="-171450" defTabSz="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PLC Improvement :</a:t>
            </a:r>
          </a:p>
          <a:p>
            <a:pPr marL="628650" lvl="1" indent="-171450" defTabSz="457200">
              <a:buFont typeface="Wingdings" panose="05000000000000000000" pitchFamily="2" charset="2"/>
              <a:buChar char="ü"/>
            </a:pP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When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the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program change the mode =&gt; The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PLC receives the signal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 =&gt;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The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conveyor</a:t>
            </a:r>
            <a:r>
              <a:rPr lang="en-US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will automatically move</a:t>
            </a:r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6045853" y="5432637"/>
            <a:ext cx="4802007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1" name="TextBox 13"/>
          <p:cNvSpPr txBox="1"/>
          <p:nvPr/>
        </p:nvSpPr>
        <p:spPr>
          <a:xfrm>
            <a:off x="6045853" y="1694712"/>
            <a:ext cx="4830581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42" name="TextBox 15"/>
          <p:cNvSpPr txBox="1"/>
          <p:nvPr/>
        </p:nvSpPr>
        <p:spPr>
          <a:xfrm>
            <a:off x="6035347" y="2929301"/>
            <a:ext cx="4812513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6046706" y="5744697"/>
            <a:ext cx="54393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After manually operating the K10 and WET stations, the operator (OP) uses the bypass mode of the AOI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arton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 transport the cartons.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Thensuresis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reduces operating time and no collisions occur during transport.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73"/>
          <p:cNvSpPr txBox="1"/>
          <p:nvPr/>
        </p:nvSpPr>
        <p:spPr>
          <a:xfrm>
            <a:off x="195263" y="1510772"/>
            <a:ext cx="3729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Location: 4K – Panasonic – Station AOI Carton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Model: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Panasonic</a:t>
            </a:r>
            <a:endParaRPr lang="en-US" sz="1200" i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8363" y="2177780"/>
            <a:ext cx="5028807" cy="463105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圆角矩形 5"/>
          <p:cNvSpPr/>
          <p:nvPr/>
        </p:nvSpPr>
        <p:spPr>
          <a:xfrm>
            <a:off x="1579582" y="3995689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Before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84" y="2421144"/>
            <a:ext cx="1132448" cy="15039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3" name="Picture 5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14668" y="2500747"/>
            <a:ext cx="999835" cy="12332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4" name="Picture 53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062834" y="2394202"/>
            <a:ext cx="1131173" cy="15087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6" name="Right Arrow 55"/>
          <p:cNvSpPr/>
          <p:nvPr/>
        </p:nvSpPr>
        <p:spPr>
          <a:xfrm>
            <a:off x="1599783" y="2994792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>
            <a:off x="3360968" y="2973750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5519" y="4622565"/>
            <a:ext cx="1385154" cy="9821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9" name="Picture 5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539" y="4627319"/>
            <a:ext cx="1385155" cy="9784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8993" y="4622683"/>
            <a:ext cx="1819656" cy="13647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1642" y="4659713"/>
            <a:ext cx="1817573" cy="12862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4" name="Right Arrow 63"/>
          <p:cNvSpPr/>
          <p:nvPr/>
        </p:nvSpPr>
        <p:spPr>
          <a:xfrm>
            <a:off x="2456071" y="5155379"/>
            <a:ext cx="311244" cy="245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274339" y="6012865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67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8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5" name="圆角矩形 5"/>
          <p:cNvSpPr/>
          <p:nvPr/>
        </p:nvSpPr>
        <p:spPr>
          <a:xfrm>
            <a:off x="1579581" y="6421457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After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4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27398" y="1399752"/>
            <a:ext cx="6076257" cy="510778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vi-VN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Build </a:t>
            </a:r>
            <a:r>
              <a:rPr lang="vi-VN" altLang="zh-TW" dirty="0">
                <a:cs typeface="Arial" panose="020B0604020202020204" pitchFamily="34" charset="0"/>
              </a:rPr>
              <a:t>F</a:t>
            </a:r>
            <a:r>
              <a:rPr lang="en-US" altLang="zh-TW" dirty="0" err="1">
                <a:latin typeface="Arial" panose="020B0604020202020204" pitchFamily="34" charset="0"/>
                <a:cs typeface="Arial" panose="020B0604020202020204" pitchFamily="34" charset="0"/>
              </a:rPr>
              <a:t>ixed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zh-TW" dirty="0">
                <a:cs typeface="Arial" panose="020B0604020202020204" pitchFamily="34" charset="0"/>
              </a:rPr>
              <a:t>I</a:t>
            </a:r>
            <a:r>
              <a:rPr lang="en-US" altLang="zh-TW" dirty="0" err="1">
                <a:latin typeface="Arial" panose="020B0604020202020204" pitchFamily="34" charset="0"/>
                <a:cs typeface="Arial" panose="020B0604020202020204" pitchFamily="34" charset="0"/>
              </a:rPr>
              <a:t>nspection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 Box</a:t>
            </a:r>
            <a:r>
              <a:rPr lang="vi-VN" altLang="zh-TW" dirty="0">
                <a:cs typeface="Arial" panose="020B0604020202020204" pitchFamily="34" charset="0"/>
              </a:rPr>
              <a:t> to Enhance Detection Accuracy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AutoShape 18"/>
          <p:cNvSpPr/>
          <p:nvPr/>
        </p:nvSpPr>
        <p:spPr>
          <a:xfrm rot="5400000">
            <a:off x="2782233" y="4058856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195262" y="1462013"/>
            <a:ext cx="4604915" cy="606823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14"/>
          <p:cNvSpPr txBox="1"/>
          <p:nvPr/>
        </p:nvSpPr>
        <p:spPr>
          <a:xfrm>
            <a:off x="6035347" y="1951149"/>
            <a:ext cx="5520109" cy="796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recognition result is affected by environmental light variation.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Open inspection area allows external light to enter the camera field.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Brightness changes cause unstable image quality and false NG judgement.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6029067" y="3227340"/>
            <a:ext cx="5563174" cy="1073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Design a closed inspection box for AOI External Station.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black internal panels to absorb ambient light.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Isolate external factory lighting.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Stabilize image acquisition conditions.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6029067" y="4436018"/>
            <a:ext cx="4802007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1" name="TextBox 13"/>
          <p:cNvSpPr txBox="1"/>
          <p:nvPr/>
        </p:nvSpPr>
        <p:spPr>
          <a:xfrm>
            <a:off x="6045853" y="1694712"/>
            <a:ext cx="4830581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42" name="TextBox 15"/>
          <p:cNvSpPr txBox="1"/>
          <p:nvPr/>
        </p:nvSpPr>
        <p:spPr>
          <a:xfrm>
            <a:off x="6035347" y="2929301"/>
            <a:ext cx="4812513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6029067" y="4766628"/>
            <a:ext cx="314738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Reduce false NG judgement.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Improve Missing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vi-V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tem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detection accuracy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Increase customer confidence 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73"/>
          <p:cNvSpPr txBox="1"/>
          <p:nvPr/>
        </p:nvSpPr>
        <p:spPr>
          <a:xfrm>
            <a:off x="195262" y="1510772"/>
            <a:ext cx="471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:</a:t>
            </a:r>
            <a:r>
              <a:rPr lang="vi-VN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4D/E/P/L/F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– 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Station AOI </a:t>
            </a:r>
            <a:r>
              <a:rPr lang="vi-VN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External</a:t>
            </a:r>
            <a:endParaRPr lang="en-US" sz="1200" i="1" dirty="0" smtClean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Model: </a:t>
            </a:r>
            <a:r>
              <a:rPr lang="vi-VN" sz="1200" i="1" dirty="0">
                <a:ea typeface="微軟正黑體" pitchFamily="34" charset="-120"/>
                <a:cs typeface="Arial" panose="020B0604020202020204" pitchFamily="34" charset="0"/>
                <a:sym typeface="+mn-ea"/>
              </a:rPr>
              <a:t>Revlon/CCX/Auora Series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</a:t>
            </a:r>
            <a:endParaRPr lang="en-US" sz="1200" i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8363" y="2177780"/>
            <a:ext cx="5028807" cy="463105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圆角矩形 5"/>
          <p:cNvSpPr/>
          <p:nvPr/>
        </p:nvSpPr>
        <p:spPr>
          <a:xfrm>
            <a:off x="2719398" y="3034873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Before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grpSp>
        <p:nvGrpSpPr>
          <p:cNvPr id="66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274339" y="6012865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67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8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5" name="圆角矩形 5"/>
          <p:cNvSpPr/>
          <p:nvPr/>
        </p:nvSpPr>
        <p:spPr>
          <a:xfrm>
            <a:off x="951585" y="6483367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After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76452" y="4766628"/>
            <a:ext cx="2641351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operator review workload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AOI station efficiency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Shorten product verification time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84" y="2275495"/>
            <a:ext cx="1426796" cy="19023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423" y="4278692"/>
            <a:ext cx="1545336" cy="2057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94" y="4286833"/>
            <a:ext cx="1540798" cy="20543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9183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78330" y="1399752"/>
            <a:ext cx="5859589" cy="534614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vi-VN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Combine Inspection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for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AOI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in Revlon/Aurora/CCX Series.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AutoShape 18"/>
          <p:cNvSpPr/>
          <p:nvPr/>
        </p:nvSpPr>
        <p:spPr>
          <a:xfrm rot="5400000">
            <a:off x="2782233" y="4058856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195262" y="1462013"/>
            <a:ext cx="4604915" cy="606823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14"/>
          <p:cNvSpPr txBox="1"/>
          <p:nvPr/>
        </p:nvSpPr>
        <p:spPr>
          <a:xfrm>
            <a:off x="6083892" y="1696549"/>
            <a:ext cx="5520109" cy="1627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Current production line has 3 separate inspection station :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External AOI ( Visual Inspection 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Password Check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Keyboard Inspection by AI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Multiple stations create duplicated inspection activities.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Increased operator manpower and production space.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6083892" y="3448267"/>
            <a:ext cx="5563174" cy="1627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Integrate External AOI, Password Check and Keyboard Inspection into one inspection station.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Training AOI Software to inspect 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vi-VN" sz="1200" dirty="0">
                <a:cs typeface="Arial" panose="020B0604020202020204" pitchFamily="34" charset="0"/>
              </a:rPr>
              <a:t>Inspection of Components.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vi-VN" sz="1200" dirty="0">
                <a:cs typeface="Arial" panose="020B0604020202020204" pitchFamily="34" charset="0"/>
              </a:rPr>
              <a:t>Keyboard Layout.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vi-VN" sz="1200" dirty="0">
                <a:cs typeface="Arial" panose="020B0604020202020204" pitchFamily="34" charset="0"/>
              </a:rPr>
              <a:t>Password Display Screen.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6083892" y="5055430"/>
            <a:ext cx="4802007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1" name="TextBox 13"/>
          <p:cNvSpPr txBox="1"/>
          <p:nvPr/>
        </p:nvSpPr>
        <p:spPr>
          <a:xfrm>
            <a:off x="6083892" y="1541632"/>
            <a:ext cx="4830581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42" name="TextBox 15"/>
          <p:cNvSpPr txBox="1"/>
          <p:nvPr/>
        </p:nvSpPr>
        <p:spPr>
          <a:xfrm>
            <a:off x="6092925" y="3299651"/>
            <a:ext cx="4812513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6090189" y="5262788"/>
            <a:ext cx="314738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200" dirty="0" smtClean="0">
                <a:cs typeface="Arial" panose="020B0604020202020204" pitchFamily="34" charset="0"/>
              </a:rPr>
              <a:t>inspection variation.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smtClean="0">
                <a:cs typeface="Arial" panose="020B0604020202020204" pitchFamily="34" charset="0"/>
              </a:rPr>
              <a:t>Maintain inspection accuracy.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smtClean="0">
                <a:cs typeface="Arial" panose="020B0604020202020204" pitchFamily="34" charset="0"/>
              </a:rPr>
              <a:t>Reduce missing inspection items.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smtClean="0">
                <a:cs typeface="Arial" panose="020B0604020202020204" pitchFamily="34" charset="0"/>
              </a:rPr>
              <a:t>Standardize inspection process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73"/>
          <p:cNvSpPr txBox="1"/>
          <p:nvPr/>
        </p:nvSpPr>
        <p:spPr>
          <a:xfrm>
            <a:off x="195262" y="1510772"/>
            <a:ext cx="471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:</a:t>
            </a:r>
            <a:r>
              <a:rPr lang="vi-VN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4D/E/P/L/F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– 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Station AOI </a:t>
            </a:r>
            <a:r>
              <a:rPr lang="vi-VN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External</a:t>
            </a:r>
            <a:endParaRPr lang="en-US" sz="1200" i="1" dirty="0" smtClean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Model: </a:t>
            </a:r>
            <a:r>
              <a:rPr lang="vi-VN" sz="1200" i="1" dirty="0">
                <a:ea typeface="微軟正黑體" pitchFamily="34" charset="-120"/>
                <a:cs typeface="Arial" panose="020B0604020202020204" pitchFamily="34" charset="0"/>
                <a:sym typeface="+mn-ea"/>
              </a:rPr>
              <a:t>Revlon/CCX/Auora Series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 </a:t>
            </a:r>
            <a:endParaRPr lang="en-US" sz="1200" i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8363" y="2177780"/>
            <a:ext cx="5028807" cy="463105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圆角矩形 5"/>
          <p:cNvSpPr/>
          <p:nvPr/>
        </p:nvSpPr>
        <p:spPr>
          <a:xfrm>
            <a:off x="1471616" y="4176079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Before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grpSp>
        <p:nvGrpSpPr>
          <p:cNvPr id="66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279446" y="6002259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67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8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5" name="圆角矩形 5"/>
          <p:cNvSpPr/>
          <p:nvPr/>
        </p:nvSpPr>
        <p:spPr>
          <a:xfrm>
            <a:off x="1455128" y="6414379"/>
            <a:ext cx="2052205" cy="2765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After </a:t>
            </a:r>
            <a:r>
              <a:rPr lang="en-US" altLang="zh-CN" sz="14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mprove</a:t>
            </a:r>
            <a:endParaRPr lang="en-US" altLang="zh-CN" sz="1400" dirty="0">
              <a:solidFill>
                <a:sysClr val="windowText" lastClr="00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52322" y="5266813"/>
            <a:ext cx="2641351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vi-VN" sz="1200" dirty="0">
                <a:cs typeface="Arial" panose="020B0604020202020204" pitchFamily="34" charset="0"/>
              </a:rPr>
              <a:t>3 -&gt; 1 stations.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>
                <a:cs typeface="Arial" panose="020B0604020202020204" pitchFamily="34" charset="0"/>
              </a:rPr>
              <a:t>Save operator manpower.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>
                <a:cs typeface="Arial" panose="020B0604020202020204" pitchFamily="34" charset="0"/>
              </a:rPr>
              <a:t>Improve production efficiency.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>
                <a:cs typeface="Arial" panose="020B0604020202020204" pitchFamily="34" charset="0"/>
              </a:rPr>
              <a:t>Shorten production cycle time</a:t>
            </a:r>
            <a:r>
              <a:rPr lang="vi-VN" sz="1100" dirty="0"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33" y="3564222"/>
            <a:ext cx="4676665" cy="551852"/>
          </a:xfrm>
          <a:prstGeom prst="rect">
            <a:avLst/>
          </a:prstGeom>
        </p:spPr>
      </p:pic>
      <p:pic>
        <p:nvPicPr>
          <p:cNvPr id="35" name="Picture 34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131" y="2589572"/>
            <a:ext cx="1371267" cy="827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3" name="Picture 52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84" y="2594431"/>
            <a:ext cx="1366728" cy="8225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4" name="Picture 53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498" y="2589572"/>
            <a:ext cx="1371600" cy="827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42" y="4545693"/>
            <a:ext cx="2941951" cy="183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78330" y="1399752"/>
            <a:ext cx="5859589" cy="534614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vi-VN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and Build the Program for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AOI Label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in Eero W/X.</a:t>
            </a:r>
            <a:endParaRPr lang="en-US" altLang="zh-TW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AutoShape 18"/>
          <p:cNvSpPr/>
          <p:nvPr/>
        </p:nvSpPr>
        <p:spPr>
          <a:xfrm rot="5400000">
            <a:off x="2838458" y="4066483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TextBox 13"/>
          <p:cNvSpPr txBox="1"/>
          <p:nvPr/>
        </p:nvSpPr>
        <p:spPr>
          <a:xfrm>
            <a:off x="6090189" y="5317314"/>
            <a:ext cx="4802007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6090189" y="5525028"/>
            <a:ext cx="314738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Prevent wrong product label</a:t>
            </a:r>
            <a:r>
              <a:rPr lang="vi-VN" sz="1200" dirty="0"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Automatically detect model/ label</a:t>
            </a:r>
            <a:r>
              <a:rPr lang="vi-VN" sz="1200" dirty="0"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smtClean="0">
                <a:cs typeface="Arial" panose="020B0604020202020204" pitchFamily="34" charset="0"/>
              </a:rPr>
              <a:t>Standardize </a:t>
            </a:r>
            <a:r>
              <a:rPr lang="vi-VN" sz="1200" dirty="0">
                <a:cs typeface="Arial" panose="020B0604020202020204" pitchFamily="34" charset="0"/>
              </a:rPr>
              <a:t>inspection process.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95262" y="1420414"/>
            <a:ext cx="5028807" cy="529941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6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279446" y="6002259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67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8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69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2" name="TextBox 51"/>
          <p:cNvSpPr txBox="1"/>
          <p:nvPr/>
        </p:nvSpPr>
        <p:spPr>
          <a:xfrm>
            <a:off x="8790809" y="5562226"/>
            <a:ext cx="26413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Reduce manual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</a:t>
            </a:r>
            <a:r>
              <a:rPr lang="vi-VN" sz="1100" dirty="0"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Avoid rework caused by wrong label</a:t>
            </a:r>
            <a:endParaRPr lang="vi-VN" sz="1100" dirty="0"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cs typeface="Arial" panose="020B0604020202020204" pitchFamily="34" charset="0"/>
              </a:rPr>
              <a:t>Improve production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vi-VN" sz="1100" dirty="0" smtClean="0"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13"/>
          <p:cNvSpPr txBox="1"/>
          <p:nvPr/>
        </p:nvSpPr>
        <p:spPr>
          <a:xfrm>
            <a:off x="445241" y="1610833"/>
            <a:ext cx="4830581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3969" y="1697065"/>
            <a:ext cx="526683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vi-V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label inspection does not have an automatic check to verify actual product label vs model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in SFIS.</a:t>
            </a:r>
            <a:endParaRPr lang="vi-V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Operator mainly performs visual inspection, creating risk of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Wrong product label applied to product.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Model/ artwork mismatch not detected before shipment.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Human error during label checking.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Risk of incorrect DSN/POD label on finished product.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Potential customer complaint and rework.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 inspection and handling time.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 accuracy depends on operator.</a:t>
            </a:r>
          </a:p>
        </p:txBody>
      </p:sp>
      <p:sp>
        <p:nvSpPr>
          <p:cNvPr id="95" name="TextBox 15"/>
          <p:cNvSpPr txBox="1"/>
          <p:nvPr/>
        </p:nvSpPr>
        <p:spPr>
          <a:xfrm>
            <a:off x="411555" y="4934482"/>
            <a:ext cx="4812513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3969" y="5018101"/>
            <a:ext cx="5293757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 – </a:t>
            </a:r>
            <a:r>
              <a:rPr lang="vi-V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Setup AOI Label Inspection Station.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Set up an additional AOI Label Station at Packing VI to automatically verify DSN label content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7" name="Picture 2" descr="cid:image002.png@01DD139D.AE495E6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61" y="5854775"/>
            <a:ext cx="2253286" cy="8640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3" descr="image00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109" y="5848138"/>
            <a:ext cx="1684423" cy="8640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98"/>
          <p:cNvSpPr txBox="1"/>
          <p:nvPr/>
        </p:nvSpPr>
        <p:spPr>
          <a:xfrm>
            <a:off x="5960790" y="1503137"/>
            <a:ext cx="5293757" cy="255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200" dirty="0">
                <a:cs typeface="Arial" panose="020B0604020202020204" pitchFamily="34" charset="0"/>
              </a:rPr>
              <a:t>Scan the DSN Label and retrieve the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corresponding model information from SFIS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AOI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compares 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 information from SFIS.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Actual model information on the physical label.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Label artwork/content according to the approved specification.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the information matches -&gt; </a:t>
            </a:r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the information does not match -&gt;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 / 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preventing the wrong label from proceeding to the next </a:t>
            </a:r>
            <a:r>
              <a:rPr lang="vi-V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1" name="Picture 100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162" y="4017641"/>
            <a:ext cx="2240280" cy="12896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" name="Picture 101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303" y="4017641"/>
            <a:ext cx="2242365" cy="12896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5723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39416" y="268498"/>
              <a:ext cx="9466734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r>
                <a:rPr lang="en-US" dirty="0">
                  <a:effectLst/>
                  <a:latin typeface="Arial" panose="020B0604020202020204" pitchFamily="34" charset="0"/>
                </a:rPr>
                <a:t>Work and Self-Development Plan: Q4 2026 – Q1 2027</a:t>
              </a:r>
              <a:endParaRPr lang="en-US" altLang="zh-TW" dirty="0">
                <a:latin typeface="Arial" panose="020B0604020202020204" pitchFamily="34" charset="0"/>
                <a:sym typeface="+mn-ea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280428"/>
              </p:ext>
            </p:extLst>
          </p:nvPr>
        </p:nvGraphicFramePr>
        <p:xfrm>
          <a:off x="616856" y="1103004"/>
          <a:ext cx="11077303" cy="34709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Time</a:t>
                      </a:r>
                      <a:endParaRPr lang="zh-TW" altLang="en-US" sz="20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and Self-Development Plan</a:t>
                      </a:r>
                      <a:endParaRPr lang="zh-TW" altLang="en-US" sz="2000" b="1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 to improve Chinese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 to improve robot and PLC problem solving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problem solving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programming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</a:t>
                      </a:r>
                      <a:r>
                        <a:rPr lang="vi-VN" altLang="zh-TW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anage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and organize human</a:t>
                      </a:r>
                      <a:r>
                        <a:rPr lang="vi-V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87068"/>
                  </a:ext>
                </a:extLst>
              </a:tr>
            </a:tbl>
          </a:graphicData>
        </a:graphic>
      </p:graphicFrame>
      <p:grpSp>
        <p:nvGrpSpPr>
          <p:cNvPr id="24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5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582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77D081A-23EC-28BC-E9A2-12AF4C1943AF}"/>
              </a:ext>
            </a:extLst>
          </p:cNvPr>
          <p:cNvGrpSpPr/>
          <p:nvPr/>
        </p:nvGrpSpPr>
        <p:grpSpPr>
          <a:xfrm>
            <a:off x="670560" y="359028"/>
            <a:ext cx="10850880" cy="6368044"/>
            <a:chOff x="2687161" y="3731096"/>
            <a:chExt cx="5158677" cy="3027467"/>
          </a:xfrm>
          <a:solidFill>
            <a:srgbClr val="F3F3F3">
              <a:alpha val="70000"/>
            </a:srgbClr>
          </a:solidFill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7A4573F8-6937-86ED-DA57-19CBB54AC432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49FC5EDC-C132-2D3F-82BC-185E08553B3A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2E6F49D-B8E8-E22F-E078-46540DAAFD6D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C7CEE80-9713-274D-065D-98D3B85113E5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C3F24F34-AB41-BCCA-4BB7-4A7B92AAD306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384959DD-456C-BA05-F33C-465D58CE8D02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A2E6CB6A-6597-3032-2E74-65BE56923958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7">
              <a:extLst>
                <a:ext uri="{FF2B5EF4-FFF2-40B4-BE49-F238E27FC236}">
                  <a16:creationId xmlns:a16="http://schemas.microsoft.com/office/drawing/2014/main" id="{C45F9899-2976-EEE4-456B-6EEB89BA429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F97D090-67C8-5D68-45E1-A869836A157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9">
              <a:extLst>
                <a:ext uri="{FF2B5EF4-FFF2-40B4-BE49-F238E27FC236}">
                  <a16:creationId xmlns:a16="http://schemas.microsoft.com/office/drawing/2014/main" id="{B6CEBBE6-941A-F48D-2B1C-C4C4ADD2BDC2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F77A88D7-B874-B397-E814-67F16FD5B28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1">
              <a:extLst>
                <a:ext uri="{FF2B5EF4-FFF2-40B4-BE49-F238E27FC236}">
                  <a16:creationId xmlns:a16="http://schemas.microsoft.com/office/drawing/2014/main" id="{3D2B9FE7-92B2-7184-9165-F6AD75B3733A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528BBB0B-3AA2-BEF8-A5FB-6A0A0A22EA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B6BD2CA9-C045-FD40-CE92-D5BA83A3FBE6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4">
              <a:extLst>
                <a:ext uri="{FF2B5EF4-FFF2-40B4-BE49-F238E27FC236}">
                  <a16:creationId xmlns:a16="http://schemas.microsoft.com/office/drawing/2014/main" id="{362F4038-DEEB-EC03-E66C-A6FBB7FF34D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4607E0B0-27EC-AAE4-5D4C-178A0B80DDE2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6CDD5853-F08A-8852-34F3-C1BBB7511A2F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C6BAD6A3-3482-12FB-DF79-2C00CAC8E23E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0D58F878-D699-BF90-F0D3-E279C95EC0C1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086950D6-063F-2702-AEC4-5E0112B6DB6E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:a16="http://schemas.microsoft.com/office/drawing/2014/main" id="{E515F2B9-6B5E-219D-D92C-BA2414832CA3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:a16="http://schemas.microsoft.com/office/drawing/2014/main" id="{41A1E5CE-DBC5-04C7-9E24-E2C49957CBD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BA294110-2951-C29E-067B-1904BC2CFF7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">
              <a:extLst>
                <a:ext uri="{FF2B5EF4-FFF2-40B4-BE49-F238E27FC236}">
                  <a16:creationId xmlns:a16="http://schemas.microsoft.com/office/drawing/2014/main" id="{FC5FD4D9-40A7-FEF1-DCD9-A1A95D0123BD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4">
              <a:extLst>
                <a:ext uri="{FF2B5EF4-FFF2-40B4-BE49-F238E27FC236}">
                  <a16:creationId xmlns:a16="http://schemas.microsoft.com/office/drawing/2014/main" id="{FBDC049B-F60F-AB83-03B3-7A88B46D9B2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366587DD-155D-714C-DE2E-A1EA295B195F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6">
              <a:extLst>
                <a:ext uri="{FF2B5EF4-FFF2-40B4-BE49-F238E27FC236}">
                  <a16:creationId xmlns:a16="http://schemas.microsoft.com/office/drawing/2014/main" id="{13C9D349-41E5-6CA0-0213-6B1CEE60F6F2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7">
              <a:extLst>
                <a:ext uri="{FF2B5EF4-FFF2-40B4-BE49-F238E27FC236}">
                  <a16:creationId xmlns:a16="http://schemas.microsoft.com/office/drawing/2014/main" id="{EA583DF7-53C6-7A50-BF80-E86D72AD6BA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8">
              <a:extLst>
                <a:ext uri="{FF2B5EF4-FFF2-40B4-BE49-F238E27FC236}">
                  <a16:creationId xmlns:a16="http://schemas.microsoft.com/office/drawing/2014/main" id="{C73078B7-4006-93D1-9F76-C0559BB73D5B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9">
              <a:extLst>
                <a:ext uri="{FF2B5EF4-FFF2-40B4-BE49-F238E27FC236}">
                  <a16:creationId xmlns:a16="http://schemas.microsoft.com/office/drawing/2014/main" id="{12C312A9-51F7-74A1-522E-7B1CA5205AC5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0">
              <a:extLst>
                <a:ext uri="{FF2B5EF4-FFF2-40B4-BE49-F238E27FC236}">
                  <a16:creationId xmlns:a16="http://schemas.microsoft.com/office/drawing/2014/main" id="{9F5D3F7C-417F-880A-39F7-DF75C0663099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1">
              <a:extLst>
                <a:ext uri="{FF2B5EF4-FFF2-40B4-BE49-F238E27FC236}">
                  <a16:creationId xmlns:a16="http://schemas.microsoft.com/office/drawing/2014/main" id="{9655693D-1021-17BB-D6B7-85CF049C9F5A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2">
              <a:extLst>
                <a:ext uri="{FF2B5EF4-FFF2-40B4-BE49-F238E27FC236}">
                  <a16:creationId xmlns:a16="http://schemas.microsoft.com/office/drawing/2014/main" id="{138BECA5-B6A9-2B9E-28E6-9314815026CA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3">
              <a:extLst>
                <a:ext uri="{FF2B5EF4-FFF2-40B4-BE49-F238E27FC236}">
                  <a16:creationId xmlns:a16="http://schemas.microsoft.com/office/drawing/2014/main" id="{558D37A2-C07A-7ABD-33F8-50EBE6E2AF16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4">
              <a:extLst>
                <a:ext uri="{FF2B5EF4-FFF2-40B4-BE49-F238E27FC236}">
                  <a16:creationId xmlns:a16="http://schemas.microsoft.com/office/drawing/2014/main" id="{61C1EBAF-8379-5819-3CC1-95C0C5DE06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5">
              <a:extLst>
                <a:ext uri="{FF2B5EF4-FFF2-40B4-BE49-F238E27FC236}">
                  <a16:creationId xmlns:a16="http://schemas.microsoft.com/office/drawing/2014/main" id="{68F3EB5C-EC8A-A67A-34F6-98EEB5EF8CE6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6">
              <a:extLst>
                <a:ext uri="{FF2B5EF4-FFF2-40B4-BE49-F238E27FC236}">
                  <a16:creationId xmlns:a16="http://schemas.microsoft.com/office/drawing/2014/main" id="{F07B861C-C716-A2AA-A112-D10988A278D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7">
              <a:extLst>
                <a:ext uri="{FF2B5EF4-FFF2-40B4-BE49-F238E27FC236}">
                  <a16:creationId xmlns:a16="http://schemas.microsoft.com/office/drawing/2014/main" id="{A1C14D9B-0A2E-E885-1FB5-2BD9B2DDAE23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8">
              <a:extLst>
                <a:ext uri="{FF2B5EF4-FFF2-40B4-BE49-F238E27FC236}">
                  <a16:creationId xmlns:a16="http://schemas.microsoft.com/office/drawing/2014/main" id="{AE2D2B93-8313-5B3C-6356-E8B612213E6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9">
              <a:extLst>
                <a:ext uri="{FF2B5EF4-FFF2-40B4-BE49-F238E27FC236}">
                  <a16:creationId xmlns:a16="http://schemas.microsoft.com/office/drawing/2014/main" id="{A04D2050-F210-C3B2-CB8E-EB63F940373B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50">
              <a:extLst>
                <a:ext uri="{FF2B5EF4-FFF2-40B4-BE49-F238E27FC236}">
                  <a16:creationId xmlns:a16="http://schemas.microsoft.com/office/drawing/2014/main" id="{6A75537C-D56C-0D82-983C-9808E1973A6F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51">
              <a:extLst>
                <a:ext uri="{FF2B5EF4-FFF2-40B4-BE49-F238E27FC236}">
                  <a16:creationId xmlns:a16="http://schemas.microsoft.com/office/drawing/2014/main" id="{457ECB51-F55B-7F3A-9D3C-BAA2246E728A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2">
              <a:extLst>
                <a:ext uri="{FF2B5EF4-FFF2-40B4-BE49-F238E27FC236}">
                  <a16:creationId xmlns:a16="http://schemas.microsoft.com/office/drawing/2014/main" id="{8BE1695C-2FDC-7038-FE89-8078229FA93C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3">
              <a:extLst>
                <a:ext uri="{FF2B5EF4-FFF2-40B4-BE49-F238E27FC236}">
                  <a16:creationId xmlns:a16="http://schemas.microsoft.com/office/drawing/2014/main" id="{C2C04706-286F-6090-B318-AB74444C624E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4">
              <a:extLst>
                <a:ext uri="{FF2B5EF4-FFF2-40B4-BE49-F238E27FC236}">
                  <a16:creationId xmlns:a16="http://schemas.microsoft.com/office/drawing/2014/main" id="{47E70E2B-2131-5652-D0FB-2F9D115D5A79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5">
              <a:extLst>
                <a:ext uri="{FF2B5EF4-FFF2-40B4-BE49-F238E27FC236}">
                  <a16:creationId xmlns:a16="http://schemas.microsoft.com/office/drawing/2014/main" id="{CC238BE2-7690-9A48-C602-2D98BAC4F779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6">
              <a:extLst>
                <a:ext uri="{FF2B5EF4-FFF2-40B4-BE49-F238E27FC236}">
                  <a16:creationId xmlns:a16="http://schemas.microsoft.com/office/drawing/2014/main" id="{8F65AA75-2B18-17E8-F9C2-C49201E589B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7">
              <a:extLst>
                <a:ext uri="{FF2B5EF4-FFF2-40B4-BE49-F238E27FC236}">
                  <a16:creationId xmlns:a16="http://schemas.microsoft.com/office/drawing/2014/main" id="{9A83FABF-242B-6F37-D4D7-AB874575E42A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8">
              <a:extLst>
                <a:ext uri="{FF2B5EF4-FFF2-40B4-BE49-F238E27FC236}">
                  <a16:creationId xmlns:a16="http://schemas.microsoft.com/office/drawing/2014/main" id="{AB00ED80-4597-F69C-1622-C84D514099D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9">
              <a:extLst>
                <a:ext uri="{FF2B5EF4-FFF2-40B4-BE49-F238E27FC236}">
                  <a16:creationId xmlns:a16="http://schemas.microsoft.com/office/drawing/2014/main" id="{2DFF1F49-C628-32AD-05A5-16FF8DA3DC3A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60">
              <a:extLst>
                <a:ext uri="{FF2B5EF4-FFF2-40B4-BE49-F238E27FC236}">
                  <a16:creationId xmlns:a16="http://schemas.microsoft.com/office/drawing/2014/main" id="{3884F08F-AAA1-DD6C-27A7-10478CD3F84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61">
              <a:extLst>
                <a:ext uri="{FF2B5EF4-FFF2-40B4-BE49-F238E27FC236}">
                  <a16:creationId xmlns:a16="http://schemas.microsoft.com/office/drawing/2014/main" id="{100AC84E-7863-38C6-70D2-5EA689D4726C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62">
              <a:extLst>
                <a:ext uri="{FF2B5EF4-FFF2-40B4-BE49-F238E27FC236}">
                  <a16:creationId xmlns:a16="http://schemas.microsoft.com/office/drawing/2014/main" id="{D41E1187-706B-5E75-D100-6A20102B202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63">
              <a:extLst>
                <a:ext uri="{FF2B5EF4-FFF2-40B4-BE49-F238E27FC236}">
                  <a16:creationId xmlns:a16="http://schemas.microsoft.com/office/drawing/2014/main" id="{030BCDAA-A74E-4FB5-F25D-4A3FA93B270C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4">
              <a:extLst>
                <a:ext uri="{FF2B5EF4-FFF2-40B4-BE49-F238E27FC236}">
                  <a16:creationId xmlns:a16="http://schemas.microsoft.com/office/drawing/2014/main" id="{320BA52C-33DB-D23C-7424-7AE25F975324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5">
              <a:extLst>
                <a:ext uri="{FF2B5EF4-FFF2-40B4-BE49-F238E27FC236}">
                  <a16:creationId xmlns:a16="http://schemas.microsoft.com/office/drawing/2014/main" id="{EC34D5C0-298C-76D8-1EB4-FEBACCAB63CE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6">
              <a:extLst>
                <a:ext uri="{FF2B5EF4-FFF2-40B4-BE49-F238E27FC236}">
                  <a16:creationId xmlns:a16="http://schemas.microsoft.com/office/drawing/2014/main" id="{91E69C4F-D9CD-A2D6-5900-2D8E3D9048DF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7">
              <a:extLst>
                <a:ext uri="{FF2B5EF4-FFF2-40B4-BE49-F238E27FC236}">
                  <a16:creationId xmlns:a16="http://schemas.microsoft.com/office/drawing/2014/main" id="{B7635481-8364-6211-7267-6FE1850DC383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8">
              <a:extLst>
                <a:ext uri="{FF2B5EF4-FFF2-40B4-BE49-F238E27FC236}">
                  <a16:creationId xmlns:a16="http://schemas.microsoft.com/office/drawing/2014/main" id="{42E8E9BF-A608-A530-1A06-8E7FD5D8752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9">
              <a:extLst>
                <a:ext uri="{FF2B5EF4-FFF2-40B4-BE49-F238E27FC236}">
                  <a16:creationId xmlns:a16="http://schemas.microsoft.com/office/drawing/2014/main" id="{6F48C602-4F89-9101-99B0-AFA36A8D3425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70">
              <a:extLst>
                <a:ext uri="{FF2B5EF4-FFF2-40B4-BE49-F238E27FC236}">
                  <a16:creationId xmlns:a16="http://schemas.microsoft.com/office/drawing/2014/main" id="{B2808E0B-1B2F-0733-9302-210209556A4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71">
              <a:extLst>
                <a:ext uri="{FF2B5EF4-FFF2-40B4-BE49-F238E27FC236}">
                  <a16:creationId xmlns:a16="http://schemas.microsoft.com/office/drawing/2014/main" id="{04061A2B-6028-AC3D-1793-F71AB3B8A196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72">
              <a:extLst>
                <a:ext uri="{FF2B5EF4-FFF2-40B4-BE49-F238E27FC236}">
                  <a16:creationId xmlns:a16="http://schemas.microsoft.com/office/drawing/2014/main" id="{FC0CC240-3342-6079-9681-A5DF4E4B9724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73">
              <a:extLst>
                <a:ext uri="{FF2B5EF4-FFF2-40B4-BE49-F238E27FC236}">
                  <a16:creationId xmlns:a16="http://schemas.microsoft.com/office/drawing/2014/main" id="{1D9E668B-50AE-56B6-E104-7DDD4000703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74">
              <a:extLst>
                <a:ext uri="{FF2B5EF4-FFF2-40B4-BE49-F238E27FC236}">
                  <a16:creationId xmlns:a16="http://schemas.microsoft.com/office/drawing/2014/main" id="{A6D3E211-FB89-4A12-CE14-BB1376281F73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5">
              <a:extLst>
                <a:ext uri="{FF2B5EF4-FFF2-40B4-BE49-F238E27FC236}">
                  <a16:creationId xmlns:a16="http://schemas.microsoft.com/office/drawing/2014/main" id="{BFDE91EF-0B80-4893-7CA7-D8DF75A92E34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6">
              <a:extLst>
                <a:ext uri="{FF2B5EF4-FFF2-40B4-BE49-F238E27FC236}">
                  <a16:creationId xmlns:a16="http://schemas.microsoft.com/office/drawing/2014/main" id="{6B8E6E9C-DA4B-782F-208B-D90E723EBA0F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7">
              <a:extLst>
                <a:ext uri="{FF2B5EF4-FFF2-40B4-BE49-F238E27FC236}">
                  <a16:creationId xmlns:a16="http://schemas.microsoft.com/office/drawing/2014/main" id="{77BC6D8F-BF6F-6F89-C8F2-756316D08D0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8">
              <a:extLst>
                <a:ext uri="{FF2B5EF4-FFF2-40B4-BE49-F238E27FC236}">
                  <a16:creationId xmlns:a16="http://schemas.microsoft.com/office/drawing/2014/main" id="{579C1F33-3CB3-B91B-E51D-AAFCC47544B1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9">
              <a:extLst>
                <a:ext uri="{FF2B5EF4-FFF2-40B4-BE49-F238E27FC236}">
                  <a16:creationId xmlns:a16="http://schemas.microsoft.com/office/drawing/2014/main" id="{EEC62C97-F39D-31E6-EFFF-055519E1C474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80">
              <a:extLst>
                <a:ext uri="{FF2B5EF4-FFF2-40B4-BE49-F238E27FC236}">
                  <a16:creationId xmlns:a16="http://schemas.microsoft.com/office/drawing/2014/main" id="{D8464B93-D492-B9C2-9DB7-7AE10E8457C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81">
              <a:extLst>
                <a:ext uri="{FF2B5EF4-FFF2-40B4-BE49-F238E27FC236}">
                  <a16:creationId xmlns:a16="http://schemas.microsoft.com/office/drawing/2014/main" id="{BE3DA32F-1688-4A56-BE11-8100302A57B5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82">
              <a:extLst>
                <a:ext uri="{FF2B5EF4-FFF2-40B4-BE49-F238E27FC236}">
                  <a16:creationId xmlns:a16="http://schemas.microsoft.com/office/drawing/2014/main" id="{CFB82062-C9B5-7A2C-F083-0EEB5927C234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83">
              <a:extLst>
                <a:ext uri="{FF2B5EF4-FFF2-40B4-BE49-F238E27FC236}">
                  <a16:creationId xmlns:a16="http://schemas.microsoft.com/office/drawing/2014/main" id="{8150F092-D64D-C4AC-9786-A6D85921D13B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84">
              <a:extLst>
                <a:ext uri="{FF2B5EF4-FFF2-40B4-BE49-F238E27FC236}">
                  <a16:creationId xmlns:a16="http://schemas.microsoft.com/office/drawing/2014/main" id="{4CE5D5A9-936A-28E3-016E-B8D89D9BB15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5">
              <a:extLst>
                <a:ext uri="{FF2B5EF4-FFF2-40B4-BE49-F238E27FC236}">
                  <a16:creationId xmlns:a16="http://schemas.microsoft.com/office/drawing/2014/main" id="{E08AC62A-1368-135D-8C25-480B5E9BF557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6">
              <a:extLst>
                <a:ext uri="{FF2B5EF4-FFF2-40B4-BE49-F238E27FC236}">
                  <a16:creationId xmlns:a16="http://schemas.microsoft.com/office/drawing/2014/main" id="{915F276E-E6DF-61FA-FCB4-413FFE0DA93B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7">
              <a:extLst>
                <a:ext uri="{FF2B5EF4-FFF2-40B4-BE49-F238E27FC236}">
                  <a16:creationId xmlns:a16="http://schemas.microsoft.com/office/drawing/2014/main" id="{7FDF2C1B-8F1B-DAEC-593F-35205913C341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8">
              <a:extLst>
                <a:ext uri="{FF2B5EF4-FFF2-40B4-BE49-F238E27FC236}">
                  <a16:creationId xmlns:a16="http://schemas.microsoft.com/office/drawing/2014/main" id="{75E89A4F-F943-813B-9EF6-057F4F31CC50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9">
              <a:extLst>
                <a:ext uri="{FF2B5EF4-FFF2-40B4-BE49-F238E27FC236}">
                  <a16:creationId xmlns:a16="http://schemas.microsoft.com/office/drawing/2014/main" id="{6275A560-4D7F-5AAA-2808-DDEC7C25CF81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90">
              <a:extLst>
                <a:ext uri="{FF2B5EF4-FFF2-40B4-BE49-F238E27FC236}">
                  <a16:creationId xmlns:a16="http://schemas.microsoft.com/office/drawing/2014/main" id="{C2FABB23-1922-86FC-EF64-1C7F727D0CA7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91">
              <a:extLst>
                <a:ext uri="{FF2B5EF4-FFF2-40B4-BE49-F238E27FC236}">
                  <a16:creationId xmlns:a16="http://schemas.microsoft.com/office/drawing/2014/main" id="{C1D42D7B-5B82-BAD6-56FC-89E68C81697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92">
              <a:extLst>
                <a:ext uri="{FF2B5EF4-FFF2-40B4-BE49-F238E27FC236}">
                  <a16:creationId xmlns:a16="http://schemas.microsoft.com/office/drawing/2014/main" id="{D97A8E01-D831-6909-C89E-ECE6143D0F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93">
              <a:extLst>
                <a:ext uri="{FF2B5EF4-FFF2-40B4-BE49-F238E27FC236}">
                  <a16:creationId xmlns:a16="http://schemas.microsoft.com/office/drawing/2014/main" id="{7872F816-55BC-C9FF-3D3B-D349678C8C2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4">
              <a:extLst>
                <a:ext uri="{FF2B5EF4-FFF2-40B4-BE49-F238E27FC236}">
                  <a16:creationId xmlns:a16="http://schemas.microsoft.com/office/drawing/2014/main" id="{446733EC-7102-65AA-CC67-0DC97DD2AFDB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5">
              <a:extLst>
                <a:ext uri="{FF2B5EF4-FFF2-40B4-BE49-F238E27FC236}">
                  <a16:creationId xmlns:a16="http://schemas.microsoft.com/office/drawing/2014/main" id="{38620EA7-455F-6DE9-F662-C0D30C6CCC1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6">
              <a:extLst>
                <a:ext uri="{FF2B5EF4-FFF2-40B4-BE49-F238E27FC236}">
                  <a16:creationId xmlns:a16="http://schemas.microsoft.com/office/drawing/2014/main" id="{9C9207BA-724F-EED9-EF68-5274A476BAA6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7">
              <a:extLst>
                <a:ext uri="{FF2B5EF4-FFF2-40B4-BE49-F238E27FC236}">
                  <a16:creationId xmlns:a16="http://schemas.microsoft.com/office/drawing/2014/main" id="{BF2504A6-1981-16CF-FC56-825C7A018A91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8">
              <a:extLst>
                <a:ext uri="{FF2B5EF4-FFF2-40B4-BE49-F238E27FC236}">
                  <a16:creationId xmlns:a16="http://schemas.microsoft.com/office/drawing/2014/main" id="{B2FAB6ED-2DFE-DB4D-2874-566E4F7A73C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9">
              <a:extLst>
                <a:ext uri="{FF2B5EF4-FFF2-40B4-BE49-F238E27FC236}">
                  <a16:creationId xmlns:a16="http://schemas.microsoft.com/office/drawing/2014/main" id="{BD2CF8CE-B874-2132-54CD-344032DB1835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00">
              <a:extLst>
                <a:ext uri="{FF2B5EF4-FFF2-40B4-BE49-F238E27FC236}">
                  <a16:creationId xmlns:a16="http://schemas.microsoft.com/office/drawing/2014/main" id="{FC2C887F-0EE0-8DE3-EDB9-3869B8E64C08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01">
              <a:extLst>
                <a:ext uri="{FF2B5EF4-FFF2-40B4-BE49-F238E27FC236}">
                  <a16:creationId xmlns:a16="http://schemas.microsoft.com/office/drawing/2014/main" id="{075590EA-738D-3CC9-3BEC-C0615AC7BFEE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02">
              <a:extLst>
                <a:ext uri="{FF2B5EF4-FFF2-40B4-BE49-F238E27FC236}">
                  <a16:creationId xmlns:a16="http://schemas.microsoft.com/office/drawing/2014/main" id="{8D149286-03E9-1A4D-4A38-5883E59E242F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03">
              <a:extLst>
                <a:ext uri="{FF2B5EF4-FFF2-40B4-BE49-F238E27FC236}">
                  <a16:creationId xmlns:a16="http://schemas.microsoft.com/office/drawing/2014/main" id="{AC00C56D-DB49-BF08-376C-3DAC989939A0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04">
              <a:extLst>
                <a:ext uri="{FF2B5EF4-FFF2-40B4-BE49-F238E27FC236}">
                  <a16:creationId xmlns:a16="http://schemas.microsoft.com/office/drawing/2014/main" id="{71C8DF54-500A-2577-79F7-330D6EA9D2A9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5">
              <a:extLst>
                <a:ext uri="{FF2B5EF4-FFF2-40B4-BE49-F238E27FC236}">
                  <a16:creationId xmlns:a16="http://schemas.microsoft.com/office/drawing/2014/main" id="{D933F7C9-84E1-D69E-0A5B-0EA93DFBF4E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6">
              <a:extLst>
                <a:ext uri="{FF2B5EF4-FFF2-40B4-BE49-F238E27FC236}">
                  <a16:creationId xmlns:a16="http://schemas.microsoft.com/office/drawing/2014/main" id="{D461D2D4-167F-2D8C-045B-A6E6B3770134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7">
              <a:extLst>
                <a:ext uri="{FF2B5EF4-FFF2-40B4-BE49-F238E27FC236}">
                  <a16:creationId xmlns:a16="http://schemas.microsoft.com/office/drawing/2014/main" id="{38C3DA35-8061-B0F7-1EAC-AFD338C91DFB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8">
              <a:extLst>
                <a:ext uri="{FF2B5EF4-FFF2-40B4-BE49-F238E27FC236}">
                  <a16:creationId xmlns:a16="http://schemas.microsoft.com/office/drawing/2014/main" id="{0096DD00-7A52-2079-5D91-8E73BE48FF03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9">
              <a:extLst>
                <a:ext uri="{FF2B5EF4-FFF2-40B4-BE49-F238E27FC236}">
                  <a16:creationId xmlns:a16="http://schemas.microsoft.com/office/drawing/2014/main" id="{110FB6F9-1799-7210-E510-673D01938199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10">
              <a:extLst>
                <a:ext uri="{FF2B5EF4-FFF2-40B4-BE49-F238E27FC236}">
                  <a16:creationId xmlns:a16="http://schemas.microsoft.com/office/drawing/2014/main" id="{EDA692EC-1084-B863-9B6B-27656FA239A6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11">
              <a:extLst>
                <a:ext uri="{FF2B5EF4-FFF2-40B4-BE49-F238E27FC236}">
                  <a16:creationId xmlns:a16="http://schemas.microsoft.com/office/drawing/2014/main" id="{E1578024-F6C9-B47A-D104-CE3DF808C40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12">
              <a:extLst>
                <a:ext uri="{FF2B5EF4-FFF2-40B4-BE49-F238E27FC236}">
                  <a16:creationId xmlns:a16="http://schemas.microsoft.com/office/drawing/2014/main" id="{DB955D2F-D4D9-C4B7-21DC-2048EB1AF2E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13">
              <a:extLst>
                <a:ext uri="{FF2B5EF4-FFF2-40B4-BE49-F238E27FC236}">
                  <a16:creationId xmlns:a16="http://schemas.microsoft.com/office/drawing/2014/main" id="{F39CCA71-8EB3-3F41-1530-5E6228CF0EDF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14">
              <a:extLst>
                <a:ext uri="{FF2B5EF4-FFF2-40B4-BE49-F238E27FC236}">
                  <a16:creationId xmlns:a16="http://schemas.microsoft.com/office/drawing/2014/main" id="{535FF6A4-9801-5753-C95A-6DFD15069928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5">
              <a:extLst>
                <a:ext uri="{FF2B5EF4-FFF2-40B4-BE49-F238E27FC236}">
                  <a16:creationId xmlns:a16="http://schemas.microsoft.com/office/drawing/2014/main" id="{4215AFBB-AD36-EECA-B375-EC2A41491656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6">
              <a:extLst>
                <a:ext uri="{FF2B5EF4-FFF2-40B4-BE49-F238E27FC236}">
                  <a16:creationId xmlns:a16="http://schemas.microsoft.com/office/drawing/2014/main" id="{CABCEC90-949E-FF45-7F2B-0C00A052C5F6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7">
              <a:extLst>
                <a:ext uri="{FF2B5EF4-FFF2-40B4-BE49-F238E27FC236}">
                  <a16:creationId xmlns:a16="http://schemas.microsoft.com/office/drawing/2014/main" id="{1EA5519D-50F1-A7C5-2E2A-1FB1B79C26F7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8">
              <a:extLst>
                <a:ext uri="{FF2B5EF4-FFF2-40B4-BE49-F238E27FC236}">
                  <a16:creationId xmlns:a16="http://schemas.microsoft.com/office/drawing/2014/main" id="{0F4118A0-CCC0-E495-8C7D-4E39757D1656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9">
              <a:extLst>
                <a:ext uri="{FF2B5EF4-FFF2-40B4-BE49-F238E27FC236}">
                  <a16:creationId xmlns:a16="http://schemas.microsoft.com/office/drawing/2014/main" id="{BAFBB055-FB11-ABBF-D805-4F78429365D1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20">
              <a:extLst>
                <a:ext uri="{FF2B5EF4-FFF2-40B4-BE49-F238E27FC236}">
                  <a16:creationId xmlns:a16="http://schemas.microsoft.com/office/drawing/2014/main" id="{351C85DB-DF98-4DEA-7EB1-A50603F810FA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21">
              <a:extLst>
                <a:ext uri="{FF2B5EF4-FFF2-40B4-BE49-F238E27FC236}">
                  <a16:creationId xmlns:a16="http://schemas.microsoft.com/office/drawing/2014/main" id="{1F3872FB-2732-0333-85CF-A71883E8672E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9" name="圖形 118" descr="工廠 以實心填滿">
            <a:extLst>
              <a:ext uri="{FF2B5EF4-FFF2-40B4-BE49-F238E27FC236}">
                <a16:creationId xmlns:a16="http://schemas.microsoft.com/office/drawing/2014/main" id="{6219393A-1F07-C8E8-1908-7A234971E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8525" y="3930580"/>
            <a:ext cx="271919" cy="2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</TotalTime>
  <Words>1209</Words>
  <Application>Microsoft Office PowerPoint</Application>
  <PresentationFormat>Widescreen</PresentationFormat>
  <Paragraphs>354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Amasis MT Pro Black</vt:lpstr>
      <vt:lpstr>Arial (Body)</vt:lpstr>
      <vt:lpstr>等线</vt:lpstr>
      <vt:lpstr>等线</vt:lpstr>
      <vt:lpstr>맑은 고딕</vt:lpstr>
      <vt:lpstr>Microsoft JhengHei</vt:lpstr>
      <vt:lpstr>Microsoft JhengHei</vt:lpstr>
      <vt:lpstr>新細明體</vt:lpstr>
      <vt:lpstr>SimSun</vt:lpstr>
      <vt:lpstr>Arial</vt:lpstr>
      <vt:lpstr>Arial Black</vt:lpstr>
      <vt:lpstr>Calibri</vt:lpstr>
      <vt:lpstr>Calibri Light</vt:lpstr>
      <vt:lpstr>Times New Roman</vt:lpstr>
      <vt:lpstr>Wingdings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Andy;Andy Su(蘇孝維_PVN)</dc:creator>
  <cp:lastModifiedBy>Leon Than(THÂN NGỌC LONG_PVN)</cp:lastModifiedBy>
  <cp:revision>786</cp:revision>
  <dcterms:created xsi:type="dcterms:W3CDTF">2021-03-09T11:56:00Z</dcterms:created>
  <dcterms:modified xsi:type="dcterms:W3CDTF">2026-09-08T09:49:05Z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