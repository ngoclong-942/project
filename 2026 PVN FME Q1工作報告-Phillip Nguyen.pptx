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1280" r:id="rId2"/>
    <p:sldId id="1299" r:id="rId3"/>
    <p:sldId id="1262" r:id="rId4"/>
    <p:sldId id="1300" r:id="rId5"/>
    <p:sldId id="1282" r:id="rId6"/>
    <p:sldId id="1306" r:id="rId7"/>
    <p:sldId id="1286" r:id="rId8"/>
    <p:sldId id="1287" r:id="rId9"/>
    <p:sldId id="1281"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rence Yang(楊金晶_PSZ)" initials="T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5CC"/>
    <a:srgbClr val="BA996E"/>
    <a:srgbClr val="F3F3F3"/>
    <a:srgbClr val="DAFFA3"/>
    <a:srgbClr val="1BBACB"/>
    <a:srgbClr val="347EB6"/>
    <a:srgbClr val="1AB0C0"/>
    <a:srgbClr val="1CC1D2"/>
    <a:srgbClr val="CEFF85"/>
    <a:srgbClr val="FFA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95033" autoAdjust="0"/>
  </p:normalViewPr>
  <p:slideViewPr>
    <p:cSldViewPr snapToGrid="0">
      <p:cViewPr varScale="1">
        <p:scale>
          <a:sx n="78" d="100"/>
          <a:sy n="78" d="100"/>
        </p:scale>
        <p:origin x="648"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TW" altLang="en-US" smtClean="0"/>
              <a:t>2026/3/12</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A681D-2D26-4E30-9E7A-12BA2F7971AE}" type="datetimeFigureOut">
              <a:rPr lang="zh-TW" altLang="en-US" smtClean="0"/>
              <a:t>2026/3/12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A5AFE-8970-4B57-B423-C596FB58AC0E}"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0CCB221-A648-4A22-A87C-5883FFE3F868}"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none" algn="tl"/>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FC0C0C-18E8-48AF-8451-7EA05F209860}" type="datetimeFigureOut">
              <a:rPr lang="zh-TW" altLang="en-US" smtClean="0"/>
              <a:t>2026/3/12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CB221-A648-4A22-A87C-5883FFE3F868}"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518A7B8-1B2B-72F8-8C8F-9A2758B753AA}"/>
              </a:ext>
            </a:extLst>
          </p:cNvPr>
          <p:cNvSpPr/>
          <p:nvPr/>
        </p:nvSpPr>
        <p:spPr>
          <a:xfrm>
            <a:off x="0" y="0"/>
            <a:ext cx="12192000" cy="6858000"/>
          </a:xfrm>
          <a:prstGeom prst="rect">
            <a:avLst/>
          </a:prstGeom>
          <a:blipFill dpi="0" rotWithShape="1">
            <a:blip r:embed="rId2">
              <a:alphaModFix amt="40000"/>
              <a:extLst>
                <a:ext uri="{BEBA8EAE-BF5A-486C-A8C5-ECC9F3942E4B}">
                  <a14:imgProps xmlns:a14="http://schemas.microsoft.com/office/drawing/2010/main">
                    <a14:imgLayer r:embed="rId3">
                      <a14:imgEffect>
                        <a14:artisticPaintBrush/>
                      </a14:imgEffect>
                      <a14:imgEffect>
                        <a14:brightnessContrast contrast="30000"/>
                      </a14:imgEffect>
                    </a14:imgLayer>
                  </a14:imgProps>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手繪多邊形: 圖案 4">
            <a:extLst>
              <a:ext uri="{FF2B5EF4-FFF2-40B4-BE49-F238E27FC236}">
                <a16:creationId xmlns:a16="http://schemas.microsoft.com/office/drawing/2014/main" id="{C1D5E978-FE18-638A-A501-7C2AF87183D7}"/>
              </a:ext>
            </a:extLst>
          </p:cNvPr>
          <p:cNvSpPr/>
          <p:nvPr/>
        </p:nvSpPr>
        <p:spPr>
          <a:xfrm>
            <a:off x="5262880" y="0"/>
            <a:ext cx="6929120" cy="6858000"/>
          </a:xfrm>
          <a:custGeom>
            <a:avLst/>
            <a:gdLst>
              <a:gd name="connsiteX0" fmla="*/ 1099083 w 6878773"/>
              <a:gd name="connsiteY0" fmla="*/ 0 h 6858000"/>
              <a:gd name="connsiteX1" fmla="*/ 1288272 w 6878773"/>
              <a:gd name="connsiteY1" fmla="*/ 0 h 6858000"/>
              <a:gd name="connsiteX2" fmla="*/ 1071041 w 6878773"/>
              <a:gd name="connsiteY2" fmla="*/ 392191 h 6858000"/>
              <a:gd name="connsiteX3" fmla="*/ 689136 w 6878773"/>
              <a:gd name="connsiteY3" fmla="*/ 1280816 h 6858000"/>
              <a:gd name="connsiteX4" fmla="*/ 616541 w 6878773"/>
              <a:gd name="connsiteY4" fmla="*/ 1508694 h 6858000"/>
              <a:gd name="connsiteX5" fmla="*/ 614559 w 6878773"/>
              <a:gd name="connsiteY5" fmla="*/ 1514104 h 6858000"/>
              <a:gd name="connsiteX6" fmla="*/ 607149 w 6878773"/>
              <a:gd name="connsiteY6" fmla="*/ 1538176 h 6858000"/>
              <a:gd name="connsiteX7" fmla="*/ 539073 w 6878773"/>
              <a:gd name="connsiteY7" fmla="*/ 1751870 h 6858000"/>
              <a:gd name="connsiteX8" fmla="*/ 526405 w 6878773"/>
              <a:gd name="connsiteY8" fmla="*/ 1800496 h 6858000"/>
              <a:gd name="connsiteX9" fmla="*/ 607149 w 6878773"/>
              <a:gd name="connsiteY9" fmla="*/ 1538176 h 6858000"/>
              <a:gd name="connsiteX10" fmla="*/ 616541 w 6878773"/>
              <a:gd name="connsiteY10" fmla="*/ 1508694 h 6858000"/>
              <a:gd name="connsiteX11" fmla="*/ 768299 w 6878773"/>
              <a:gd name="connsiteY11" fmla="*/ 1094548 h 6858000"/>
              <a:gd name="connsiteX12" fmla="*/ 1145606 w 6878773"/>
              <a:gd name="connsiteY12" fmla="*/ 304655 h 6858000"/>
              <a:gd name="connsiteX13" fmla="*/ 1329241 w 6878773"/>
              <a:gd name="connsiteY13" fmla="*/ 0 h 6858000"/>
              <a:gd name="connsiteX14" fmla="*/ 6878773 w 6878773"/>
              <a:gd name="connsiteY14" fmla="*/ 0 h 6858000"/>
              <a:gd name="connsiteX15" fmla="*/ 6878773 w 6878773"/>
              <a:gd name="connsiteY15" fmla="*/ 6858000 h 6858000"/>
              <a:gd name="connsiteX16" fmla="*/ 796590 w 6878773"/>
              <a:gd name="connsiteY16" fmla="*/ 6858000 h 6858000"/>
              <a:gd name="connsiteX17" fmla="*/ 705664 w 6878773"/>
              <a:gd name="connsiteY17" fmla="*/ 6624805 h 6858000"/>
              <a:gd name="connsiteX18" fmla="*/ 276668 w 6878773"/>
              <a:gd name="connsiteY18" fmla="*/ 4763158 h 6858000"/>
              <a:gd name="connsiteX19" fmla="*/ 251068 w 6878773"/>
              <a:gd name="connsiteY19" fmla="*/ 4457271 h 6858000"/>
              <a:gd name="connsiteX20" fmla="*/ 252518 w 6878773"/>
              <a:gd name="connsiteY20" fmla="*/ 4492334 h 6858000"/>
              <a:gd name="connsiteX21" fmla="*/ 642791 w 6878773"/>
              <a:gd name="connsiteY21" fmla="*/ 6547897 h 6858000"/>
              <a:gd name="connsiteX22" fmla="*/ 751455 w 6878773"/>
              <a:gd name="connsiteY22" fmla="*/ 6858000 h 6858000"/>
              <a:gd name="connsiteX23" fmla="*/ 568815 w 6878773"/>
              <a:gd name="connsiteY23" fmla="*/ 6858000 h 6858000"/>
              <a:gd name="connsiteX24" fmla="*/ 520545 w 6878773"/>
              <a:gd name="connsiteY24" fmla="*/ 6743200 h 6858000"/>
              <a:gd name="connsiteX25" fmla="*/ 0 w 6878773"/>
              <a:gd name="connsiteY25" fmla="*/ 3931920 h 6858000"/>
              <a:gd name="connsiteX26" fmla="*/ 984860 w 6878773"/>
              <a:gd name="connsiteY26" fmla="*/ 1803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878773" h="6858000">
                <a:moveTo>
                  <a:pt x="1099083" y="0"/>
                </a:moveTo>
                <a:lnTo>
                  <a:pt x="1288272" y="0"/>
                </a:lnTo>
                <a:lnTo>
                  <a:pt x="1071041" y="392191"/>
                </a:lnTo>
                <a:cubicBezTo>
                  <a:pt x="926325" y="675478"/>
                  <a:pt x="798518" y="972377"/>
                  <a:pt x="689136" y="1280816"/>
                </a:cubicBezTo>
                <a:lnTo>
                  <a:pt x="616541" y="1508694"/>
                </a:lnTo>
                <a:lnTo>
                  <a:pt x="614559" y="1514104"/>
                </a:lnTo>
                <a:lnTo>
                  <a:pt x="607149" y="1538176"/>
                </a:lnTo>
                <a:lnTo>
                  <a:pt x="539073" y="1751870"/>
                </a:lnTo>
                <a:lnTo>
                  <a:pt x="526405" y="1800496"/>
                </a:lnTo>
                <a:lnTo>
                  <a:pt x="607149" y="1538176"/>
                </a:lnTo>
                <a:lnTo>
                  <a:pt x="616541" y="1508694"/>
                </a:lnTo>
                <a:lnTo>
                  <a:pt x="768299" y="1094548"/>
                </a:lnTo>
                <a:cubicBezTo>
                  <a:pt x="878763" y="820024"/>
                  <a:pt x="1004957" y="556147"/>
                  <a:pt x="1145606" y="304655"/>
                </a:cubicBezTo>
                <a:lnTo>
                  <a:pt x="1329241" y="0"/>
                </a:lnTo>
                <a:lnTo>
                  <a:pt x="6878773" y="0"/>
                </a:lnTo>
                <a:lnTo>
                  <a:pt x="6878773" y="6858000"/>
                </a:lnTo>
                <a:lnTo>
                  <a:pt x="796590" y="6858000"/>
                </a:lnTo>
                <a:lnTo>
                  <a:pt x="705664" y="6624805"/>
                </a:lnTo>
                <a:cubicBezTo>
                  <a:pt x="492576" y="6043076"/>
                  <a:pt x="345499" y="5418219"/>
                  <a:pt x="276668" y="4763158"/>
                </a:cubicBezTo>
                <a:lnTo>
                  <a:pt x="251068" y="4457271"/>
                </a:lnTo>
                <a:lnTo>
                  <a:pt x="252518" y="4492334"/>
                </a:lnTo>
                <a:cubicBezTo>
                  <a:pt x="297587" y="5213820"/>
                  <a:pt x="432380" y="5903988"/>
                  <a:pt x="642791" y="6547897"/>
                </a:cubicBezTo>
                <a:lnTo>
                  <a:pt x="751455" y="6858000"/>
                </a:lnTo>
                <a:lnTo>
                  <a:pt x="568815" y="6858000"/>
                </a:lnTo>
                <a:lnTo>
                  <a:pt x="520545" y="6743200"/>
                </a:lnTo>
                <a:cubicBezTo>
                  <a:pt x="188569" y="5907510"/>
                  <a:pt x="0" y="4949829"/>
                  <a:pt x="0" y="3931920"/>
                </a:cubicBezTo>
                <a:cubicBezTo>
                  <a:pt x="0" y="2506847"/>
                  <a:pt x="369597" y="1199822"/>
                  <a:pt x="984860" y="180321"/>
                </a:cubicBezTo>
                <a:close/>
              </a:path>
            </a:pathLst>
          </a:custGeom>
          <a:blipFill>
            <a:blip r:embed="rId4"/>
            <a:stretch>
              <a:fillRect/>
            </a:stretch>
          </a:blip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6" name="文字方塊 5">
            <a:extLst>
              <a:ext uri="{FF2B5EF4-FFF2-40B4-BE49-F238E27FC236}">
                <a16:creationId xmlns:a16="http://schemas.microsoft.com/office/drawing/2014/main" id="{4B2CDC77-8F79-FB60-ED20-78B18BF125ED}"/>
              </a:ext>
            </a:extLst>
          </p:cNvPr>
          <p:cNvSpPr txBox="1"/>
          <p:nvPr/>
        </p:nvSpPr>
        <p:spPr>
          <a:xfrm>
            <a:off x="321934" y="4841728"/>
            <a:ext cx="8302787" cy="1938992"/>
          </a:xfrm>
          <a:prstGeom prst="rect">
            <a:avLst/>
          </a:prstGeom>
          <a:noFill/>
          <a:ln>
            <a:noFill/>
          </a:ln>
          <a:effectLst/>
        </p:spPr>
        <p:txBody>
          <a:bodyPr wrap="square" rtlCol="0" anchor="t">
            <a:spAutoFit/>
          </a:bodyPr>
          <a:lstStyle/>
          <a:p>
            <a:pPr algn="just">
              <a:spcBef>
                <a:spcPts val="600"/>
              </a:spcBef>
              <a:buClrTx/>
              <a:buSzTx/>
              <a:buNone/>
            </a:pPr>
            <a:r>
              <a:rPr lang="en-US" altLang="zh-TW"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2026 PVN FME Q1</a:t>
            </a:r>
            <a:r>
              <a:rPr lang="zh-TW" altLang="en-US"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rPr>
              <a:t>工作報告</a:t>
            </a:r>
            <a:endParaRPr lang="en-US" altLang="zh-TW" sz="3600" b="1" dirty="0">
              <a:solidFill>
                <a:srgbClr val="002060"/>
              </a:solidFill>
              <a:effectLst>
                <a:outerShdw blurRad="50800" dist="38100" dir="10800000" algn="r" rotWithShape="0">
                  <a:schemeClr val="bg1">
                    <a:lumMod val="85000"/>
                    <a:alpha val="70000"/>
                  </a:schemeClr>
                </a:outerShdw>
              </a:effectLst>
              <a:latin typeface="微軟正黑體" panose="020B0604030504040204" pitchFamily="34" charset="-120"/>
              <a:ea typeface="微軟正黑體" panose="020B0604030504040204" pitchFamily="34" charset="-120"/>
              <a:cs typeface="微軟正黑體" panose="020B0604030504040204" pitchFamily="34" charset="-120"/>
              <a:sym typeface="+mn-ea"/>
            </a:endParaRPr>
          </a:p>
          <a:p>
            <a:pPr algn="just">
              <a:spcBef>
                <a:spcPts val="600"/>
              </a:spcBef>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部門</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(PVN)</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第六事業群</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製造及營運管理中心</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越南製造處</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-PVN1</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廠</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-FME</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部</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a:t>
            </a: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自動化課</a:t>
            </a:r>
            <a:endPar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endParaRPr>
          </a:p>
          <a:p>
            <a:pPr algn="just">
              <a:spcBef>
                <a:spcPts val="600"/>
              </a:spcBef>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姓名</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Phillip Nguyen</a:t>
            </a:r>
          </a:p>
          <a:p>
            <a:pPr algn="just">
              <a:spcBef>
                <a:spcPts val="600"/>
              </a:spcBef>
            </a:pPr>
            <a:r>
              <a:rPr lang="zh-TW" altLang="en-US"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職等</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19	</a:t>
            </a:r>
            <a:endPar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endParaRPr>
          </a:p>
          <a:p>
            <a:pPr algn="just">
              <a:spcBef>
                <a:spcPts val="600"/>
              </a:spcBef>
              <a:buClrTx/>
              <a:buSzTx/>
              <a:buNone/>
            </a:pPr>
            <a:r>
              <a:rPr lang="en-US" altLang="zh-TW" sz="1600" b="1" dirty="0" err="1">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日期</a:t>
            </a:r>
            <a:r>
              <a:rPr lang="en-US" altLang="zh-TW" sz="1600" b="1" dirty="0">
                <a:solidFill>
                  <a:srgbClr val="002060"/>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cs typeface="微軟正黑體" panose="020B0604030504040204" charset="-120"/>
                <a:sym typeface="+mn-ea"/>
              </a:rPr>
              <a:t>: 2026/03/15</a:t>
            </a:r>
          </a:p>
        </p:txBody>
      </p:sp>
      <p:grpSp>
        <p:nvGrpSpPr>
          <p:cNvPr id="7" name="群組 6">
            <a:extLst>
              <a:ext uri="{FF2B5EF4-FFF2-40B4-BE49-F238E27FC236}">
                <a16:creationId xmlns:a16="http://schemas.microsoft.com/office/drawing/2014/main" id="{112B3D19-5153-353B-424F-8F0D7993982B}"/>
              </a:ext>
            </a:extLst>
          </p:cNvPr>
          <p:cNvGrpSpPr/>
          <p:nvPr/>
        </p:nvGrpSpPr>
        <p:grpSpPr>
          <a:xfrm>
            <a:off x="494654" y="4117202"/>
            <a:ext cx="3293433" cy="637493"/>
            <a:chOff x="637703" y="2936783"/>
            <a:chExt cx="3293433" cy="637493"/>
          </a:xfrm>
        </p:grpSpPr>
        <p:pic>
          <p:nvPicPr>
            <p:cNvPr id="8" name="Picture 6">
              <a:extLst>
                <a:ext uri="{FF2B5EF4-FFF2-40B4-BE49-F238E27FC236}">
                  <a16:creationId xmlns:a16="http://schemas.microsoft.com/office/drawing/2014/main" id="{AD0040CB-21DA-C482-2A41-8A79356C4023}"/>
                </a:ext>
              </a:extLst>
            </p:cNvPr>
            <p:cNvPicPr/>
            <p:nvPr/>
          </p:nvPicPr>
          <p:blipFill>
            <a:blip r:embed="rId5">
              <a:lum bright="-20001"/>
            </a:blip>
            <a:stretch>
              <a:fillRect/>
            </a:stretch>
          </p:blipFill>
          <p:spPr>
            <a:xfrm>
              <a:off x="637703" y="3020610"/>
              <a:ext cx="2063612" cy="553666"/>
            </a:xfrm>
            <a:prstGeom prst="rect">
              <a:avLst/>
            </a:prstGeom>
            <a:noFill/>
            <a:ln w="9525">
              <a:noFill/>
            </a:ln>
          </p:spPr>
        </p:pic>
        <p:grpSp>
          <p:nvGrpSpPr>
            <p:cNvPr id="9" name="群組 8">
              <a:extLst>
                <a:ext uri="{FF2B5EF4-FFF2-40B4-BE49-F238E27FC236}">
                  <a16:creationId xmlns:a16="http://schemas.microsoft.com/office/drawing/2014/main" id="{14C72E3B-8C67-EB76-D350-68FD31CC333A}"/>
                </a:ext>
              </a:extLst>
            </p:cNvPr>
            <p:cNvGrpSpPr/>
            <p:nvPr/>
          </p:nvGrpSpPr>
          <p:grpSpPr>
            <a:xfrm>
              <a:off x="2892449" y="2936783"/>
              <a:ext cx="1038687" cy="588751"/>
              <a:chOff x="1782913" y="2529000"/>
              <a:chExt cx="3121573" cy="1800000"/>
            </a:xfrm>
          </p:grpSpPr>
          <p:sp>
            <p:nvSpPr>
              <p:cNvPr id="10" name="圆角矩形 15">
                <a:extLst>
                  <a:ext uri="{FF2B5EF4-FFF2-40B4-BE49-F238E27FC236}">
                    <a16:creationId xmlns:a16="http://schemas.microsoft.com/office/drawing/2014/main" id="{A8AF72AA-3B3A-5ACD-D50E-22A378408615}"/>
                  </a:ext>
                </a:extLst>
              </p:cNvPr>
              <p:cNvSpPr/>
              <p:nvPr/>
            </p:nvSpPr>
            <p:spPr>
              <a:xfrm rot="2700000">
                <a:off x="1857839" y="2529000"/>
                <a:ext cx="1800000" cy="1800000"/>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11" name="圆角矩形 16">
                <a:extLst>
                  <a:ext uri="{FF2B5EF4-FFF2-40B4-BE49-F238E27FC236}">
                    <a16:creationId xmlns:a16="http://schemas.microsoft.com/office/drawing/2014/main" id="{D74BAA0C-C50E-20F8-BE6E-E171E1D937C4}"/>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12" name="圖片 11" descr="一張含有 文字, 輪子, 美工圖案, 齒輪 的圖片&#10;&#10;自動產生的描述">
                <a:extLst>
                  <a:ext uri="{FF2B5EF4-FFF2-40B4-BE49-F238E27FC236}">
                    <a16:creationId xmlns:a16="http://schemas.microsoft.com/office/drawing/2014/main" id="{6E8EBEE9-EBC9-8914-6C1F-E45E1570D000}"/>
                  </a:ext>
                </a:extLst>
              </p:cNvPr>
              <p:cNvPicPr/>
              <p:nvPr/>
            </p:nvPicPr>
            <p:blipFill rotWithShape="1">
              <a:blip r:embed="rId6" cstate="print">
                <a:grayscl/>
                <a:extLst>
                  <a:ext uri="{28A0092B-C50C-407E-A947-70E740481C1C}">
                    <a14:useLocalDpi xmlns:a14="http://schemas.microsoft.com/office/drawing/2010/main" val="0"/>
                  </a:ext>
                </a:extLst>
              </a:blip>
              <a:srcRect l="73898"/>
              <a:stretch>
                <a:fillRect/>
              </a:stretch>
            </p:blipFill>
            <p:spPr>
              <a:xfrm rot="5400000">
                <a:off x="3709806" y="2875160"/>
                <a:ext cx="1281679" cy="1107680"/>
              </a:xfrm>
              <a:prstGeom prst="rect">
                <a:avLst/>
              </a:prstGeom>
            </p:spPr>
          </p:pic>
          <p:sp>
            <p:nvSpPr>
              <p:cNvPr id="13" name="矩形 12">
                <a:extLst>
                  <a:ext uri="{FF2B5EF4-FFF2-40B4-BE49-F238E27FC236}">
                    <a16:creationId xmlns:a16="http://schemas.microsoft.com/office/drawing/2014/main" id="{C8390711-3383-6DA3-F533-8A28FE5DF6F8}"/>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grpSp>
      <p:grpSp>
        <p:nvGrpSpPr>
          <p:cNvPr id="2" name="群組 1">
            <a:extLst>
              <a:ext uri="{FF2B5EF4-FFF2-40B4-BE49-F238E27FC236}">
                <a16:creationId xmlns:a16="http://schemas.microsoft.com/office/drawing/2014/main" id="{FD9FE76B-49B7-122B-0173-0FC9E984D589}"/>
              </a:ext>
            </a:extLst>
          </p:cNvPr>
          <p:cNvGrpSpPr/>
          <p:nvPr/>
        </p:nvGrpSpPr>
        <p:grpSpPr>
          <a:xfrm>
            <a:off x="11145334" y="6021230"/>
            <a:ext cx="1058632" cy="775686"/>
            <a:chOff x="1633100" y="4132365"/>
            <a:chExt cx="419208" cy="307164"/>
          </a:xfrm>
        </p:grpSpPr>
        <p:sp>
          <p:nvSpPr>
            <p:cNvPr id="3" name="Oval 21">
              <a:extLst>
                <a:ext uri="{FF2B5EF4-FFF2-40B4-BE49-F238E27FC236}">
                  <a16:creationId xmlns:a16="http://schemas.microsoft.com/office/drawing/2014/main" id="{08753D7E-9C76-5745-271E-3279677D49DD}"/>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14" name="群組 13">
              <a:extLst>
                <a:ext uri="{FF2B5EF4-FFF2-40B4-BE49-F238E27FC236}">
                  <a16:creationId xmlns:a16="http://schemas.microsoft.com/office/drawing/2014/main" id="{3E91ED7E-6F95-12F9-3EB2-B02A5DF1A8FE}"/>
                </a:ext>
              </a:extLst>
            </p:cNvPr>
            <p:cNvGrpSpPr/>
            <p:nvPr/>
          </p:nvGrpSpPr>
          <p:grpSpPr>
            <a:xfrm>
              <a:off x="1727685" y="4270681"/>
              <a:ext cx="324623" cy="168848"/>
              <a:chOff x="2114400" y="4249726"/>
              <a:chExt cx="324623" cy="168848"/>
            </a:xfrm>
          </p:grpSpPr>
          <p:sp>
            <p:nvSpPr>
              <p:cNvPr id="15" name="文字方塊 14">
                <a:extLst>
                  <a:ext uri="{FF2B5EF4-FFF2-40B4-BE49-F238E27FC236}">
                    <a16:creationId xmlns:a16="http://schemas.microsoft.com/office/drawing/2014/main" id="{7B31B170-9B0C-8CB4-975E-D340975F69B4}"/>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16" name="文字方塊 15">
                <a:extLst>
                  <a:ext uri="{FF2B5EF4-FFF2-40B4-BE49-F238E27FC236}">
                    <a16:creationId xmlns:a16="http://schemas.microsoft.com/office/drawing/2014/main" id="{0E9DDE14-C7D6-F82F-1A03-09B74D1D3628}"/>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2200753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p:cNvGrpSpPr/>
          <p:nvPr/>
        </p:nvGrpSpPr>
        <p:grpSpPr>
          <a:xfrm>
            <a:off x="11145334" y="6021230"/>
            <a:ext cx="1058632" cy="775686"/>
            <a:chOff x="1633100" y="4132365"/>
            <a:chExt cx="419208" cy="307164"/>
          </a:xfrm>
        </p:grpSpPr>
        <p:sp>
          <p:nvSpPr>
            <p:cNvPr id="4" name="Oval 21"/>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700">
                <a:solidFill>
                  <a:schemeClr val="bg1"/>
                </a:solidFill>
                <a:latin typeface="Arial" panose="020B0604020202020204" pitchFamily="34" charset="0"/>
                <a:cs typeface="Arial" panose="020B0604020202020204" pitchFamily="34" charset="0"/>
              </a:endParaRPr>
            </a:p>
          </p:txBody>
        </p:sp>
        <p:grpSp>
          <p:nvGrpSpPr>
            <p:cNvPr id="6" name="群組 5"/>
            <p:cNvGrpSpPr/>
            <p:nvPr/>
          </p:nvGrpSpPr>
          <p:grpSpPr>
            <a:xfrm>
              <a:off x="1727685" y="4270681"/>
              <a:ext cx="324623" cy="168848"/>
              <a:chOff x="2114400" y="4249726"/>
              <a:chExt cx="324623" cy="168848"/>
            </a:xfrm>
          </p:grpSpPr>
          <p:sp>
            <p:nvSpPr>
              <p:cNvPr id="7" name="文字方塊 6"/>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sp>
            <p:nvSpPr>
              <p:cNvPr id="8" name="文字方塊 7"/>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pSp>
        <p:nvGrpSpPr>
          <p:cNvPr id="43" name="群組 42"/>
          <p:cNvGrpSpPr/>
          <p:nvPr/>
        </p:nvGrpSpPr>
        <p:grpSpPr>
          <a:xfrm>
            <a:off x="185737" y="168884"/>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Arial" panose="020B0604020202020204" pitchFamily="34" charset="0"/>
                <a:ea typeface="微軟正黑體" panose="020B0604030504040204" pitchFamily="34" charset="-120"/>
                <a:cs typeface="Arial" panose="020B0604020202020204" pitchFamily="34" charset="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DengXian" panose="02010600030101010101" pitchFamily="2" charset="-122"/>
                  <a:cs typeface="Arial" panose="020B0604020202020204" pitchFamily="34" charset="0"/>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Arial" panose="020B0604020202020204" pitchFamily="34" charset="0"/>
                  <a:ea typeface="DengXian" panose="02010600030101010101" pitchFamily="2" charset="-122"/>
                  <a:cs typeface="Arial" panose="020B0604020202020204" pitchFamily="34" charset="0"/>
                  <a:sym typeface="+mn-lt"/>
                </a:endParaRPr>
              </a:p>
            </p:txBody>
          </p:sp>
          <p:pic>
            <p:nvPicPr>
              <p:cNvPr id="50" name="圖片 49" descr="一張含有 文字, 輪子, 美工圖案, 齒輪 的圖片&#10;&#10;自動產生的描述"/>
              <p:cNvPicPr>
                <a:picLocks noChangeAspect="1"/>
              </p:cNvPicPr>
              <p:nvPr/>
            </p:nvPicPr>
            <p:blipFill rotWithShape="1">
              <a:blip r:embed="rId3"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Arial" panose="020B0604020202020204" pitchFamily="34" charset="0"/>
                    <a:ea typeface="DengXian" panose="02010600030101010101" pitchFamily="2" charset="-122"/>
                    <a:cs typeface="Arial" panose="020B0604020202020204" pitchFamily="34" charset="0"/>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Arial" panose="020B0604020202020204" pitchFamily="34" charset="0"/>
                    <a:ea typeface="DengXian" panose="02010600030101010101" pitchFamily="2" charset="-122"/>
                    <a:cs typeface="Arial" panose="020B0604020202020204" pitchFamily="34" charset="0"/>
                  </a:rPr>
                  <a:t>PVN</a:t>
                </a:r>
                <a:endParaRPr kumimoji="0" lang="en-US" altLang="zh-TW" sz="1100" b="1" i="0" u="none" strike="noStrike" kern="1200" cap="none" spc="0" normalizeH="0" baseline="0" noProof="0" dirty="0">
                  <a:ln>
                    <a:noFill/>
                  </a:ln>
                  <a:solidFill>
                    <a:srgbClr val="A4A4A4"/>
                  </a:solidFill>
                  <a:effectLst/>
                  <a:uLnTx/>
                  <a:uFillTx/>
                  <a:latin typeface="Arial" panose="020B0604020202020204" pitchFamily="34" charset="0"/>
                  <a:ea typeface="DengXian" panose="02010600030101010101" pitchFamily="2" charset="-122"/>
                  <a:cs typeface="Arial" panose="020B0604020202020204" pitchFamily="34" charset="0"/>
                </a:endParaRPr>
              </a:p>
            </p:txBody>
          </p:sp>
        </p:grpSp>
        <p:sp>
          <p:nvSpPr>
            <p:cNvPr id="46" name="文字方塊 45"/>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a:solidFill>
                    <a:schemeClr val="bg1"/>
                  </a:solidFill>
                  <a:latin typeface="Arial" panose="020B0604020202020204" pitchFamily="34" charset="0"/>
                  <a:ea typeface="微軟正黑體" panose="020B0604030504040204" pitchFamily="34" charset="-120"/>
                  <a:cs typeface="Arial" panose="020B0604020202020204" pitchFamily="34" charset="0"/>
                  <a:sym typeface="+mn-ea"/>
                </a:rPr>
                <a:t>Self-Work Responsibilities</a:t>
              </a:r>
            </a:p>
          </p:txBody>
        </p:sp>
      </p:grpSp>
      <p:sp>
        <p:nvSpPr>
          <p:cNvPr id="22" name="Rectangle 21"/>
          <p:cNvSpPr/>
          <p:nvPr/>
        </p:nvSpPr>
        <p:spPr>
          <a:xfrm flipH="1">
            <a:off x="5580380" y="672465"/>
            <a:ext cx="5289550" cy="346075"/>
          </a:xfrm>
          <a:prstGeom prst="rect">
            <a:avLst/>
          </a:prstGeom>
          <a:noFill/>
          <a:ln w="38100">
            <a:noFill/>
          </a:ln>
          <a:extLst>
            <a:ext uri="{909E8E84-426E-40DD-AFC4-6F175D3DCCD1}">
              <a14:hiddenFill xmlns:a14="http://schemas.microsoft.com/office/drawing/2010/main">
                <a:solidFill>
                  <a:srgbClr val="FFFF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ysClr val="windowText" lastClr="000000"/>
              </a:solidFill>
              <a:latin typeface="Arial" panose="020B0604020202020204" pitchFamily="34" charset="0"/>
              <a:ea typeface="微軟正黑體" panose="020B0604030504040204" pitchFamily="34" charset="-120"/>
              <a:cs typeface="Arial" panose="020B0604020202020204" pitchFamily="34" charset="0"/>
            </a:endParaRPr>
          </a:p>
        </p:txBody>
      </p:sp>
      <p:sp>
        <p:nvSpPr>
          <p:cNvPr id="23" name="Flowchart: Alternative Process 22">
            <a:extLst>
              <a:ext uri="{FF2B5EF4-FFF2-40B4-BE49-F238E27FC236}">
                <a16:creationId xmlns:a16="http://schemas.microsoft.com/office/drawing/2014/main" id="{73CCD658-2CF2-1AB2-4A21-08A1431C126B}"/>
              </a:ext>
            </a:extLst>
          </p:cNvPr>
          <p:cNvSpPr/>
          <p:nvPr/>
        </p:nvSpPr>
        <p:spPr>
          <a:xfrm>
            <a:off x="607331" y="1075604"/>
            <a:ext cx="10776860" cy="4361636"/>
          </a:xfrm>
          <a:prstGeom prst="flowChartAlternateProcess">
            <a:avLst/>
          </a:prstGeom>
          <a:solidFill>
            <a:schemeClr val="bg1"/>
          </a:solidFill>
          <a:ln w="19050">
            <a:solidFill>
              <a:schemeClr val="accent5">
                <a:lumMod val="75000"/>
              </a:schemeClr>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Operate and troubleshoot the laser engraving machine and the automatic glue dispensing machine</a:t>
            </a:r>
          </a:p>
          <a:p>
            <a:pPr marL="342900" indent="-342900">
              <a:buAutoNum type="arabicPeriod"/>
            </a:pPr>
            <a:endParaRPr lang="en-US" sz="1600"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Learn, set up, operate, and troubleshoot AGV autonomous vehicles</a:t>
            </a:r>
          </a:p>
          <a:p>
            <a:pPr marL="342900" indent="-342900">
              <a:buAutoNum type="arabicPeriod"/>
            </a:pPr>
            <a:endParaRPr lang="en-US" sz="1600"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Regularly check around the factory to ensure machines operate well and promptly handle any problems</a:t>
            </a:r>
          </a:p>
          <a:p>
            <a:pPr marL="342900" indent="-342900">
              <a:buAutoNum type="arabicPeriod"/>
            </a:pPr>
            <a:endParaRPr lang="en-US" sz="1600"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Train OP on machine operation, including safe usage and prohibited actions</a:t>
            </a:r>
          </a:p>
          <a:p>
            <a:pPr marL="342900" indent="-342900">
              <a:buAutoNum type="arabicPeriod"/>
            </a:pPr>
            <a:endParaRPr lang="en-US" sz="1600"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Maintain and service equipment and machines. Clean all equipment and surrounding areas to make sure everything follows 5S standards</a:t>
            </a:r>
          </a:p>
          <a:p>
            <a:pPr marL="342900" indent="-342900">
              <a:buAutoNum type="arabicPeriod"/>
            </a:pPr>
            <a:endParaRPr lang="en-US" sz="1600"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ea typeface="Microsoft JhengHei" panose="020B0604030504040204" pitchFamily="34" charset="-120"/>
                <a:cs typeface="Arial" panose="020B0604020202020204" pitchFamily="34" charset="0"/>
              </a:rPr>
              <a:t>Support training and guiding DL/new staff</a:t>
            </a:r>
          </a:p>
          <a:p>
            <a:pPr marL="342900" indent="-342900">
              <a:buAutoNum type="arabicPeriod"/>
            </a:pPr>
            <a:endParaRPr lang="en-US" sz="1600" dirty="0">
              <a:solidFill>
                <a:schemeClr val="tx1"/>
              </a:solidFill>
              <a:latin typeface="Arial" panose="020B0604020202020204" pitchFamily="34" charset="0"/>
              <a:ea typeface="Microsoft JhengHei" panose="020B0604030504040204" pitchFamily="34" charset="-120"/>
              <a:cs typeface="Arial" panose="020B0604020202020204" pitchFamily="34" charset="0"/>
            </a:endParaRPr>
          </a:p>
          <a:p>
            <a:pPr marL="342900" indent="-342900">
              <a:buAutoNum type="arabicPeriod"/>
            </a:pPr>
            <a:r>
              <a:rPr lang="en-US" sz="1600" dirty="0">
                <a:solidFill>
                  <a:schemeClr val="tx1"/>
                </a:solidFill>
                <a:latin typeface="Arial" panose="020B0604020202020204" pitchFamily="34" charset="0"/>
                <a:cs typeface="Arial" panose="020B0604020202020204" pitchFamily="34" charset="0"/>
              </a:rPr>
              <a:t>Report machine progress to management and improve machine if necessary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a:extLst>
              <a:ext uri="{FF2B5EF4-FFF2-40B4-BE49-F238E27FC236}">
                <a16:creationId xmlns:a16="http://schemas.microsoft.com/office/drawing/2014/main" id="{505B8CC2-4B9B-4096-E6FE-E5E2D0D05432}"/>
              </a:ext>
            </a:extLst>
          </p:cNvPr>
          <p:cNvGrpSpPr/>
          <p:nvPr/>
        </p:nvGrpSpPr>
        <p:grpSpPr>
          <a:xfrm>
            <a:off x="11145334" y="6021230"/>
            <a:ext cx="1058632" cy="775686"/>
            <a:chOff x="1633100" y="4132365"/>
            <a:chExt cx="419208" cy="307164"/>
          </a:xfrm>
        </p:grpSpPr>
        <p:sp>
          <p:nvSpPr>
            <p:cNvPr id="4" name="Oval 21">
              <a:extLst>
                <a:ext uri="{FF2B5EF4-FFF2-40B4-BE49-F238E27FC236}">
                  <a16:creationId xmlns:a16="http://schemas.microsoft.com/office/drawing/2014/main" id="{F7CFAFD7-D5D7-8B5A-AAB7-03383AFA405F}"/>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6" name="群組 5">
              <a:extLst>
                <a:ext uri="{FF2B5EF4-FFF2-40B4-BE49-F238E27FC236}">
                  <a16:creationId xmlns:a16="http://schemas.microsoft.com/office/drawing/2014/main" id="{5FAF1D05-89ED-48BE-5B73-26B23A6AA311}"/>
                </a:ext>
              </a:extLst>
            </p:cNvPr>
            <p:cNvGrpSpPr/>
            <p:nvPr/>
          </p:nvGrpSpPr>
          <p:grpSpPr>
            <a:xfrm>
              <a:off x="1727685" y="4270681"/>
              <a:ext cx="324623" cy="168848"/>
              <a:chOff x="2114400" y="4249726"/>
              <a:chExt cx="324623" cy="168848"/>
            </a:xfrm>
          </p:grpSpPr>
          <p:sp>
            <p:nvSpPr>
              <p:cNvPr id="7" name="文字方塊 6">
                <a:extLst>
                  <a:ext uri="{FF2B5EF4-FFF2-40B4-BE49-F238E27FC236}">
                    <a16:creationId xmlns:a16="http://schemas.microsoft.com/office/drawing/2014/main" id="{E24D7AA0-B98F-8FEF-1BA6-B243D04B04C6}"/>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8" name="文字方塊 7">
                <a:extLst>
                  <a:ext uri="{FF2B5EF4-FFF2-40B4-BE49-F238E27FC236}">
                    <a16:creationId xmlns:a16="http://schemas.microsoft.com/office/drawing/2014/main" id="{E0DA0E5E-DFE9-12F2-E6CC-849AF91F4C8A}"/>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a:solidFill>
                    <a:schemeClr val="bg1"/>
                  </a:solidFill>
                  <a:latin typeface="微軟正黑體" panose="020B0604030504040204" pitchFamily="34" charset="-120"/>
                  <a:ea typeface="微軟正黑體" panose="020B0604030504040204" pitchFamily="34" charset="-120"/>
                  <a:sym typeface="+mn-ea"/>
                </a:rPr>
                <a:t>2026年度Q1工作成果</a:t>
              </a:r>
            </a:p>
          </p:txBody>
        </p:sp>
      </p:grpSp>
      <p:graphicFrame>
        <p:nvGraphicFramePr>
          <p:cNvPr id="5" name="表格 4">
            <a:extLst>
              <a:ext uri="{FF2B5EF4-FFF2-40B4-BE49-F238E27FC236}">
                <a16:creationId xmlns:a16="http://schemas.microsoft.com/office/drawing/2014/main" id="{7D7ECDC0-7478-1389-3555-719F52C2D9F3}"/>
              </a:ext>
            </a:extLst>
          </p:cNvPr>
          <p:cNvGraphicFramePr>
            <a:graphicFrameLocks noGrp="1"/>
          </p:cNvGraphicFramePr>
          <p:nvPr>
            <p:extLst>
              <p:ext uri="{D42A27DB-BD31-4B8C-83A1-F6EECF244321}">
                <p14:modId xmlns:p14="http://schemas.microsoft.com/office/powerpoint/2010/main" val="546733427"/>
              </p:ext>
            </p:extLst>
          </p:nvPr>
        </p:nvGraphicFramePr>
        <p:xfrm>
          <a:off x="616856" y="1329750"/>
          <a:ext cx="11077303" cy="477719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903630">
                  <a:extLst>
                    <a:ext uri="{9D8B030D-6E8A-4147-A177-3AD203B41FA5}">
                      <a16:colId xmlns:a16="http://schemas.microsoft.com/office/drawing/2014/main" val="3546184672"/>
                    </a:ext>
                  </a:extLst>
                </a:gridCol>
                <a:gridCol w="8173673">
                  <a:extLst>
                    <a:ext uri="{9D8B030D-6E8A-4147-A177-3AD203B41FA5}">
                      <a16:colId xmlns:a16="http://schemas.microsoft.com/office/drawing/2014/main" val="3861677689"/>
                    </a:ext>
                  </a:extLst>
                </a:gridCol>
              </a:tblGrid>
              <a:tr h="555761">
                <a:tc>
                  <a:txBody>
                    <a:bodyPr/>
                    <a:lstStyle/>
                    <a:p>
                      <a:pPr algn="l"/>
                      <a:r>
                        <a:rPr lang="zh-TW" altLang="en-US" sz="2000" dirty="0">
                          <a:latin typeface="微軟正黑體" panose="020B0604030504040204" pitchFamily="34" charset="-120"/>
                          <a:ea typeface="微軟正黑體" panose="020B0604030504040204" pitchFamily="34" charset="-120"/>
                        </a:rPr>
                        <a:t>時間</a:t>
                      </a:r>
                    </a:p>
                  </a:txBody>
                  <a:tcPr anchor="ctr">
                    <a:solidFill>
                      <a:srgbClr val="BA996E">
                        <a:alpha val="70000"/>
                      </a:srgbClr>
                    </a:solidFill>
                  </a:tcPr>
                </a:tc>
                <a:tc>
                  <a:txBody>
                    <a:bodyPr/>
                    <a:lstStyle/>
                    <a:p>
                      <a:pPr algn="l"/>
                      <a:r>
                        <a:rPr lang="zh-TW" altLang="en-US" sz="2000" dirty="0">
                          <a:latin typeface="微軟正黑體" panose="020B0604030504040204" pitchFamily="34" charset="-120"/>
                          <a:ea typeface="微軟正黑體" panose="020B0604030504040204" pitchFamily="34" charset="-120"/>
                        </a:rPr>
                        <a:t>工作成果</a:t>
                      </a:r>
                    </a:p>
                  </a:txBody>
                  <a:tcPr anchor="ctr">
                    <a:solidFill>
                      <a:srgbClr val="BA996E">
                        <a:alpha val="70000"/>
                      </a:srgbClr>
                    </a:solidFill>
                  </a:tcPr>
                </a:tc>
                <a:extLst>
                  <a:ext uri="{0D108BD9-81ED-4DB2-BD59-A6C34878D82A}">
                    <a16:rowId xmlns:a16="http://schemas.microsoft.com/office/drawing/2014/main" val="266302271"/>
                  </a:ext>
                </a:extLst>
              </a:tr>
              <a:tr h="925549">
                <a:tc rowSpan="3">
                  <a:txBody>
                    <a:bodyPr/>
                    <a:lstStyle/>
                    <a:p>
                      <a:pPr algn="ctr"/>
                      <a:r>
                        <a:rPr lang="en-US" altLang="zh-TW" sz="1800" dirty="0">
                          <a:latin typeface="Arial" panose="020B0604020202020204" pitchFamily="34" charset="0"/>
                          <a:cs typeface="Arial" panose="020B0604020202020204" pitchFamily="34" charset="0"/>
                        </a:rPr>
                        <a:t>2025</a:t>
                      </a:r>
                      <a:r>
                        <a:rPr lang="zh-TW" altLang="en-US" sz="1800" dirty="0">
                          <a:latin typeface="Arial" panose="020B0604020202020204" pitchFamily="34" charset="0"/>
                          <a:cs typeface="Arial" panose="020B0604020202020204" pitchFamily="34" charset="0"/>
                        </a:rPr>
                        <a:t> </a:t>
                      </a:r>
                      <a:r>
                        <a:rPr lang="en-US" altLang="zh-TW" sz="1800" dirty="0">
                          <a:latin typeface="Arial" panose="020B0604020202020204" pitchFamily="34" charset="0"/>
                          <a:cs typeface="Arial" panose="020B0604020202020204" pitchFamily="34" charset="0"/>
                        </a:rPr>
                        <a:t>Q4</a:t>
                      </a: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marL="0" lvl="0" indent="0" algn="l">
                        <a:buNone/>
                      </a:pPr>
                      <a:r>
                        <a:rPr lang="en-US" altLang="zh-TW" sz="1600" b="0" dirty="0">
                          <a:latin typeface="Arial" panose="020B0604020202020204" pitchFamily="34" charset="0"/>
                          <a:cs typeface="Arial" panose="020B0604020202020204" pitchFamily="34" charset="0"/>
                        </a:rPr>
                        <a:t>1. </a:t>
                      </a:r>
                      <a:r>
                        <a:rPr lang="en-US" sz="1600" b="0" dirty="0">
                          <a:latin typeface="Arial" panose="020B0604020202020204" pitchFamily="34" charset="0"/>
                          <a:cs typeface="Arial" panose="020B0604020202020204" pitchFamily="34" charset="0"/>
                        </a:rPr>
                        <a:t>Set up the laser engraving machine on the Donut F5-5R line (move the machine to a new position)</a:t>
                      </a:r>
                      <a:endParaRPr lang="zh-TW" altLang="en-US" sz="1600" b="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extLst>
                  <a:ext uri="{0D108BD9-81ED-4DB2-BD59-A6C34878D82A}">
                    <a16:rowId xmlns:a16="http://schemas.microsoft.com/office/drawing/2014/main" val="2426463552"/>
                  </a:ext>
                </a:extLst>
              </a:tr>
              <a:tr h="790635">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dirty="0">
                          <a:latin typeface="Arial" panose="020B0604020202020204" pitchFamily="34" charset="0"/>
                          <a:cs typeface="Arial" panose="020B0604020202020204" pitchFamily="34" charset="0"/>
                        </a:rPr>
                        <a:t>2. </a:t>
                      </a:r>
                      <a:r>
                        <a:rPr lang="en-US" sz="1600" b="0" dirty="0">
                          <a:latin typeface="Arial" panose="020B0604020202020204" pitchFamily="34" charset="0"/>
                          <a:cs typeface="Arial" panose="020B0604020202020204" pitchFamily="34" charset="0"/>
                        </a:rPr>
                        <a:t>Measure and report temperature monthly. Ensure all equipment stays within the standard temperature range.</a:t>
                      </a:r>
                    </a:p>
                  </a:txBody>
                  <a:tcPr anchor="ctr">
                    <a:solidFill>
                      <a:schemeClr val="bg1">
                        <a:alpha val="70000"/>
                      </a:schemeClr>
                    </a:solidFill>
                  </a:tcPr>
                </a:tc>
                <a:extLst>
                  <a:ext uri="{0D108BD9-81ED-4DB2-BD59-A6C34878D82A}">
                    <a16:rowId xmlns:a16="http://schemas.microsoft.com/office/drawing/2014/main" val="3977970917"/>
                  </a:ext>
                </a:extLst>
              </a:tr>
              <a:tr h="790635">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dirty="0">
                          <a:latin typeface="Arial" panose="020B0604020202020204" pitchFamily="34" charset="0"/>
                          <a:cs typeface="Arial" panose="020B0604020202020204" pitchFamily="34" charset="0"/>
                        </a:rPr>
                        <a:t>3. </a:t>
                      </a:r>
                      <a:r>
                        <a:rPr lang="en-US" sz="1600" b="0" dirty="0">
                          <a:latin typeface="Arial" panose="020B0604020202020204" pitchFamily="34" charset="0"/>
                          <a:cs typeface="Arial" panose="020B0604020202020204" pitchFamily="34" charset="0"/>
                        </a:rPr>
                        <a:t>Handle abnormalities of the laser engraving machine and glue dispensing machine during operation.</a:t>
                      </a:r>
                    </a:p>
                  </a:txBody>
                  <a:tcPr anchor="ctr">
                    <a:solidFill>
                      <a:schemeClr val="bg1">
                        <a:lumMod val="85000"/>
                        <a:alpha val="70000"/>
                      </a:schemeClr>
                    </a:solidFill>
                  </a:tcPr>
                </a:tc>
                <a:extLst>
                  <a:ext uri="{0D108BD9-81ED-4DB2-BD59-A6C34878D82A}">
                    <a16:rowId xmlns:a16="http://schemas.microsoft.com/office/drawing/2014/main" val="4092448663"/>
                  </a:ext>
                </a:extLst>
              </a:tr>
              <a:tr h="556372">
                <a:tc rowSpan="3">
                  <a:txBody>
                    <a:bodyPr/>
                    <a:lstStyle/>
                    <a:p>
                      <a:pPr algn="ctr"/>
                      <a:r>
                        <a:rPr lang="en-US" altLang="zh-TW" sz="1800" dirty="0">
                          <a:latin typeface="Arial" panose="020B0604020202020204" pitchFamily="34" charset="0"/>
                          <a:cs typeface="Arial" panose="020B0604020202020204" pitchFamily="34" charset="0"/>
                        </a:rPr>
                        <a:t>2026 Q1</a:t>
                      </a: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r>
                        <a:rPr lang="en-US" sz="1600" dirty="0">
                          <a:latin typeface="Arial" panose="020B0604020202020204" pitchFamily="34" charset="0"/>
                          <a:cs typeface="Arial" panose="020B0604020202020204" pitchFamily="34" charset="0"/>
                        </a:rPr>
                        <a:t>4. Install sensors and open/close clamps to prevent workers from placing products in the wrong position on the UX7 F5-5K</a:t>
                      </a:r>
                      <a:endParaRPr lang="en-US" sz="1600" b="0" dirty="0">
                        <a:latin typeface="Arial" panose="020B0604020202020204" pitchFamily="34" charset="0"/>
                        <a:cs typeface="Arial" panose="020B0604020202020204" pitchFamily="34" charset="0"/>
                      </a:endParaRPr>
                    </a:p>
                  </a:txBody>
                  <a:tcPr anchor="ctr">
                    <a:solidFill>
                      <a:schemeClr val="bg1">
                        <a:alpha val="70000"/>
                      </a:schemeClr>
                    </a:solidFill>
                  </a:tcPr>
                </a:tc>
                <a:extLst>
                  <a:ext uri="{0D108BD9-81ED-4DB2-BD59-A6C34878D82A}">
                    <a16:rowId xmlns:a16="http://schemas.microsoft.com/office/drawing/2014/main" val="1061757831"/>
                  </a:ext>
                </a:extLst>
              </a:tr>
              <a:tr h="556372">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r>
                        <a:rPr lang="en-US" altLang="zh-TW" sz="1600" b="0" dirty="0">
                          <a:latin typeface="Arial" panose="020B0604020202020204" pitchFamily="34" charset="0"/>
                          <a:cs typeface="Arial" panose="020B0604020202020204" pitchFamily="34" charset="0"/>
                        </a:rPr>
                        <a:t>5. </a:t>
                      </a:r>
                      <a:r>
                        <a:rPr lang="en-US" sz="1600" b="0" dirty="0">
                          <a:latin typeface="Arial" panose="020B0604020202020204" pitchFamily="34" charset="0"/>
                          <a:cs typeface="Arial" panose="020B0604020202020204" pitchFamily="34" charset="0"/>
                        </a:rPr>
                        <a:t>Set up routes and programs for AGV vehicles</a:t>
                      </a:r>
                    </a:p>
                  </a:txBody>
                  <a:tcPr anchor="ctr">
                    <a:solidFill>
                      <a:schemeClr val="bg1">
                        <a:lumMod val="85000"/>
                        <a:alpha val="70000"/>
                      </a:schemeClr>
                    </a:solidFill>
                  </a:tcPr>
                </a:tc>
                <a:extLst>
                  <a:ext uri="{0D108BD9-81ED-4DB2-BD59-A6C34878D82A}">
                    <a16:rowId xmlns:a16="http://schemas.microsoft.com/office/drawing/2014/main" val="2236067214"/>
                  </a:ext>
                </a:extLst>
              </a:tr>
              <a:tr h="555761">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r>
                        <a:rPr lang="en-US" altLang="zh-TW" sz="1600" b="0" dirty="0">
                          <a:latin typeface="Arial" panose="020B0604020202020204" pitchFamily="34" charset="0"/>
                          <a:cs typeface="Arial" panose="020B0604020202020204" pitchFamily="34" charset="0"/>
                        </a:rPr>
                        <a:t>6. </a:t>
                      </a:r>
                      <a:r>
                        <a:rPr lang="en-US" sz="1600" b="0" dirty="0">
                          <a:latin typeface="Arial" panose="020B0604020202020204" pitchFamily="34" charset="0"/>
                          <a:cs typeface="Arial" panose="020B0604020202020204" pitchFamily="34" charset="0"/>
                        </a:rPr>
                        <a:t>Train warehouse staff to use, operate, and handle simple troubleshooting for AGV vehicles</a:t>
                      </a:r>
                      <a:endParaRPr lang="zh-TW" altLang="en-US" sz="1600" b="0" dirty="0">
                        <a:latin typeface="Arial" panose="020B0604020202020204" pitchFamily="34" charset="0"/>
                        <a:cs typeface="Arial" panose="020B0604020202020204" pitchFamily="34" charset="0"/>
                      </a:endParaRPr>
                    </a:p>
                  </a:txBody>
                  <a:tcPr anchor="ctr">
                    <a:solidFill>
                      <a:schemeClr val="bg1">
                        <a:alpha val="70000"/>
                      </a:schemeClr>
                    </a:solidFill>
                  </a:tcPr>
                </a:tc>
                <a:extLst>
                  <a:ext uri="{0D108BD9-81ED-4DB2-BD59-A6C34878D82A}">
                    <a16:rowId xmlns:a16="http://schemas.microsoft.com/office/drawing/2014/main" val="67652194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983519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err="1">
                  <a:solidFill>
                    <a:schemeClr val="bg1"/>
                  </a:solidFill>
                  <a:latin typeface="微軟正黑體" panose="020B0604030504040204" pitchFamily="34" charset="-120"/>
                  <a:ea typeface="微軟正黑體" panose="020B0604030504040204" pitchFamily="34" charset="-120"/>
                  <a:sym typeface="+mn-ea"/>
                </a:rPr>
                <a:t>工作</a:t>
              </a:r>
              <a:r>
                <a:rPr lang="zh-TW" altLang="en-US" sz="2800" dirty="0">
                  <a:solidFill>
                    <a:schemeClr val="bg1"/>
                  </a:solidFill>
                  <a:latin typeface="微軟正黑體" panose="020B0604030504040204" pitchFamily="34" charset="-120"/>
                  <a:ea typeface="微軟正黑體" panose="020B0604030504040204" pitchFamily="34" charset="-120"/>
                  <a:sym typeface="+mn-ea"/>
                </a:rPr>
                <a:t>成果詳述</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r>
                <a:rPr lang="zh-TW" altLang="en-US" sz="2800" dirty="0">
                  <a:solidFill>
                    <a:schemeClr val="bg1"/>
                  </a:solidFill>
                  <a:latin typeface="微軟正黑體" panose="020B0604030504040204" pitchFamily="34" charset="-120"/>
                  <a:ea typeface="微軟正黑體" panose="020B0604030504040204" pitchFamily="34" charset="-120"/>
                  <a:sym typeface="+mn-ea"/>
                </a:rPr>
                <a:t>改善成果</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p>
          </p:txBody>
        </p:sp>
      </p:grpSp>
      <p:grpSp>
        <p:nvGrpSpPr>
          <p:cNvPr id="5" name="群組 4"/>
          <p:cNvGrpSpPr/>
          <p:nvPr/>
        </p:nvGrpSpPr>
        <p:grpSpPr>
          <a:xfrm>
            <a:off x="11145334" y="6021230"/>
            <a:ext cx="1058629" cy="775686"/>
            <a:chOff x="1633101" y="4132365"/>
            <a:chExt cx="419207" cy="307164"/>
          </a:xfrm>
        </p:grpSpPr>
        <p:sp>
          <p:nvSpPr>
            <p:cNvPr id="6" name="Oval 21"/>
            <p:cNvSpPr/>
            <p:nvPr/>
          </p:nvSpPr>
          <p:spPr>
            <a:xfrm rot="20111049">
              <a:off x="1633101"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700">
                <a:solidFill>
                  <a:schemeClr val="bg1"/>
                </a:solidFill>
              </a:endParaRPr>
            </a:p>
          </p:txBody>
        </p:sp>
        <p:grpSp>
          <p:nvGrpSpPr>
            <p:cNvPr id="7" name="群組 6"/>
            <p:cNvGrpSpPr/>
            <p:nvPr/>
          </p:nvGrpSpPr>
          <p:grpSpPr>
            <a:xfrm>
              <a:off x="1727686" y="4270681"/>
              <a:ext cx="324622" cy="168848"/>
              <a:chOff x="2114401" y="4249726"/>
              <a:chExt cx="324622" cy="168848"/>
            </a:xfrm>
          </p:grpSpPr>
          <p:sp>
            <p:nvSpPr>
              <p:cNvPr id="8" name="文字方塊 7"/>
              <p:cNvSpPr txBox="1"/>
              <p:nvPr/>
            </p:nvSpPr>
            <p:spPr>
              <a:xfrm>
                <a:off x="2114401"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9" name="文字方塊 8"/>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
        <p:nvSpPr>
          <p:cNvPr id="4" name="Flowchart: Alternative Process 3">
            <a:extLst>
              <a:ext uri="{FF2B5EF4-FFF2-40B4-BE49-F238E27FC236}">
                <a16:creationId xmlns:a16="http://schemas.microsoft.com/office/drawing/2014/main" id="{86CE0787-D0B3-F658-D215-ED05CDD79FCB}"/>
              </a:ext>
            </a:extLst>
          </p:cNvPr>
          <p:cNvSpPr/>
          <p:nvPr/>
        </p:nvSpPr>
        <p:spPr>
          <a:xfrm>
            <a:off x="195262" y="970008"/>
            <a:ext cx="10020454" cy="523220"/>
          </a:xfrm>
          <a:prstGeom prst="flowChartAlternateProcess">
            <a:avLst/>
          </a:prstGeom>
          <a:solidFill>
            <a:schemeClr val="bg1"/>
          </a:solidFill>
          <a:ln w="19050">
            <a:solidFill>
              <a:schemeClr val="accent5">
                <a:lumMod val="75000"/>
              </a:schemeClr>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600" b="1" dirty="0">
                <a:solidFill>
                  <a:prstClr val="black"/>
                </a:solidFill>
                <a:latin typeface="Arial" panose="020B0604020202020204" pitchFamily="34" charset="0"/>
                <a:ea typeface="新細明體" panose="02020500000000000000" pitchFamily="18" charset="-120"/>
                <a:cs typeface="Arial" panose="020B0604020202020204" pitchFamily="34" charset="0"/>
              </a:rPr>
              <a:t>♦ </a:t>
            </a:r>
            <a:r>
              <a:rPr kumimoji="0" lang="en-US" altLang="zh-TW" sz="1600" b="1" i="0" u="none" strike="noStrike" kern="1200" cap="none" spc="0" normalizeH="0" baseline="0" noProof="0" dirty="0">
                <a:ln>
                  <a:noFill/>
                </a:ln>
                <a:solidFill>
                  <a:prstClr val="black"/>
                </a:solidFill>
                <a:effectLst/>
                <a:uLnTx/>
                <a:uFillTx/>
                <a:latin typeface="Arial" panose="020B0604020202020204" pitchFamily="34" charset="0"/>
                <a:ea typeface="新細明體" panose="02020500000000000000" pitchFamily="18" charset="-120"/>
                <a:cs typeface="Arial" panose="020B0604020202020204" pitchFamily="34" charset="0"/>
              </a:rPr>
              <a:t>Set up the laser engraving machine on the Donut F5-5R line (move the machine to a new position)</a:t>
            </a:r>
            <a:endParaRPr lang="en-US" sz="1600" b="1" dirty="0">
              <a:solidFill>
                <a:schemeClr val="tx1"/>
              </a:solidFill>
              <a:latin typeface="Arial" panose="020B0604020202020204" pitchFamily="34" charset="0"/>
              <a:ea typeface="Microsoft JhengHei" panose="020B0604030504040204" pitchFamily="34" charset="-120"/>
              <a:cs typeface="Arial" panose="020B0604020202020204" pitchFamily="34" charset="0"/>
            </a:endParaRPr>
          </a:p>
        </p:txBody>
      </p:sp>
      <p:sp>
        <p:nvSpPr>
          <p:cNvPr id="11" name="Rectangle 10">
            <a:extLst>
              <a:ext uri="{FF2B5EF4-FFF2-40B4-BE49-F238E27FC236}">
                <a16:creationId xmlns:a16="http://schemas.microsoft.com/office/drawing/2014/main" id="{36CC2E57-AD65-734C-403A-DB5C83500582}"/>
              </a:ext>
            </a:extLst>
          </p:cNvPr>
          <p:cNvSpPr/>
          <p:nvPr/>
        </p:nvSpPr>
        <p:spPr>
          <a:xfrm>
            <a:off x="185685" y="1711032"/>
            <a:ext cx="11112363" cy="4844156"/>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500" dirty="0">
              <a:solidFill>
                <a:prstClr val="black"/>
              </a:solidFill>
              <a:latin typeface="Arial" panose="020B0604020202020204" pitchFamily="34" charset="0"/>
              <a:ea typeface="新細明體" panose="02020500000000000000" pitchFamily="18" charset="-120"/>
              <a:cs typeface="Arial" panose="020B0604020202020204" pitchFamily="34" charset="0"/>
            </a:endParaRPr>
          </a:p>
          <a:p>
            <a:r>
              <a:rPr lang="en-US" sz="1500" dirty="0">
                <a:solidFill>
                  <a:prstClr val="black"/>
                </a:solidFill>
                <a:latin typeface="Arial" panose="020B0604020202020204" pitchFamily="34" charset="0"/>
                <a:ea typeface="新細明體" panose="02020500000000000000" pitchFamily="18" charset="-120"/>
                <a:cs typeface="Arial" panose="020B0604020202020204" pitchFamily="34" charset="0"/>
              </a:rPr>
              <a:t>Prepared tools and checked the new installation position         Relocate the laser engraving machine and related equipment to the position specified by IE          Installed and fixed the machine in the correct position         Connect related equipment (cooling and exhaust machine)         Connected power supply and related cables        Check the I/O functions and safety door to ensure they are working properly, and verify that the laser focus is the same as the original position         Run a test engraving on a product to check if the engraving matches the original drawing</a:t>
            </a:r>
          </a:p>
          <a:p>
            <a:endParaRPr lang="en-US" sz="1500" dirty="0">
              <a:solidFill>
                <a:prstClr val="black"/>
              </a:solidFill>
              <a:latin typeface="Arial" panose="020B0604020202020204" pitchFamily="34" charset="0"/>
              <a:ea typeface="新細明體" panose="02020500000000000000" pitchFamily="18" charset="-120"/>
              <a:cs typeface="Arial" panose="020B0604020202020204" pitchFamily="34" charset="0"/>
            </a:endParaRPr>
          </a:p>
        </p:txBody>
      </p:sp>
      <p:sp>
        <p:nvSpPr>
          <p:cNvPr id="22" name="TextBox 21">
            <a:extLst>
              <a:ext uri="{FF2B5EF4-FFF2-40B4-BE49-F238E27FC236}">
                <a16:creationId xmlns:a16="http://schemas.microsoft.com/office/drawing/2014/main" id="{A8F2C83E-D9BF-8DB2-AABC-CBD8F6319853}"/>
              </a:ext>
            </a:extLst>
          </p:cNvPr>
          <p:cNvSpPr txBox="1"/>
          <p:nvPr/>
        </p:nvSpPr>
        <p:spPr>
          <a:xfrm>
            <a:off x="263604" y="5905070"/>
            <a:ext cx="2821432" cy="27699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kumimoji="0" lang="en-US" sz="1200" i="1" u="none" strike="noStrike" kern="1200" cap="none" spc="0" normalizeH="0" baseline="0" noProof="0" dirty="0">
                <a:ln>
                  <a:noFill/>
                </a:ln>
                <a:solidFill>
                  <a:schemeClr val="tx1"/>
                </a:solidFill>
                <a:effectLst/>
                <a:uLnTx/>
                <a:uFillTx/>
                <a:latin typeface="Times New Roman" panose="02020603050405020304" pitchFamily="18" charset="0"/>
                <a:ea typeface="DengXian" panose="02010600030101010101" pitchFamily="2" charset="-122"/>
                <a:cs typeface="Times New Roman" panose="02020603050405020304" pitchFamily="18" charset="0"/>
              </a:rPr>
              <a:t>Training session at the Automation Center</a:t>
            </a:r>
          </a:p>
        </p:txBody>
      </p:sp>
      <p:sp>
        <p:nvSpPr>
          <p:cNvPr id="23" name="TextBox 22">
            <a:extLst>
              <a:ext uri="{FF2B5EF4-FFF2-40B4-BE49-F238E27FC236}">
                <a16:creationId xmlns:a16="http://schemas.microsoft.com/office/drawing/2014/main" id="{C649744D-0DAC-E4D0-6B59-7A3689DEAF48}"/>
              </a:ext>
            </a:extLst>
          </p:cNvPr>
          <p:cNvSpPr txBox="1"/>
          <p:nvPr/>
        </p:nvSpPr>
        <p:spPr>
          <a:xfrm>
            <a:off x="4036409" y="5905070"/>
            <a:ext cx="2821432" cy="27699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1200" i="1"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PLC task from Tom and Max</a:t>
            </a:r>
          </a:p>
        </p:txBody>
      </p:sp>
      <p:sp>
        <p:nvSpPr>
          <p:cNvPr id="25" name="TextBox 24">
            <a:extLst>
              <a:ext uri="{FF2B5EF4-FFF2-40B4-BE49-F238E27FC236}">
                <a16:creationId xmlns:a16="http://schemas.microsoft.com/office/drawing/2014/main" id="{95B47E5F-5D6B-2E56-CBEA-3EFD45A94E59}"/>
              </a:ext>
            </a:extLst>
          </p:cNvPr>
          <p:cNvSpPr txBox="1"/>
          <p:nvPr/>
        </p:nvSpPr>
        <p:spPr>
          <a:xfrm>
            <a:off x="8588591" y="5904640"/>
            <a:ext cx="2821432" cy="27699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1200" i="1" dirty="0">
                <a:solidFill>
                  <a:schemeClr val="tx1"/>
                </a:solidFill>
                <a:latin typeface="Times New Roman" panose="02020603050405020304" pitchFamily="18" charset="0"/>
                <a:ea typeface="DengXian" panose="02010600030101010101" pitchFamily="2" charset="-122"/>
                <a:cs typeface="Times New Roman" panose="02020603050405020304" pitchFamily="18" charset="0"/>
              </a:rPr>
              <a:t>My PLC practice</a:t>
            </a:r>
          </a:p>
        </p:txBody>
      </p:sp>
      <p:cxnSp>
        <p:nvCxnSpPr>
          <p:cNvPr id="40" name="Straight Arrow Connector 39">
            <a:extLst>
              <a:ext uri="{FF2B5EF4-FFF2-40B4-BE49-F238E27FC236}">
                <a16:creationId xmlns:a16="http://schemas.microsoft.com/office/drawing/2014/main" id="{40F4EE0E-1F92-AEFB-5EFF-56A3CC460E87}"/>
              </a:ext>
            </a:extLst>
          </p:cNvPr>
          <p:cNvCxnSpPr/>
          <p:nvPr/>
        </p:nvCxnSpPr>
        <p:spPr>
          <a:xfrm>
            <a:off x="5107220" y="2113935"/>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7DD9481-DC35-87FE-FA03-2B1C579C5872}"/>
              </a:ext>
            </a:extLst>
          </p:cNvPr>
          <p:cNvCxnSpPr/>
          <p:nvPr/>
        </p:nvCxnSpPr>
        <p:spPr>
          <a:xfrm>
            <a:off x="2349272" y="2335161"/>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4D8707A-1A50-CF89-DCCF-7D5FA2691AE0}"/>
              </a:ext>
            </a:extLst>
          </p:cNvPr>
          <p:cNvCxnSpPr/>
          <p:nvPr/>
        </p:nvCxnSpPr>
        <p:spPr>
          <a:xfrm>
            <a:off x="7304730" y="2335161"/>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78B4B92-B15E-B100-FB2B-D6E793EDA624}"/>
              </a:ext>
            </a:extLst>
          </p:cNvPr>
          <p:cNvCxnSpPr/>
          <p:nvPr/>
        </p:nvCxnSpPr>
        <p:spPr>
          <a:xfrm>
            <a:off x="6001956" y="2561302"/>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F16962A-D72E-DF64-C1C6-F48CEAC48F07}"/>
              </a:ext>
            </a:extLst>
          </p:cNvPr>
          <p:cNvCxnSpPr/>
          <p:nvPr/>
        </p:nvCxnSpPr>
        <p:spPr>
          <a:xfrm>
            <a:off x="1857659" y="2561302"/>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43CCDCD-C727-55FC-9FF9-694335800BF6}"/>
              </a:ext>
            </a:extLst>
          </p:cNvPr>
          <p:cNvCxnSpPr/>
          <p:nvPr/>
        </p:nvCxnSpPr>
        <p:spPr>
          <a:xfrm>
            <a:off x="7644635" y="2802192"/>
            <a:ext cx="3399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983519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err="1">
                  <a:solidFill>
                    <a:schemeClr val="bg1"/>
                  </a:solidFill>
                  <a:latin typeface="微軟正黑體" panose="020B0604030504040204" pitchFamily="34" charset="-120"/>
                  <a:ea typeface="微軟正黑體" panose="020B0604030504040204" pitchFamily="34" charset="-120"/>
                  <a:sym typeface="+mn-ea"/>
                </a:rPr>
                <a:t>工作</a:t>
              </a:r>
              <a:r>
                <a:rPr lang="zh-TW" altLang="en-US" sz="2800" dirty="0">
                  <a:solidFill>
                    <a:schemeClr val="bg1"/>
                  </a:solidFill>
                  <a:latin typeface="微軟正黑體" panose="020B0604030504040204" pitchFamily="34" charset="-120"/>
                  <a:ea typeface="微軟正黑體" panose="020B0604030504040204" pitchFamily="34" charset="-120"/>
                  <a:sym typeface="+mn-ea"/>
                </a:rPr>
                <a:t>成果詳述</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r>
                <a:rPr lang="zh-TW" altLang="en-US" sz="2800" dirty="0">
                  <a:solidFill>
                    <a:schemeClr val="bg1"/>
                  </a:solidFill>
                  <a:latin typeface="微軟正黑體" panose="020B0604030504040204" pitchFamily="34" charset="-120"/>
                  <a:ea typeface="微軟正黑體" panose="020B0604030504040204" pitchFamily="34" charset="-120"/>
                  <a:sym typeface="+mn-ea"/>
                </a:rPr>
                <a:t>改善成果</a:t>
              </a:r>
              <a:r>
                <a:rPr lang="en-US" altLang="zh-TW" sz="2800" dirty="0">
                  <a:solidFill>
                    <a:schemeClr val="bg1"/>
                  </a:solidFill>
                  <a:latin typeface="微軟正黑體" panose="020B0604030504040204" pitchFamily="34" charset="-120"/>
                  <a:ea typeface="微軟正黑體" panose="020B0604030504040204" pitchFamily="34" charset="-120"/>
                  <a:sym typeface="+mn-ea"/>
                </a:rPr>
                <a:t>)</a:t>
              </a:r>
            </a:p>
          </p:txBody>
        </p:sp>
      </p:grpSp>
      <p:grpSp>
        <p:nvGrpSpPr>
          <p:cNvPr id="5" name="群組 4"/>
          <p:cNvGrpSpPr/>
          <p:nvPr/>
        </p:nvGrpSpPr>
        <p:grpSpPr>
          <a:xfrm>
            <a:off x="11145334" y="6021230"/>
            <a:ext cx="1058629" cy="775686"/>
            <a:chOff x="1633101" y="4132365"/>
            <a:chExt cx="419207" cy="307164"/>
          </a:xfrm>
        </p:grpSpPr>
        <p:sp>
          <p:nvSpPr>
            <p:cNvPr id="6" name="Oval 21"/>
            <p:cNvSpPr/>
            <p:nvPr/>
          </p:nvSpPr>
          <p:spPr>
            <a:xfrm rot="20111049">
              <a:off x="1633101"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700">
                <a:solidFill>
                  <a:schemeClr val="bg1"/>
                </a:solidFill>
              </a:endParaRPr>
            </a:p>
          </p:txBody>
        </p:sp>
        <p:grpSp>
          <p:nvGrpSpPr>
            <p:cNvPr id="7" name="群組 6"/>
            <p:cNvGrpSpPr/>
            <p:nvPr/>
          </p:nvGrpSpPr>
          <p:grpSpPr>
            <a:xfrm>
              <a:off x="1727686" y="4270681"/>
              <a:ext cx="324622" cy="168848"/>
              <a:chOff x="2114401" y="4249726"/>
              <a:chExt cx="324622" cy="168848"/>
            </a:xfrm>
          </p:grpSpPr>
          <p:sp>
            <p:nvSpPr>
              <p:cNvPr id="8" name="文字方塊 7"/>
              <p:cNvSpPr txBox="1"/>
              <p:nvPr/>
            </p:nvSpPr>
            <p:spPr>
              <a:xfrm>
                <a:off x="2114401"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9" name="文字方塊 8"/>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
        <p:nvSpPr>
          <p:cNvPr id="4" name="Flowchart: Alternative Process 3">
            <a:extLst>
              <a:ext uri="{FF2B5EF4-FFF2-40B4-BE49-F238E27FC236}">
                <a16:creationId xmlns:a16="http://schemas.microsoft.com/office/drawing/2014/main" id="{86CE0787-D0B3-F658-D215-ED05CDD79FCB}"/>
              </a:ext>
            </a:extLst>
          </p:cNvPr>
          <p:cNvSpPr/>
          <p:nvPr/>
        </p:nvSpPr>
        <p:spPr>
          <a:xfrm>
            <a:off x="195261" y="970008"/>
            <a:ext cx="11188929" cy="523220"/>
          </a:xfrm>
          <a:prstGeom prst="flowChartAlternateProcess">
            <a:avLst/>
          </a:prstGeom>
          <a:solidFill>
            <a:schemeClr val="bg1"/>
          </a:solidFill>
          <a:ln w="19050">
            <a:solidFill>
              <a:schemeClr val="accent5">
                <a:lumMod val="75000"/>
              </a:schemeClr>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600" b="1" dirty="0">
                <a:solidFill>
                  <a:prstClr val="black"/>
                </a:solidFill>
                <a:latin typeface="Arial" panose="020B0604020202020204" pitchFamily="34" charset="0"/>
                <a:ea typeface="新細明體" panose="02020500000000000000" pitchFamily="18" charset="-120"/>
                <a:cs typeface="Arial" panose="020B0604020202020204" pitchFamily="34" charset="0"/>
              </a:rPr>
              <a:t>♦ </a:t>
            </a:r>
            <a:r>
              <a:rPr kumimoji="0" lang="en-US" altLang="zh-TW" sz="1600" b="1" i="0" u="none" strike="noStrike" kern="1200" cap="none" spc="0" normalizeH="0" baseline="0" noProof="0" dirty="0">
                <a:ln>
                  <a:noFill/>
                </a:ln>
                <a:solidFill>
                  <a:prstClr val="black"/>
                </a:solidFill>
                <a:effectLst/>
                <a:uLnTx/>
                <a:uFillTx/>
                <a:latin typeface="Arial" panose="020B0604020202020204" pitchFamily="34" charset="0"/>
                <a:ea typeface="新細明體" panose="02020500000000000000" pitchFamily="18" charset="-120"/>
                <a:cs typeface="Arial" panose="020B0604020202020204" pitchFamily="34" charset="0"/>
              </a:rPr>
              <a:t>Measure and report temperature monthly. Ensure all equipment stays within the standard temperature range</a:t>
            </a:r>
            <a:endParaRPr lang="en-US" sz="1600" b="1" dirty="0">
              <a:solidFill>
                <a:schemeClr val="tx1"/>
              </a:solidFill>
              <a:latin typeface="Arial" panose="020B0604020202020204" pitchFamily="34" charset="0"/>
              <a:ea typeface="Microsoft JhengHei" panose="020B0604030504040204" pitchFamily="34" charset="-120"/>
              <a:cs typeface="Arial" panose="020B0604020202020204" pitchFamily="34" charset="0"/>
            </a:endParaRPr>
          </a:p>
        </p:txBody>
      </p:sp>
      <p:sp>
        <p:nvSpPr>
          <p:cNvPr id="11" name="Rectangle 10">
            <a:extLst>
              <a:ext uri="{FF2B5EF4-FFF2-40B4-BE49-F238E27FC236}">
                <a16:creationId xmlns:a16="http://schemas.microsoft.com/office/drawing/2014/main" id="{36CC2E57-AD65-734C-403A-DB5C83500582}"/>
              </a:ext>
            </a:extLst>
          </p:cNvPr>
          <p:cNvSpPr/>
          <p:nvPr/>
        </p:nvSpPr>
        <p:spPr>
          <a:xfrm>
            <a:off x="263604" y="1737315"/>
            <a:ext cx="10695862" cy="5002539"/>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prstClr val="black"/>
                </a:solidFill>
                <a:latin typeface="Arial" panose="020B0604020202020204" pitchFamily="34" charset="0"/>
                <a:ea typeface="新細明體" panose="02020500000000000000" pitchFamily="18" charset="-120"/>
                <a:cs typeface="Arial" panose="020B0604020202020204" pitchFamily="34" charset="0"/>
              </a:rPr>
              <a:t>- Checked the temperature of machines and related equipment in the production area</a:t>
            </a:r>
          </a:p>
          <a:p>
            <a:r>
              <a:rPr lang="en-US" sz="1400" dirty="0">
                <a:solidFill>
                  <a:prstClr val="black"/>
                </a:solidFill>
                <a:latin typeface="Arial" panose="020B0604020202020204" pitchFamily="34" charset="0"/>
                <a:ea typeface="新細明體" panose="02020500000000000000" pitchFamily="18" charset="-120"/>
                <a:cs typeface="Arial" panose="020B0604020202020204" pitchFamily="34" charset="0"/>
              </a:rPr>
              <a:t>- Used a temperature measuring device to record the temperature of each machine</a:t>
            </a:r>
          </a:p>
          <a:p>
            <a:r>
              <a:rPr lang="en-US" sz="1400" dirty="0">
                <a:solidFill>
                  <a:prstClr val="black"/>
                </a:solidFill>
                <a:latin typeface="Arial" panose="020B0604020202020204" pitchFamily="34" charset="0"/>
                <a:ea typeface="新細明體" panose="02020500000000000000" pitchFamily="18" charset="-120"/>
                <a:cs typeface="Arial" panose="020B0604020202020204" pitchFamily="34" charset="0"/>
              </a:rPr>
              <a:t>- Compared the measured temperature with the standard temperature range</a:t>
            </a:r>
          </a:p>
          <a:p>
            <a:r>
              <a:rPr lang="en-US" sz="1400" dirty="0">
                <a:solidFill>
                  <a:prstClr val="black"/>
                </a:solidFill>
                <a:latin typeface="Arial" panose="020B0604020202020204" pitchFamily="34" charset="0"/>
                <a:ea typeface="新細明體" panose="02020500000000000000" pitchFamily="18" charset="-120"/>
                <a:cs typeface="Arial" panose="020B0604020202020204" pitchFamily="34" charset="0"/>
              </a:rPr>
              <a:t>- Recorded the results in the monthly temperature report</a:t>
            </a:r>
          </a:p>
          <a:p>
            <a:r>
              <a:rPr lang="en-US" sz="1400" dirty="0">
                <a:solidFill>
                  <a:prstClr val="black"/>
                </a:solidFill>
                <a:latin typeface="Arial" panose="020B0604020202020204" pitchFamily="34" charset="0"/>
                <a:ea typeface="新細明體" panose="02020500000000000000" pitchFamily="18" charset="-120"/>
                <a:cs typeface="Arial" panose="020B0604020202020204" pitchFamily="34" charset="0"/>
              </a:rPr>
              <a:t>- If abnormal temperature is found, report to the supervisor and take necessary 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群組 42"/>
          <p:cNvGrpSpPr/>
          <p:nvPr/>
        </p:nvGrpSpPr>
        <p:grpSpPr>
          <a:xfrm>
            <a:off x="195262" y="178409"/>
            <a:ext cx="11801476" cy="588751"/>
            <a:chOff x="195262" y="163202"/>
            <a:chExt cx="11801476" cy="588751"/>
          </a:xfrm>
        </p:grpSpPr>
        <p:sp>
          <p:nvSpPr>
            <p:cNvPr id="44" name="矩形: 圓角 43"/>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p:cNvGrpSpPr/>
            <p:nvPr/>
          </p:nvGrpSpPr>
          <p:grpSpPr>
            <a:xfrm>
              <a:off x="600729" y="163202"/>
              <a:ext cx="1038687" cy="588751"/>
              <a:chOff x="1782913" y="2529000"/>
              <a:chExt cx="3121572" cy="1800001"/>
            </a:xfrm>
          </p:grpSpPr>
          <p:sp>
            <p:nvSpPr>
              <p:cNvPr id="48" name="圆角矩形 15"/>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p:cNvSpPr txBox="1"/>
            <p:nvPr/>
          </p:nvSpPr>
          <p:spPr>
            <a:xfrm>
              <a:off x="1604962" y="196222"/>
              <a:ext cx="9835198"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a:solidFill>
                    <a:schemeClr val="bg1"/>
                  </a:solidFill>
                  <a:latin typeface="微軟正黑體" panose="020B0604030504040204" pitchFamily="34" charset="-120"/>
                  <a:ea typeface="微軟正黑體" panose="020B0604030504040204" pitchFamily="34" charset="-120"/>
                  <a:sym typeface="+mn-ea"/>
                </a:rPr>
                <a:t>Detailed Description of Work Results</a:t>
              </a:r>
            </a:p>
          </p:txBody>
        </p:sp>
      </p:grpSp>
      <p:grpSp>
        <p:nvGrpSpPr>
          <p:cNvPr id="5" name="群組 4"/>
          <p:cNvGrpSpPr/>
          <p:nvPr/>
        </p:nvGrpSpPr>
        <p:grpSpPr>
          <a:xfrm>
            <a:off x="11145334" y="6021230"/>
            <a:ext cx="1058629" cy="775686"/>
            <a:chOff x="1633101" y="4132365"/>
            <a:chExt cx="419207" cy="307164"/>
          </a:xfrm>
        </p:grpSpPr>
        <p:sp>
          <p:nvSpPr>
            <p:cNvPr id="6" name="Oval 21"/>
            <p:cNvSpPr/>
            <p:nvPr/>
          </p:nvSpPr>
          <p:spPr>
            <a:xfrm rot="20111049">
              <a:off x="1633101"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700">
                <a:solidFill>
                  <a:schemeClr val="bg1"/>
                </a:solidFill>
              </a:endParaRPr>
            </a:p>
          </p:txBody>
        </p:sp>
        <p:grpSp>
          <p:nvGrpSpPr>
            <p:cNvPr id="7" name="群組 6"/>
            <p:cNvGrpSpPr/>
            <p:nvPr/>
          </p:nvGrpSpPr>
          <p:grpSpPr>
            <a:xfrm>
              <a:off x="1727686" y="4270681"/>
              <a:ext cx="324622" cy="168848"/>
              <a:chOff x="2114401" y="4249726"/>
              <a:chExt cx="324622" cy="168848"/>
            </a:xfrm>
          </p:grpSpPr>
          <p:sp>
            <p:nvSpPr>
              <p:cNvPr id="8" name="文字方塊 7"/>
              <p:cNvSpPr txBox="1"/>
              <p:nvPr/>
            </p:nvSpPr>
            <p:spPr>
              <a:xfrm>
                <a:off x="2114401"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9" name="文字方塊 8"/>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sp>
        <p:nvSpPr>
          <p:cNvPr id="4" name="Flowchart: Alternative Process 3">
            <a:extLst>
              <a:ext uri="{FF2B5EF4-FFF2-40B4-BE49-F238E27FC236}">
                <a16:creationId xmlns:a16="http://schemas.microsoft.com/office/drawing/2014/main" id="{86CE0787-D0B3-F658-D215-ED05CDD79FCB}"/>
              </a:ext>
            </a:extLst>
          </p:cNvPr>
          <p:cNvSpPr/>
          <p:nvPr/>
        </p:nvSpPr>
        <p:spPr>
          <a:xfrm>
            <a:off x="195262" y="970008"/>
            <a:ext cx="10777538" cy="523220"/>
          </a:xfrm>
          <a:prstGeom prst="flowChartAlternateProcess">
            <a:avLst/>
          </a:prstGeom>
          <a:solidFill>
            <a:schemeClr val="bg1"/>
          </a:solidFill>
          <a:ln w="19050">
            <a:solidFill>
              <a:schemeClr val="accent5">
                <a:lumMod val="75000"/>
              </a:schemeClr>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600" b="1" dirty="0">
                <a:solidFill>
                  <a:prstClr val="black"/>
                </a:solidFill>
                <a:latin typeface="Arial" panose="020B0604020202020204" pitchFamily="34" charset="0"/>
                <a:ea typeface="新細明體" panose="02020500000000000000" pitchFamily="18" charset="-120"/>
                <a:cs typeface="Arial" panose="020B0604020202020204" pitchFamily="34" charset="0"/>
              </a:rPr>
              <a:t>♦ </a:t>
            </a:r>
            <a:r>
              <a:rPr kumimoji="0" lang="en-US" altLang="zh-TW" sz="1600" b="1" i="0" u="none" strike="noStrike" kern="1200" cap="none" spc="0" normalizeH="0" baseline="0" noProof="0" dirty="0">
                <a:ln>
                  <a:noFill/>
                </a:ln>
                <a:solidFill>
                  <a:prstClr val="black"/>
                </a:solidFill>
                <a:effectLst/>
                <a:uLnTx/>
                <a:uFillTx/>
                <a:latin typeface="Arial" panose="020B0604020202020204" pitchFamily="34" charset="0"/>
                <a:ea typeface="新細明體" panose="02020500000000000000" pitchFamily="18" charset="-120"/>
                <a:cs typeface="Arial" panose="020B0604020202020204" pitchFamily="34" charset="0"/>
              </a:rPr>
              <a:t>Install sensors and open/close clamps to prevent workers from placing products in the wrong position on the UX7 F5-5K</a:t>
            </a:r>
            <a:endParaRPr lang="en-US" sz="1600" b="1" dirty="0">
              <a:solidFill>
                <a:schemeClr val="tx1"/>
              </a:solidFill>
              <a:latin typeface="Arial" panose="020B0604020202020204" pitchFamily="34" charset="0"/>
              <a:ea typeface="Microsoft JhengHei" panose="020B0604030504040204" pitchFamily="34" charset="-120"/>
              <a:cs typeface="Arial" panose="020B0604020202020204" pitchFamily="34" charset="0"/>
            </a:endParaRPr>
          </a:p>
        </p:txBody>
      </p:sp>
      <p:sp>
        <p:nvSpPr>
          <p:cNvPr id="2" name="Rectangle 1">
            <a:extLst>
              <a:ext uri="{FF2B5EF4-FFF2-40B4-BE49-F238E27FC236}">
                <a16:creationId xmlns:a16="http://schemas.microsoft.com/office/drawing/2014/main" id="{E69BCEEE-BFDA-0794-5B7C-0F5982F5E152}"/>
              </a:ext>
            </a:extLst>
          </p:cNvPr>
          <p:cNvSpPr/>
          <p:nvPr/>
        </p:nvSpPr>
        <p:spPr>
          <a:xfrm>
            <a:off x="246162" y="1701523"/>
            <a:ext cx="3298848" cy="1392473"/>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
              </a:spcBef>
            </a:pPr>
            <a:r>
              <a:rPr lang="en-US" sz="1100" b="1" u="sng" dirty="0">
                <a:solidFill>
                  <a:prstClr val="black"/>
                </a:solidFill>
                <a:latin typeface="Arial" panose="020B0604020202020204" pitchFamily="34" charset="0"/>
                <a:ea typeface="新細明體" panose="02020500000000000000" pitchFamily="18" charset="-120"/>
                <a:cs typeface="Arial" panose="020B0604020202020204" pitchFamily="34" charset="0"/>
              </a:rPr>
              <a:t>Issue:</a:t>
            </a:r>
            <a:r>
              <a:rPr lang="en-US" sz="1100" dirty="0">
                <a:solidFill>
                  <a:prstClr val="black"/>
                </a:solidFill>
                <a:latin typeface="Arial" panose="020B0604020202020204" pitchFamily="34" charset="0"/>
                <a:ea typeface="新細明體" panose="02020500000000000000" pitchFamily="18" charset="-120"/>
                <a:cs typeface="Arial" panose="020B0604020202020204" pitchFamily="34" charset="0"/>
              </a:rPr>
              <a:t> </a:t>
            </a: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Workers often make operation mistakes on this production line. Since the product is a square block with similar sides, it is easy to confuse the faces. If the product is placed in the wrong position, the laser engraving will be done in the wrong location, which can damage the product case</a:t>
            </a:r>
            <a:endParaRPr lang="en-US" sz="1100" dirty="0">
              <a:solidFill>
                <a:prstClr val="black"/>
              </a:solidFill>
              <a:latin typeface="Arial" panose="020B0604020202020204" pitchFamily="34" charset="0"/>
              <a:ea typeface="新細明體" panose="02020500000000000000" pitchFamily="18" charset="-120"/>
              <a:cs typeface="Arial" panose="020B0604020202020204" pitchFamily="34" charset="0"/>
            </a:endParaRPr>
          </a:p>
        </p:txBody>
      </p:sp>
      <p:sp>
        <p:nvSpPr>
          <p:cNvPr id="3" name="Rectangle 2">
            <a:extLst>
              <a:ext uri="{FF2B5EF4-FFF2-40B4-BE49-F238E27FC236}">
                <a16:creationId xmlns:a16="http://schemas.microsoft.com/office/drawing/2014/main" id="{D204FF3B-7531-BC5A-D648-996E194B351F}"/>
              </a:ext>
            </a:extLst>
          </p:cNvPr>
          <p:cNvSpPr/>
          <p:nvPr/>
        </p:nvSpPr>
        <p:spPr>
          <a:xfrm>
            <a:off x="4442710" y="1664093"/>
            <a:ext cx="3702904" cy="1442814"/>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
              </a:spcBef>
            </a:pPr>
            <a:r>
              <a:rPr lang="en-US" sz="1200" b="1" u="sng" dirty="0">
                <a:solidFill>
                  <a:prstClr val="black"/>
                </a:solidFill>
                <a:latin typeface="Arial" panose="020B0604020202020204" pitchFamily="34" charset="0"/>
                <a:ea typeface="新細明體" panose="02020500000000000000" pitchFamily="18" charset="-120"/>
                <a:cs typeface="Arial" panose="020B0604020202020204" pitchFamily="34" charset="0"/>
              </a:rPr>
              <a:t>Action:</a:t>
            </a:r>
          </a:p>
          <a:p>
            <a:pPr>
              <a:spcBef>
                <a:spcPts val="120"/>
              </a:spcBef>
            </a:pP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 Install a photoelectric sensor on the open/close clamp of the product jig</a:t>
            </a:r>
          </a:p>
          <a:p>
            <a:pPr>
              <a:spcBef>
                <a:spcPts val="120"/>
              </a:spcBef>
            </a:pP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 Adjusted the sensor position to detect the correct product placement</a:t>
            </a:r>
          </a:p>
          <a:p>
            <a:pPr>
              <a:spcBef>
                <a:spcPts val="120"/>
              </a:spcBef>
            </a:pP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 Connected the sensor to the control system.</a:t>
            </a:r>
          </a:p>
          <a:p>
            <a:pPr>
              <a:spcBef>
                <a:spcPts val="120"/>
              </a:spcBef>
            </a:pP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 Test the sensor to ensure it works properly</a:t>
            </a:r>
          </a:p>
          <a:p>
            <a:pPr marL="171450" indent="-171450">
              <a:spcBef>
                <a:spcPts val="120"/>
              </a:spcBef>
              <a:buFontTx/>
              <a:buChar char="-"/>
            </a:pPr>
            <a:endParaRPr lang="en-US" sz="1200" b="1" u="sng" dirty="0">
              <a:solidFill>
                <a:prstClr val="black"/>
              </a:solidFill>
              <a:latin typeface="Arial" panose="020B0604020202020204" pitchFamily="34" charset="0"/>
              <a:ea typeface="新細明體" panose="02020500000000000000" pitchFamily="18" charset="-120"/>
              <a:cs typeface="Arial" panose="020B0604020202020204" pitchFamily="34" charset="0"/>
            </a:endParaRPr>
          </a:p>
        </p:txBody>
      </p:sp>
      <p:sp>
        <p:nvSpPr>
          <p:cNvPr id="14" name="Rectangle 13">
            <a:extLst>
              <a:ext uri="{FF2B5EF4-FFF2-40B4-BE49-F238E27FC236}">
                <a16:creationId xmlns:a16="http://schemas.microsoft.com/office/drawing/2014/main" id="{770805EE-9244-C9D3-B84F-CB0101685CC9}"/>
              </a:ext>
            </a:extLst>
          </p:cNvPr>
          <p:cNvSpPr/>
          <p:nvPr/>
        </p:nvSpPr>
        <p:spPr>
          <a:xfrm>
            <a:off x="9049947" y="1664093"/>
            <a:ext cx="2640608" cy="1442814"/>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
              </a:spcBef>
            </a:pPr>
            <a:r>
              <a:rPr lang="en-US" sz="1200" b="1" u="sng" dirty="0">
                <a:solidFill>
                  <a:prstClr val="black"/>
                </a:solidFill>
                <a:latin typeface="Arial" panose="020B0604020202020204" pitchFamily="34" charset="0"/>
                <a:ea typeface="新細明體" panose="02020500000000000000" pitchFamily="18" charset="-120"/>
                <a:cs typeface="Arial" panose="020B0604020202020204" pitchFamily="34" charset="0"/>
              </a:rPr>
              <a:t>Result:</a:t>
            </a:r>
          </a:p>
          <a:p>
            <a:pPr>
              <a:spcBef>
                <a:spcPts val="120"/>
              </a:spcBef>
            </a:pPr>
            <a:r>
              <a:rPr lang="en-US" sz="1200" dirty="0">
                <a:solidFill>
                  <a:prstClr val="black"/>
                </a:solidFill>
                <a:latin typeface="Arial" panose="020B0604020202020204" pitchFamily="34" charset="0"/>
                <a:ea typeface="新細明體" panose="02020500000000000000" pitchFamily="18" charset="-120"/>
                <a:cs typeface="Arial" panose="020B0604020202020204" pitchFamily="34" charset="0"/>
              </a:rPr>
              <a:t>The sensor can detect incorrect product placement and help prevent wrong operations by OP. As a result, product cases are no longer damaged due to incorrect engraving positions</a:t>
            </a:r>
          </a:p>
        </p:txBody>
      </p:sp>
      <p:sp>
        <p:nvSpPr>
          <p:cNvPr id="38" name="Arrow: Notched Right 37">
            <a:extLst>
              <a:ext uri="{FF2B5EF4-FFF2-40B4-BE49-F238E27FC236}">
                <a16:creationId xmlns:a16="http://schemas.microsoft.com/office/drawing/2014/main" id="{8EEB0D5F-FE5F-2CAC-80C3-F94A5D084230}"/>
              </a:ext>
            </a:extLst>
          </p:cNvPr>
          <p:cNvSpPr/>
          <p:nvPr/>
        </p:nvSpPr>
        <p:spPr>
          <a:xfrm>
            <a:off x="8392083" y="2394636"/>
            <a:ext cx="424661" cy="204012"/>
          </a:xfrm>
          <a:prstGeom prst="notchedRightArrow">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sp>
        <p:nvSpPr>
          <p:cNvPr id="39" name="Flowchart: Alternative Process 38">
            <a:extLst>
              <a:ext uri="{FF2B5EF4-FFF2-40B4-BE49-F238E27FC236}">
                <a16:creationId xmlns:a16="http://schemas.microsoft.com/office/drawing/2014/main" id="{AE96A372-7D0B-603F-C3EE-B58B462B7916}"/>
              </a:ext>
            </a:extLst>
          </p:cNvPr>
          <p:cNvSpPr/>
          <p:nvPr/>
        </p:nvSpPr>
        <p:spPr>
          <a:xfrm>
            <a:off x="117154" y="3751733"/>
            <a:ext cx="2778075" cy="3042273"/>
          </a:xfrm>
          <a:prstGeom prst="flowChartAlternateProcess">
            <a:avLst/>
          </a:prstGeom>
          <a:solidFill>
            <a:schemeClr val="bg1"/>
          </a:solidFill>
          <a:ln w="38100">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pic>
        <p:nvPicPr>
          <p:cNvPr id="42" name="Picture 41" descr="Close-up of a machine with a metal part&#10;&#10;AI-generated content may be incorrect.">
            <a:extLst>
              <a:ext uri="{FF2B5EF4-FFF2-40B4-BE49-F238E27FC236}">
                <a16:creationId xmlns:a16="http://schemas.microsoft.com/office/drawing/2014/main" id="{CDFB742D-2E6F-188A-2A85-12FC1AB7BE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950" y="5198636"/>
            <a:ext cx="1724186" cy="1315068"/>
          </a:xfrm>
          <a:prstGeom prst="rect">
            <a:avLst/>
          </a:prstGeom>
        </p:spPr>
      </p:pic>
      <p:sp>
        <p:nvSpPr>
          <p:cNvPr id="53" name="TextBox 52">
            <a:extLst>
              <a:ext uri="{FF2B5EF4-FFF2-40B4-BE49-F238E27FC236}">
                <a16:creationId xmlns:a16="http://schemas.microsoft.com/office/drawing/2014/main" id="{D602EB38-BFD9-F11A-1D58-D49A65696ABB}"/>
              </a:ext>
            </a:extLst>
          </p:cNvPr>
          <p:cNvSpPr txBox="1"/>
          <p:nvPr/>
        </p:nvSpPr>
        <p:spPr>
          <a:xfrm>
            <a:off x="2233207" y="4656213"/>
            <a:ext cx="742083" cy="110799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r>
              <a:rPr lang="en-US" sz="1100" i="1" dirty="0">
                <a:latin typeface="Times New Roman" panose="02020603050405020304" pitchFamily="18" charset="0"/>
                <a:cs typeface="Times New Roman" panose="02020603050405020304" pitchFamily="18" charset="0"/>
              </a:rPr>
              <a:t>The parts are worn and covered with oil residue</a:t>
            </a:r>
          </a:p>
        </p:txBody>
      </p:sp>
      <p:sp>
        <p:nvSpPr>
          <p:cNvPr id="54" name="Flowchart: Alternative Process 53">
            <a:extLst>
              <a:ext uri="{FF2B5EF4-FFF2-40B4-BE49-F238E27FC236}">
                <a16:creationId xmlns:a16="http://schemas.microsoft.com/office/drawing/2014/main" id="{70A5AB8D-3D9C-F650-9B9E-F09926D438F0}"/>
              </a:ext>
            </a:extLst>
          </p:cNvPr>
          <p:cNvSpPr/>
          <p:nvPr/>
        </p:nvSpPr>
        <p:spPr>
          <a:xfrm>
            <a:off x="3317327" y="3648549"/>
            <a:ext cx="3316956" cy="3042274"/>
          </a:xfrm>
          <a:prstGeom prst="flowChartAlternateProcess">
            <a:avLst/>
          </a:prstGeom>
          <a:solidFill>
            <a:schemeClr val="bg1"/>
          </a:solidFill>
          <a:ln w="38100">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pic>
        <p:nvPicPr>
          <p:cNvPr id="55" name="Picture 54" descr="A cardboard box with metal parts&#10;&#10;AI-generated content may be incorrect.">
            <a:extLst>
              <a:ext uri="{FF2B5EF4-FFF2-40B4-BE49-F238E27FC236}">
                <a16:creationId xmlns:a16="http://schemas.microsoft.com/office/drawing/2014/main" id="{25A5DEE1-C1FB-40A4-1B99-F4516C66C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3836999" y="3580375"/>
            <a:ext cx="1223871" cy="1888934"/>
          </a:xfrm>
          <a:prstGeom prst="rect">
            <a:avLst/>
          </a:prstGeom>
        </p:spPr>
      </p:pic>
      <p:pic>
        <p:nvPicPr>
          <p:cNvPr id="56" name="Picture 55" descr="A metal parts and a measuring tape&#10;&#10;AI-generated content may be incorrect.">
            <a:extLst>
              <a:ext uri="{FF2B5EF4-FFF2-40B4-BE49-F238E27FC236}">
                <a16:creationId xmlns:a16="http://schemas.microsoft.com/office/drawing/2014/main" id="{C410F3ED-88A0-1809-7EB4-4B75A543C9A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200000">
            <a:off x="3834757" y="4911703"/>
            <a:ext cx="1223872" cy="1888934"/>
          </a:xfrm>
          <a:prstGeom prst="rect">
            <a:avLst/>
          </a:prstGeom>
        </p:spPr>
      </p:pic>
      <p:sp>
        <p:nvSpPr>
          <p:cNvPr id="58" name="TextBox 57">
            <a:extLst>
              <a:ext uri="{FF2B5EF4-FFF2-40B4-BE49-F238E27FC236}">
                <a16:creationId xmlns:a16="http://schemas.microsoft.com/office/drawing/2014/main" id="{BE43C735-7C73-F765-1A37-AD752D8DA18A}"/>
              </a:ext>
            </a:extLst>
          </p:cNvPr>
          <p:cNvSpPr txBox="1"/>
          <p:nvPr/>
        </p:nvSpPr>
        <p:spPr>
          <a:xfrm>
            <a:off x="5435736" y="4559999"/>
            <a:ext cx="1059742" cy="127727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kumimoji="0" lang="en-US" sz="1100" b="0" i="1" u="none" strike="noStrike" kern="1200" cap="none" spc="0" normalizeH="0" baseline="0" noProof="0" dirty="0">
                <a:ln>
                  <a:noFill/>
                </a:ln>
                <a:solidFill>
                  <a:schemeClr val="tx1"/>
                </a:solidFill>
                <a:effectLst/>
                <a:uLnTx/>
                <a:uFillTx/>
                <a:latin typeface="Times New Roman" panose="02020603050405020304" pitchFamily="18" charset="0"/>
                <a:ea typeface="DengXian" panose="02010600030101010101" pitchFamily="2" charset="-122"/>
                <a:cs typeface="Times New Roman" panose="02020603050405020304" pitchFamily="18" charset="0"/>
              </a:rPr>
              <a:t>Check the parts of the old cylinder after disassembly and the new cylinder before installation</a:t>
            </a:r>
          </a:p>
        </p:txBody>
      </p:sp>
      <p:sp>
        <p:nvSpPr>
          <p:cNvPr id="61" name="Flowchart: Alternative Process 60">
            <a:extLst>
              <a:ext uri="{FF2B5EF4-FFF2-40B4-BE49-F238E27FC236}">
                <a16:creationId xmlns:a16="http://schemas.microsoft.com/office/drawing/2014/main" id="{26152A27-7551-8BD0-5632-C9A5E27FFC97}"/>
              </a:ext>
            </a:extLst>
          </p:cNvPr>
          <p:cNvSpPr/>
          <p:nvPr/>
        </p:nvSpPr>
        <p:spPr>
          <a:xfrm>
            <a:off x="6919879" y="3648549"/>
            <a:ext cx="4877986" cy="3069030"/>
          </a:xfrm>
          <a:prstGeom prst="flowChartAlternateProcess">
            <a:avLst/>
          </a:prstGeom>
          <a:solidFill>
            <a:schemeClr val="bg1"/>
          </a:solidFill>
          <a:ln w="38100">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pic>
        <p:nvPicPr>
          <p:cNvPr id="62" name="Picture 61" descr="A machine in a factory&#10;&#10;AI-generated content may be incorrect.">
            <a:extLst>
              <a:ext uri="{FF2B5EF4-FFF2-40B4-BE49-F238E27FC236}">
                <a16:creationId xmlns:a16="http://schemas.microsoft.com/office/drawing/2014/main" id="{74177A22-F73D-C2AA-1278-4E450AE093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37495" y="3937909"/>
            <a:ext cx="2961406" cy="2490310"/>
          </a:xfrm>
          <a:prstGeom prst="rect">
            <a:avLst/>
          </a:prstGeom>
        </p:spPr>
      </p:pic>
      <p:sp>
        <p:nvSpPr>
          <p:cNvPr id="64" name="Arrow: Left 63">
            <a:extLst>
              <a:ext uri="{FF2B5EF4-FFF2-40B4-BE49-F238E27FC236}">
                <a16:creationId xmlns:a16="http://schemas.microsoft.com/office/drawing/2014/main" id="{6FE2C05A-F99A-D2B0-DD0B-D9B4ADA4C66C}"/>
              </a:ext>
            </a:extLst>
          </p:cNvPr>
          <p:cNvSpPr/>
          <p:nvPr/>
        </p:nvSpPr>
        <p:spPr>
          <a:xfrm rot="10800000">
            <a:off x="7786549" y="4717318"/>
            <a:ext cx="923808" cy="184811"/>
          </a:xfrm>
          <a:prstGeom prst="leftArrow">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sp>
        <p:nvSpPr>
          <p:cNvPr id="67" name="TextBox 66">
            <a:extLst>
              <a:ext uri="{FF2B5EF4-FFF2-40B4-BE49-F238E27FC236}">
                <a16:creationId xmlns:a16="http://schemas.microsoft.com/office/drawing/2014/main" id="{0ED74FC3-90B0-62DC-6281-136946E87EA4}"/>
              </a:ext>
            </a:extLst>
          </p:cNvPr>
          <p:cNvSpPr txBox="1"/>
          <p:nvPr/>
        </p:nvSpPr>
        <p:spPr>
          <a:xfrm>
            <a:off x="10201414" y="4121235"/>
            <a:ext cx="1293093" cy="212365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1100" i="1" dirty="0">
                <a:solidFill>
                  <a:prstClr val="black"/>
                </a:solidFill>
                <a:latin typeface="Times New Roman" panose="02020603050405020304" pitchFamily="18" charset="0"/>
                <a:ea typeface="新細明體" panose="02020500000000000000" pitchFamily="18" charset="-120"/>
                <a:cs typeface="Times New Roman" panose="02020603050405020304" pitchFamily="18" charset="0"/>
              </a:rPr>
              <a:t>Leveling cylinder stroke: Manually test the cylinder stroke. If friction or jamming occurs, loosen the bolts and realign for smooth operation. After proper alignment, tighten the bolts and perform a trial run</a:t>
            </a:r>
            <a:endParaRPr kumimoji="0" lang="en-US" sz="1100" b="0" i="1"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68" name="Arrow: Left 67">
            <a:extLst>
              <a:ext uri="{FF2B5EF4-FFF2-40B4-BE49-F238E27FC236}">
                <a16:creationId xmlns:a16="http://schemas.microsoft.com/office/drawing/2014/main" id="{9442059E-2982-32CA-FEA8-A801DAE4AB06}"/>
              </a:ext>
            </a:extLst>
          </p:cNvPr>
          <p:cNvSpPr/>
          <p:nvPr/>
        </p:nvSpPr>
        <p:spPr>
          <a:xfrm>
            <a:off x="7786549" y="5263045"/>
            <a:ext cx="923808" cy="184811"/>
          </a:xfrm>
          <a:prstGeom prst="leftArrow">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sp>
        <p:nvSpPr>
          <p:cNvPr id="69" name="Arrow: Notched Right 68">
            <a:extLst>
              <a:ext uri="{FF2B5EF4-FFF2-40B4-BE49-F238E27FC236}">
                <a16:creationId xmlns:a16="http://schemas.microsoft.com/office/drawing/2014/main" id="{D1EA9488-BC5D-7A52-BCAB-793E10A642DC}"/>
              </a:ext>
            </a:extLst>
          </p:cNvPr>
          <p:cNvSpPr/>
          <p:nvPr/>
        </p:nvSpPr>
        <p:spPr>
          <a:xfrm>
            <a:off x="3778213" y="2394636"/>
            <a:ext cx="424661" cy="204012"/>
          </a:xfrm>
          <a:prstGeom prst="notchedRightArrow">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69825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8AC40-EB88-336E-7C79-335E3B8611D0}"/>
            </a:ext>
          </a:extLst>
        </p:cNvPr>
        <p:cNvGrpSpPr/>
        <p:nvPr/>
      </p:nvGrpSpPr>
      <p:grpSpPr>
        <a:xfrm>
          <a:off x="0" y="0"/>
          <a:ext cx="0" cy="0"/>
          <a:chOff x="0" y="0"/>
          <a:chExt cx="0" cy="0"/>
        </a:xfrm>
      </p:grpSpPr>
      <p:grpSp>
        <p:nvGrpSpPr>
          <p:cNvPr id="3" name="群組 2">
            <a:extLst>
              <a:ext uri="{FF2B5EF4-FFF2-40B4-BE49-F238E27FC236}">
                <a16:creationId xmlns:a16="http://schemas.microsoft.com/office/drawing/2014/main" id="{21AF07A1-A614-4A32-1047-A11B0DE5B6DF}"/>
              </a:ext>
            </a:extLst>
          </p:cNvPr>
          <p:cNvGrpSpPr/>
          <p:nvPr/>
        </p:nvGrpSpPr>
        <p:grpSpPr>
          <a:xfrm>
            <a:off x="11145334" y="6021230"/>
            <a:ext cx="1058632" cy="775686"/>
            <a:chOff x="1633100" y="4132365"/>
            <a:chExt cx="419208" cy="307164"/>
          </a:xfrm>
        </p:grpSpPr>
        <p:sp>
          <p:nvSpPr>
            <p:cNvPr id="4" name="Oval 21">
              <a:extLst>
                <a:ext uri="{FF2B5EF4-FFF2-40B4-BE49-F238E27FC236}">
                  <a16:creationId xmlns:a16="http://schemas.microsoft.com/office/drawing/2014/main" id="{20D2B2AE-8C09-99F1-D701-D3ABC4EEFAE7}"/>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6" name="群組 5">
              <a:extLst>
                <a:ext uri="{FF2B5EF4-FFF2-40B4-BE49-F238E27FC236}">
                  <a16:creationId xmlns:a16="http://schemas.microsoft.com/office/drawing/2014/main" id="{9CF5DA9F-6812-D73D-266F-4E067D92C51B}"/>
                </a:ext>
              </a:extLst>
            </p:cNvPr>
            <p:cNvGrpSpPr/>
            <p:nvPr/>
          </p:nvGrpSpPr>
          <p:grpSpPr>
            <a:xfrm>
              <a:off x="1727685" y="4270681"/>
              <a:ext cx="324623" cy="168848"/>
              <a:chOff x="2114400" y="4249726"/>
              <a:chExt cx="324623" cy="168848"/>
            </a:xfrm>
          </p:grpSpPr>
          <p:sp>
            <p:nvSpPr>
              <p:cNvPr id="7" name="文字方塊 6">
                <a:extLst>
                  <a:ext uri="{FF2B5EF4-FFF2-40B4-BE49-F238E27FC236}">
                    <a16:creationId xmlns:a16="http://schemas.microsoft.com/office/drawing/2014/main" id="{82DCFDDF-37F4-7BEF-4375-810C6DB92D93}"/>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8" name="文字方塊 7">
                <a:extLst>
                  <a:ext uri="{FF2B5EF4-FFF2-40B4-BE49-F238E27FC236}">
                    <a16:creationId xmlns:a16="http://schemas.microsoft.com/office/drawing/2014/main" id="{C683ABCE-D903-0758-3DF8-BF60678F8C0B}"/>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aphicFrame>
        <p:nvGraphicFramePr>
          <p:cNvPr id="5" name="表格 4">
            <a:extLst>
              <a:ext uri="{FF2B5EF4-FFF2-40B4-BE49-F238E27FC236}">
                <a16:creationId xmlns:a16="http://schemas.microsoft.com/office/drawing/2014/main" id="{2452EDA3-6F86-8511-9D06-A874AED1E8E9}"/>
              </a:ext>
            </a:extLst>
          </p:cNvPr>
          <p:cNvGraphicFramePr>
            <a:graphicFrameLocks noGrp="1"/>
          </p:cNvGraphicFramePr>
          <p:nvPr>
            <p:extLst>
              <p:ext uri="{D42A27DB-BD31-4B8C-83A1-F6EECF244321}">
                <p14:modId xmlns:p14="http://schemas.microsoft.com/office/powerpoint/2010/main" val="157164519"/>
              </p:ext>
            </p:extLst>
          </p:nvPr>
        </p:nvGraphicFramePr>
        <p:xfrm>
          <a:off x="195262" y="1147085"/>
          <a:ext cx="11801476" cy="532891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311576">
                  <a:extLst>
                    <a:ext uri="{9D8B030D-6E8A-4147-A177-3AD203B41FA5}">
                      <a16:colId xmlns:a16="http://schemas.microsoft.com/office/drawing/2014/main" val="3861677689"/>
                    </a:ext>
                  </a:extLst>
                </a:gridCol>
                <a:gridCol w="2283290">
                  <a:extLst>
                    <a:ext uri="{9D8B030D-6E8A-4147-A177-3AD203B41FA5}">
                      <a16:colId xmlns:a16="http://schemas.microsoft.com/office/drawing/2014/main" val="1269423716"/>
                    </a:ext>
                  </a:extLst>
                </a:gridCol>
                <a:gridCol w="7206610">
                  <a:extLst>
                    <a:ext uri="{9D8B030D-6E8A-4147-A177-3AD203B41FA5}">
                      <a16:colId xmlns:a16="http://schemas.microsoft.com/office/drawing/2014/main" val="1578931625"/>
                    </a:ext>
                  </a:extLst>
                </a:gridCol>
              </a:tblGrid>
              <a:tr h="578484">
                <a:tc>
                  <a:txBody>
                    <a:bodyPr/>
                    <a:lstStyle/>
                    <a:p>
                      <a:pPr algn="ctr"/>
                      <a:r>
                        <a:rPr lang="en-US" altLang="zh-TW" sz="2000" dirty="0">
                          <a:latin typeface="微軟正黑體" panose="020B0604030504040204" pitchFamily="34" charset="-120"/>
                          <a:ea typeface="微軟正黑體" panose="020B0604030504040204" pitchFamily="34" charset="-120"/>
                        </a:rPr>
                        <a:t>2025</a:t>
                      </a:r>
                      <a:r>
                        <a:rPr lang="zh-TW" altLang="en-US" sz="2000" dirty="0">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Q3</a:t>
                      </a:r>
                      <a:r>
                        <a:rPr lang="zh-TW" altLang="en-US" sz="2000" dirty="0">
                          <a:latin typeface="微軟正黑體" panose="020B0604030504040204" pitchFamily="34" charset="-120"/>
                          <a:ea typeface="微軟正黑體" panose="020B0604030504040204" pitchFamily="34" charset="-120"/>
                        </a:rPr>
                        <a:t>工作及自我發展計畫</a:t>
                      </a:r>
                    </a:p>
                  </a:txBody>
                  <a:tcPr anchor="ctr">
                    <a:solidFill>
                      <a:srgbClr val="BA996E">
                        <a:alpha val="70000"/>
                      </a:srgbClr>
                    </a:solidFill>
                  </a:tcPr>
                </a:tc>
                <a:tc>
                  <a:txBody>
                    <a:bodyPr/>
                    <a:lstStyle/>
                    <a:p>
                      <a:pPr algn="ctr"/>
                      <a:r>
                        <a:rPr lang="zh-TW" altLang="en-US" sz="2000" dirty="0">
                          <a:latin typeface="微軟正黑體" panose="020B0604030504040204" pitchFamily="34" charset="-120"/>
                          <a:ea typeface="微軟正黑體" panose="020B0604030504040204" pitchFamily="34" charset="-120"/>
                        </a:rPr>
                        <a:t>達成率</a:t>
                      </a:r>
                    </a:p>
                  </a:txBody>
                  <a:tcPr anchor="ctr">
                    <a:solidFill>
                      <a:srgbClr val="BA996E">
                        <a:alpha val="70000"/>
                      </a:srgbClr>
                    </a:solidFill>
                  </a:tcPr>
                </a:tc>
                <a:tc>
                  <a:txBody>
                    <a:bodyPr/>
                    <a:lstStyle/>
                    <a:p>
                      <a:pPr algn="ctr"/>
                      <a:r>
                        <a:rPr lang="zh-TW" altLang="en-US" sz="2000" dirty="0">
                          <a:latin typeface="微軟正黑體" panose="020B0604030504040204" pitchFamily="34" charset="-120"/>
                          <a:ea typeface="微軟正黑體" panose="020B0604030504040204" pitchFamily="34" charset="-120"/>
                        </a:rPr>
                        <a:t>未達</a:t>
                      </a:r>
                      <a:r>
                        <a:rPr lang="en-US" altLang="zh-TW" sz="2000" dirty="0">
                          <a:latin typeface="微軟正黑體" panose="020B0604030504040204" pitchFamily="34" charset="-120"/>
                          <a:ea typeface="微軟正黑體" panose="020B0604030504040204" pitchFamily="34" charset="-120"/>
                        </a:rPr>
                        <a:t>90%</a:t>
                      </a:r>
                      <a:r>
                        <a:rPr lang="zh-TW" altLang="en-US" sz="2000" dirty="0">
                          <a:latin typeface="微軟正黑體" panose="020B0604030504040204" pitchFamily="34" charset="-120"/>
                          <a:ea typeface="微軟正黑體" panose="020B0604030504040204" pitchFamily="34" charset="-120"/>
                        </a:rPr>
                        <a:t>以上請寫原因說明及補完計畫</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主管要抽測</a:t>
                      </a:r>
                      <a:r>
                        <a:rPr lang="en-US" altLang="zh-TW" sz="2000" dirty="0">
                          <a:latin typeface="微軟正黑體" panose="020B0604030504040204" pitchFamily="34" charset="-120"/>
                          <a:ea typeface="微軟正黑體" panose="020B0604030504040204" pitchFamily="34" charset="-120"/>
                        </a:rPr>
                        <a:t>, </a:t>
                      </a:r>
                      <a:r>
                        <a:rPr lang="zh-TW" altLang="en-US" sz="2000" dirty="0">
                          <a:latin typeface="微軟正黑體" panose="020B0604030504040204" pitchFamily="34" charset="-120"/>
                          <a:ea typeface="微軟正黑體" panose="020B0604030504040204" pitchFamily="34" charset="-120"/>
                        </a:rPr>
                        <a:t>請勿亂寫</a:t>
                      </a:r>
                      <a:r>
                        <a:rPr lang="en-US"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a:txBody>
                  <a:tcPr anchor="ctr">
                    <a:solidFill>
                      <a:srgbClr val="BA996E">
                        <a:alpha val="70000"/>
                      </a:srgbClr>
                    </a:solidFill>
                  </a:tcPr>
                </a:tc>
                <a:extLst>
                  <a:ext uri="{0D108BD9-81ED-4DB2-BD59-A6C34878D82A}">
                    <a16:rowId xmlns:a16="http://schemas.microsoft.com/office/drawing/2014/main" val="266302271"/>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426463552"/>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977970917"/>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4092448663"/>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38032022"/>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965768060"/>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1061757831"/>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236067214"/>
                  </a:ext>
                </a:extLst>
              </a:tr>
              <a:tr h="578484">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676521946"/>
                  </a:ext>
                </a:extLst>
              </a:tr>
            </a:tbl>
          </a:graphicData>
        </a:graphic>
      </p:graphicFrame>
      <p:grpSp>
        <p:nvGrpSpPr>
          <p:cNvPr id="43" name="群組 42">
            <a:extLst>
              <a:ext uri="{FF2B5EF4-FFF2-40B4-BE49-F238E27FC236}">
                <a16:creationId xmlns:a16="http://schemas.microsoft.com/office/drawing/2014/main" id="{D08B3026-FC58-3EBA-1097-199AFEA35AFB}"/>
              </a:ext>
            </a:extLst>
          </p:cNvPr>
          <p:cNvGrpSpPr/>
          <p:nvPr/>
        </p:nvGrpSpPr>
        <p:grpSpPr>
          <a:xfrm>
            <a:off x="195262" y="178409"/>
            <a:ext cx="11801476" cy="588751"/>
            <a:chOff x="195262" y="163202"/>
            <a:chExt cx="11801476" cy="588751"/>
          </a:xfrm>
        </p:grpSpPr>
        <p:sp>
          <p:nvSpPr>
            <p:cNvPr id="44" name="矩形: 圓角 43">
              <a:extLst>
                <a:ext uri="{FF2B5EF4-FFF2-40B4-BE49-F238E27FC236}">
                  <a16:creationId xmlns:a16="http://schemas.microsoft.com/office/drawing/2014/main" id="{22C07996-C0F5-351D-35F1-34C297084CAC}"/>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45" name="群組 44">
              <a:extLst>
                <a:ext uri="{FF2B5EF4-FFF2-40B4-BE49-F238E27FC236}">
                  <a16:creationId xmlns:a16="http://schemas.microsoft.com/office/drawing/2014/main" id="{4BBD2854-1603-187A-C922-DF4106140DB8}"/>
                </a:ext>
              </a:extLst>
            </p:cNvPr>
            <p:cNvGrpSpPr/>
            <p:nvPr/>
          </p:nvGrpSpPr>
          <p:grpSpPr>
            <a:xfrm>
              <a:off x="600729" y="163202"/>
              <a:ext cx="1038687" cy="588751"/>
              <a:chOff x="1782913" y="2529000"/>
              <a:chExt cx="3121572" cy="1800001"/>
            </a:xfrm>
          </p:grpSpPr>
          <p:sp>
            <p:nvSpPr>
              <p:cNvPr id="48" name="圆角矩形 15">
                <a:extLst>
                  <a:ext uri="{FF2B5EF4-FFF2-40B4-BE49-F238E27FC236}">
                    <a16:creationId xmlns:a16="http://schemas.microsoft.com/office/drawing/2014/main" id="{7ACA31C9-71D0-9A39-8098-2A944E93EE3B}"/>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49" name="圆角矩形 16">
                <a:extLst>
                  <a:ext uri="{FF2B5EF4-FFF2-40B4-BE49-F238E27FC236}">
                    <a16:creationId xmlns:a16="http://schemas.microsoft.com/office/drawing/2014/main" id="{485483A0-CFED-B508-6A22-7C9C4770D477}"/>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50" name="圖片 49" descr="一張含有 文字, 輪子, 美工圖案, 齒輪 的圖片&#10;&#10;自動產生的描述">
                <a:extLst>
                  <a:ext uri="{FF2B5EF4-FFF2-40B4-BE49-F238E27FC236}">
                    <a16:creationId xmlns:a16="http://schemas.microsoft.com/office/drawing/2014/main" id="{BC4F7128-A604-DE6A-8A12-F024F005C9B9}"/>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51" name="矩形 50">
                <a:extLst>
                  <a:ext uri="{FF2B5EF4-FFF2-40B4-BE49-F238E27FC236}">
                    <a16:creationId xmlns:a16="http://schemas.microsoft.com/office/drawing/2014/main" id="{32A753EB-F610-F4D6-52F6-64EC7ACEAC8C}"/>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46" name="文字方塊 45">
              <a:extLst>
                <a:ext uri="{FF2B5EF4-FFF2-40B4-BE49-F238E27FC236}">
                  <a16:creationId xmlns:a16="http://schemas.microsoft.com/office/drawing/2014/main" id="{63D96DF1-28D8-F4AD-5287-7F680B63FE2F}"/>
                </a:ext>
              </a:extLst>
            </p:cNvPr>
            <p:cNvSpPr txBox="1"/>
            <p:nvPr/>
          </p:nvSpPr>
          <p:spPr>
            <a:xfrm>
              <a:off x="1604962" y="196222"/>
              <a:ext cx="6272946" cy="52322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en-US" altLang="zh-TW" sz="2800" dirty="0">
                  <a:solidFill>
                    <a:schemeClr val="bg1"/>
                  </a:solidFill>
                  <a:latin typeface="微軟正黑體" panose="020B0604030504040204" pitchFamily="34" charset="-120"/>
                  <a:ea typeface="微軟正黑體" panose="020B0604030504040204" pitchFamily="34" charset="-120"/>
                  <a:sym typeface="+mn-ea"/>
                </a:rPr>
                <a:t>2025</a:t>
              </a:r>
              <a:r>
                <a:rPr lang="zh-TW" altLang="en-US" sz="2800" dirty="0">
                  <a:solidFill>
                    <a:schemeClr val="bg1"/>
                  </a:solidFill>
                  <a:latin typeface="微軟正黑體" panose="020B0604030504040204" pitchFamily="34" charset="-120"/>
                  <a:ea typeface="微軟正黑體" panose="020B0604030504040204" pitchFamily="34" charset="-120"/>
                  <a:sym typeface="+mn-ea"/>
                </a:rPr>
                <a:t> </a:t>
              </a:r>
              <a:r>
                <a:rPr lang="en-US" altLang="zh-TW" sz="2800" dirty="0">
                  <a:solidFill>
                    <a:schemeClr val="bg1"/>
                  </a:solidFill>
                  <a:latin typeface="微軟正黑體" panose="020B0604030504040204" pitchFamily="34" charset="-120"/>
                  <a:ea typeface="微軟正黑體" panose="020B0604030504040204" pitchFamily="34" charset="-120"/>
                  <a:sym typeface="+mn-ea"/>
                </a:rPr>
                <a:t>Q3</a:t>
              </a:r>
              <a:r>
                <a:rPr lang="zh-TW" altLang="en-US" sz="2800" dirty="0">
                  <a:solidFill>
                    <a:schemeClr val="bg1"/>
                  </a:solidFill>
                  <a:latin typeface="微軟正黑體" panose="020B0604030504040204" pitchFamily="34" charset="-120"/>
                  <a:ea typeface="微軟正黑體" panose="020B0604030504040204" pitchFamily="34" charset="-120"/>
                  <a:sym typeface="+mn-ea"/>
                </a:rPr>
                <a:t>工作及自我發展計畫達成率</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sp>
        <p:nvSpPr>
          <p:cNvPr id="2" name="文字方塊 1">
            <a:extLst>
              <a:ext uri="{FF2B5EF4-FFF2-40B4-BE49-F238E27FC236}">
                <a16:creationId xmlns:a16="http://schemas.microsoft.com/office/drawing/2014/main" id="{0085E2F4-1537-1585-F989-4A887175C15C}"/>
              </a:ext>
            </a:extLst>
          </p:cNvPr>
          <p:cNvSpPr txBox="1"/>
          <p:nvPr/>
        </p:nvSpPr>
        <p:spPr>
          <a:xfrm>
            <a:off x="1907933" y="3811541"/>
            <a:ext cx="8546548" cy="1754326"/>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TW" sz="1800" dirty="0">
                <a:solidFill>
                  <a:schemeClr val="tx1"/>
                </a:solidFill>
                <a:latin typeface="微軟正黑體" panose="020B0604030504040204" pitchFamily="34" charset="-120"/>
                <a:ea typeface="微軟正黑體" panose="020B0604030504040204" pitchFamily="34" charset="-120"/>
                <a:sym typeface="+mn-ea"/>
              </a:rPr>
              <a:t>2025</a:t>
            </a:r>
            <a:r>
              <a:rPr lang="zh-TW" altLang="en-US" sz="1800" dirty="0">
                <a:solidFill>
                  <a:schemeClr val="tx1"/>
                </a:solidFill>
                <a:latin typeface="微軟正黑體" panose="020B0604030504040204" pitchFamily="34" charset="-120"/>
                <a:ea typeface="微軟正黑體" panose="020B0604030504040204" pitchFamily="34" charset="-120"/>
                <a:sym typeface="+mn-ea"/>
              </a:rPr>
              <a:t> </a:t>
            </a:r>
            <a:r>
              <a:rPr lang="en-US" altLang="zh-TW" sz="1800" dirty="0">
                <a:solidFill>
                  <a:schemeClr val="tx1"/>
                </a:solidFill>
                <a:latin typeface="微軟正黑體" panose="020B0604030504040204" pitchFamily="34" charset="-120"/>
                <a:ea typeface="微軟正黑體" panose="020B0604030504040204" pitchFamily="34" charset="-120"/>
                <a:sym typeface="+mn-ea"/>
              </a:rPr>
              <a:t>Q3</a:t>
            </a:r>
            <a:r>
              <a:rPr lang="zh-TW" altLang="en-US" sz="1800" dirty="0">
                <a:solidFill>
                  <a:schemeClr val="tx1"/>
                </a:solidFill>
                <a:latin typeface="微軟正黑體" panose="020B0604030504040204" pitchFamily="34" charset="-120"/>
                <a:ea typeface="微軟正黑體" panose="020B0604030504040204" pitchFamily="34" charset="-120"/>
                <a:sym typeface="+mn-ea"/>
              </a:rPr>
              <a:t>自我發展計畫</a:t>
            </a:r>
            <a:r>
              <a:rPr lang="zh-TW" altLang="en-US" dirty="0">
                <a:solidFill>
                  <a:schemeClr val="tx1"/>
                </a:solidFill>
                <a:latin typeface="微軟正黑體" panose="020B0604030504040204" pitchFamily="34" charset="-120"/>
                <a:ea typeface="微軟正黑體" panose="020B0604030504040204" pitchFamily="34" charset="-120"/>
                <a:sym typeface="+mn-ea"/>
              </a:rPr>
              <a:t>達成率</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dirty="0">
                <a:solidFill>
                  <a:srgbClr val="FF0000"/>
                </a:solidFill>
                <a:latin typeface="微軟正黑體" panose="020B0604030504040204" pitchFamily="34" charset="-120"/>
                <a:ea typeface="微軟正黑體" panose="020B0604030504040204" pitchFamily="34" charset="-120"/>
                <a:sym typeface="+mn-ea"/>
              </a:rPr>
              <a:t>未達</a:t>
            </a:r>
            <a:r>
              <a:rPr lang="en-US" altLang="zh-TW" dirty="0">
                <a:solidFill>
                  <a:srgbClr val="FF0000"/>
                </a:solidFill>
                <a:latin typeface="微軟正黑體" panose="020B0604030504040204" pitchFamily="34" charset="-120"/>
                <a:ea typeface="微軟正黑體" panose="020B0604030504040204" pitchFamily="34" charset="-120"/>
                <a:sym typeface="+mn-ea"/>
              </a:rPr>
              <a:t>90%</a:t>
            </a:r>
            <a:r>
              <a:rPr lang="zh-TW" altLang="en-US" dirty="0">
                <a:solidFill>
                  <a:srgbClr val="FF0000"/>
                </a:solidFill>
                <a:latin typeface="微軟正黑體" panose="020B0604030504040204" pitchFamily="34" charset="-120"/>
                <a:ea typeface="微軟正黑體" panose="020B0604030504040204" pitchFamily="34" charset="-120"/>
                <a:sym typeface="+mn-ea"/>
              </a:rPr>
              <a:t>請寫原因及補完計畫</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文員含助理選填</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專案要寫</a:t>
            </a:r>
            <a:r>
              <a:rPr lang="en-US" altLang="zh-TW" dirty="0">
                <a:solidFill>
                  <a:srgbClr val="FF0000"/>
                </a:solidFill>
                <a:latin typeface="微軟正黑體" panose="020B0604030504040204" pitchFamily="34" charset="-120"/>
                <a:ea typeface="微軟正黑體" panose="020B0604030504040204" pitchFamily="34" charset="-120"/>
                <a:sym typeface="+mn-ea"/>
              </a:rPr>
              <a:t>), </a:t>
            </a:r>
            <a:r>
              <a:rPr lang="zh-TW" altLang="en-US" dirty="0">
                <a:solidFill>
                  <a:srgbClr val="FF0000"/>
                </a:solidFill>
                <a:latin typeface="微軟正黑體" panose="020B0604030504040204" pitchFamily="34" charset="-120"/>
                <a:ea typeface="微軟正黑體" panose="020B0604030504040204" pitchFamily="34" charset="-120"/>
                <a:sym typeface="+mn-ea"/>
              </a:rPr>
              <a:t>全項都</a:t>
            </a:r>
            <a:r>
              <a:rPr lang="en-US" altLang="zh-TW" dirty="0">
                <a:solidFill>
                  <a:srgbClr val="FF0000"/>
                </a:solidFill>
                <a:latin typeface="微軟正黑體" panose="020B0604030504040204" pitchFamily="34" charset="-120"/>
                <a:ea typeface="微軟正黑體" panose="020B0604030504040204" pitchFamily="34" charset="-120"/>
                <a:sym typeface="+mn-ea"/>
              </a:rPr>
              <a:t>100%</a:t>
            </a:r>
            <a:r>
              <a:rPr lang="zh-TW" altLang="en-US" dirty="0">
                <a:solidFill>
                  <a:srgbClr val="FF0000"/>
                </a:solidFill>
                <a:latin typeface="微軟正黑體" panose="020B0604030504040204" pitchFamily="34" charset="-120"/>
                <a:ea typeface="微軟正黑體" panose="020B0604030504040204" pitchFamily="34" charset="-120"/>
                <a:sym typeface="+mn-ea"/>
              </a:rPr>
              <a:t>達成率的我會喊來考試</a:t>
            </a:r>
            <a:r>
              <a:rPr lang="en-US" altLang="zh-TW" dirty="0">
                <a:solidFill>
                  <a:srgbClr val="FF0000"/>
                </a:solidFill>
                <a:latin typeface="微軟正黑體" panose="020B0604030504040204" pitchFamily="34" charset="-120"/>
                <a:ea typeface="微軟正黑體" panose="020B0604030504040204" pitchFamily="34" charset="-120"/>
                <a:sym typeface="+mn-ea"/>
              </a:rPr>
              <a:t>.</a:t>
            </a:r>
          </a:p>
          <a:p>
            <a:r>
              <a:rPr lang="en-US" altLang="zh-TW" dirty="0">
                <a:solidFill>
                  <a:schemeClr val="tx1"/>
                </a:solidFill>
              </a:rPr>
              <a:t>2025</a:t>
            </a:r>
            <a:r>
              <a:rPr lang="zh-TW" altLang="en-US" dirty="0">
                <a:solidFill>
                  <a:schemeClr val="tx1"/>
                </a:solidFill>
              </a:rPr>
              <a:t> </a:t>
            </a:r>
            <a:r>
              <a:rPr lang="vi-VN" altLang="zh-TW" dirty="0">
                <a:solidFill>
                  <a:schemeClr val="tx1"/>
                </a:solidFill>
              </a:rPr>
              <a:t>Q</a:t>
            </a:r>
            <a:r>
              <a:rPr lang="en-US" altLang="zh-TW" dirty="0">
                <a:solidFill>
                  <a:schemeClr val="tx1"/>
                </a:solidFill>
              </a:rPr>
              <a:t>3</a:t>
            </a:r>
            <a:r>
              <a:rPr lang="vi-VN" altLang="zh-TW" dirty="0">
                <a:solidFill>
                  <a:schemeClr val="tx1"/>
                </a:solidFill>
              </a:rPr>
              <a:t> Tỷ lệ hoàn thành kế hoạch phát triển bản thân. </a:t>
            </a:r>
            <a:r>
              <a:rPr lang="vi-VN" altLang="zh-TW" dirty="0">
                <a:solidFill>
                  <a:srgbClr val="FF0000"/>
                </a:solidFill>
              </a:rPr>
              <a:t>Nếu tỷ lệ hoàn thành dưới 90%, vui lòng nêu rõ lý do và kế hoạch theo dõi. Điều này là tùy chọn đối với nhân viên văn phòng và trợ lý (bắt buộc phải có APM). Andy sẽ làm bài kiểm tra nếu tất cả các mục được hoàn thành 100%.</a:t>
            </a:r>
            <a:endParaRPr lang="zh-TW" altLang="en-US" dirty="0">
              <a:solidFill>
                <a:srgbClr val="FF0000"/>
              </a:solidFill>
            </a:endParaRPr>
          </a:p>
        </p:txBody>
      </p:sp>
    </p:spTree>
    <p:extLst>
      <p:ext uri="{BB962C8B-B14F-4D97-AF65-F5344CB8AC3E}">
        <p14:creationId xmlns:p14="http://schemas.microsoft.com/office/powerpoint/2010/main" val="179450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B22DC-41D9-9039-1E50-1DCC667B97F8}"/>
            </a:ext>
          </a:extLst>
        </p:cNvPr>
        <p:cNvGrpSpPr/>
        <p:nvPr/>
      </p:nvGrpSpPr>
      <p:grpSpPr>
        <a:xfrm>
          <a:off x="0" y="0"/>
          <a:ext cx="0" cy="0"/>
          <a:chOff x="0" y="0"/>
          <a:chExt cx="0" cy="0"/>
        </a:xfrm>
      </p:grpSpPr>
      <p:grpSp>
        <p:nvGrpSpPr>
          <p:cNvPr id="19" name="群組 18">
            <a:extLst>
              <a:ext uri="{FF2B5EF4-FFF2-40B4-BE49-F238E27FC236}">
                <a16:creationId xmlns:a16="http://schemas.microsoft.com/office/drawing/2014/main" id="{0428501F-31AB-0DD5-93DE-5E7D2BFF6F7B}"/>
              </a:ext>
            </a:extLst>
          </p:cNvPr>
          <p:cNvGrpSpPr/>
          <p:nvPr/>
        </p:nvGrpSpPr>
        <p:grpSpPr>
          <a:xfrm>
            <a:off x="11145334" y="6021230"/>
            <a:ext cx="1058632" cy="775686"/>
            <a:chOff x="1633100" y="4132365"/>
            <a:chExt cx="419208" cy="307164"/>
          </a:xfrm>
        </p:grpSpPr>
        <p:sp>
          <p:nvSpPr>
            <p:cNvPr id="20" name="Oval 21">
              <a:extLst>
                <a:ext uri="{FF2B5EF4-FFF2-40B4-BE49-F238E27FC236}">
                  <a16:creationId xmlns:a16="http://schemas.microsoft.com/office/drawing/2014/main" id="{A9881145-5EAD-7464-9FEB-B3DCD1046003}"/>
                </a:ext>
              </a:extLst>
            </p:cNvPr>
            <p:cNvSpPr/>
            <p:nvPr/>
          </p:nvSpPr>
          <p:spPr>
            <a:xfrm rot="20111049">
              <a:off x="1633100" y="4132365"/>
              <a:ext cx="301450" cy="25450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w="3175">
              <a:solidFill>
                <a:schemeClr val="bg2">
                  <a:lumMod val="75000"/>
                </a:schemeClr>
              </a:solidFill>
            </a:ln>
            <a:effectLst>
              <a:outerShdw blurRad="50800" dist="38100" dir="8100000" sx="97000" sy="97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bg1"/>
                </a:solidFill>
              </a:endParaRPr>
            </a:p>
          </p:txBody>
        </p:sp>
        <p:grpSp>
          <p:nvGrpSpPr>
            <p:cNvPr id="21" name="群組 20">
              <a:extLst>
                <a:ext uri="{FF2B5EF4-FFF2-40B4-BE49-F238E27FC236}">
                  <a16:creationId xmlns:a16="http://schemas.microsoft.com/office/drawing/2014/main" id="{B3D96D5F-05B0-311A-4C20-757990B84251}"/>
                </a:ext>
              </a:extLst>
            </p:cNvPr>
            <p:cNvGrpSpPr/>
            <p:nvPr/>
          </p:nvGrpSpPr>
          <p:grpSpPr>
            <a:xfrm>
              <a:off x="1727685" y="4270681"/>
              <a:ext cx="324623" cy="168848"/>
              <a:chOff x="2114400" y="4249726"/>
              <a:chExt cx="324623" cy="168848"/>
            </a:xfrm>
          </p:grpSpPr>
          <p:sp>
            <p:nvSpPr>
              <p:cNvPr id="22" name="文字方塊 21">
                <a:extLst>
                  <a:ext uri="{FF2B5EF4-FFF2-40B4-BE49-F238E27FC236}">
                    <a16:creationId xmlns:a16="http://schemas.microsoft.com/office/drawing/2014/main" id="{7374A306-13D2-599F-6839-42540F4C4012}"/>
                  </a:ext>
                </a:extLst>
              </p:cNvPr>
              <p:cNvSpPr txBox="1"/>
              <p:nvPr/>
            </p:nvSpPr>
            <p:spPr>
              <a:xfrm>
                <a:off x="2114400" y="4249726"/>
                <a:ext cx="280467" cy="146252"/>
              </a:xfrm>
              <a:prstGeom prst="rect">
                <a:avLst/>
              </a:prstGeom>
              <a:noFill/>
            </p:spPr>
            <p:txBody>
              <a:bodyPr wrap="square" rtlCol="0">
                <a:spAutoFit/>
              </a:bodyPr>
              <a:lstStyle/>
              <a:p>
                <a:r>
                  <a:rPr lang="en-US" altLang="zh-TW"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rPr>
                  <a:t>FME</a:t>
                </a:r>
                <a:endParaRPr lang="zh-TW" altLang="en-US" b="1" dirty="0">
                  <a:ln w="3175">
                    <a:solidFill>
                      <a:schemeClr val="bg2">
                        <a:lumMod val="50000"/>
                      </a:schemeClr>
                    </a:solidFill>
                  </a:ln>
                  <a:solidFill>
                    <a:schemeClr val="bg1"/>
                  </a:solidFill>
                  <a:effectLst>
                    <a:innerShdw blurRad="63500" dist="50800" dir="18900000">
                      <a:prstClr val="black">
                        <a:alpha val="50000"/>
                      </a:prstClr>
                    </a:innerShdw>
                  </a:effectLst>
                  <a:latin typeface="Amasis MT Pro Black" panose="020F0502020204030204" pitchFamily="18" charset="0"/>
                  <a:cs typeface="Arial" panose="020B0604020202020204" pitchFamily="34" charset="0"/>
                </a:endParaRPr>
              </a:p>
            </p:txBody>
          </p:sp>
          <p:sp>
            <p:nvSpPr>
              <p:cNvPr id="23" name="文字方塊 22">
                <a:extLst>
                  <a:ext uri="{FF2B5EF4-FFF2-40B4-BE49-F238E27FC236}">
                    <a16:creationId xmlns:a16="http://schemas.microsoft.com/office/drawing/2014/main" id="{C53B6089-68C3-C7E1-E768-FA5D4836C129}"/>
                  </a:ext>
                </a:extLst>
              </p:cNvPr>
              <p:cNvSpPr txBox="1"/>
              <p:nvPr/>
            </p:nvSpPr>
            <p:spPr>
              <a:xfrm>
                <a:off x="2131213" y="4333260"/>
                <a:ext cx="307810" cy="85314"/>
              </a:xfrm>
              <a:prstGeom prst="rect">
                <a:avLst/>
              </a:prstGeom>
              <a:noFill/>
            </p:spPr>
            <p:txBody>
              <a:bodyPr wrap="square" rtlCol="0">
                <a:spAutoFit/>
              </a:bodyPr>
              <a:lstStyle/>
              <a:p>
                <a:r>
                  <a:rPr lang="en-US" altLang="zh-TW"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BG6</a:t>
                </a:r>
                <a:r>
                  <a:rPr lang="zh-TW" altLang="en-US" sz="800" b="1" dirty="0">
                    <a:ln w="3175">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 </a:t>
                </a:r>
                <a:r>
                  <a:rPr lang="en-US" altLang="zh-TW"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rPr>
                  <a:t>PVN</a:t>
                </a:r>
                <a:endParaRPr lang="zh-TW" altLang="en-US" sz="800" b="1" dirty="0">
                  <a:ln w="0">
                    <a:noFill/>
                  </a:ln>
                  <a:solidFill>
                    <a:schemeClr val="bg1"/>
                  </a:solidFill>
                  <a:effectLst>
                    <a:innerShdw blurRad="63500" dist="50800" dir="18900000">
                      <a:prstClr val="black">
                        <a:alpha val="50000"/>
                      </a:prstClr>
                    </a:innerShdw>
                  </a:effectLst>
                  <a:latin typeface="Arial" panose="020B0604020202020204" pitchFamily="34" charset="0"/>
                  <a:cs typeface="Arial" panose="020B0604020202020204" pitchFamily="34" charset="0"/>
                </a:endParaRPr>
              </a:p>
            </p:txBody>
          </p:sp>
        </p:grpSp>
      </p:grpSp>
      <p:grpSp>
        <p:nvGrpSpPr>
          <p:cNvPr id="9" name="群組 8">
            <a:extLst>
              <a:ext uri="{FF2B5EF4-FFF2-40B4-BE49-F238E27FC236}">
                <a16:creationId xmlns:a16="http://schemas.microsoft.com/office/drawing/2014/main" id="{9D36CF88-B0B1-AEDD-CCE7-2DB039E7DE48}"/>
              </a:ext>
            </a:extLst>
          </p:cNvPr>
          <p:cNvGrpSpPr/>
          <p:nvPr/>
        </p:nvGrpSpPr>
        <p:grpSpPr>
          <a:xfrm>
            <a:off x="195262" y="178409"/>
            <a:ext cx="11801476" cy="588751"/>
            <a:chOff x="195262" y="163202"/>
            <a:chExt cx="11801476" cy="588751"/>
          </a:xfrm>
        </p:grpSpPr>
        <p:sp>
          <p:nvSpPr>
            <p:cNvPr id="10" name="矩形: 圓角 9">
              <a:extLst>
                <a:ext uri="{FF2B5EF4-FFF2-40B4-BE49-F238E27FC236}">
                  <a16:creationId xmlns:a16="http://schemas.microsoft.com/office/drawing/2014/main" id="{03390BDD-9B72-9F37-E922-D9100757E467}"/>
                </a:ext>
              </a:extLst>
            </p:cNvPr>
            <p:cNvSpPr/>
            <p:nvPr/>
          </p:nvSpPr>
          <p:spPr>
            <a:xfrm>
              <a:off x="195262" y="247970"/>
              <a:ext cx="11801476" cy="419217"/>
            </a:xfrm>
            <a:prstGeom prst="roundRect">
              <a:avLst>
                <a:gd name="adj" fmla="val 40804"/>
              </a:avLst>
            </a:prstGeom>
            <a:gradFill flip="none" rotWithShape="1">
              <a:gsLst>
                <a:gs pos="0">
                  <a:schemeClr val="bg1">
                    <a:lumMod val="95000"/>
                  </a:schemeClr>
                </a:gs>
                <a:gs pos="18000">
                  <a:schemeClr val="tx1">
                    <a:lumMod val="50000"/>
                    <a:lumOff val="50000"/>
                  </a:schemeClr>
                </a:gs>
                <a:gs pos="83000">
                  <a:schemeClr val="tx1">
                    <a:lumMod val="75000"/>
                    <a:lumOff val="25000"/>
                  </a:schemeClr>
                </a:gs>
                <a:gs pos="100000">
                  <a:schemeClr val="tx1">
                    <a:lumMod val="75000"/>
                    <a:lumOff val="25000"/>
                  </a:schemeClr>
                </a:gs>
              </a:gsLst>
              <a:lin ang="0" scaled="1"/>
              <a:tileRect/>
            </a:gra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grpSp>
          <p:nvGrpSpPr>
            <p:cNvPr id="11" name="群組 10">
              <a:extLst>
                <a:ext uri="{FF2B5EF4-FFF2-40B4-BE49-F238E27FC236}">
                  <a16:creationId xmlns:a16="http://schemas.microsoft.com/office/drawing/2014/main" id="{44951AEC-5F2B-0185-C8AD-C0C05C088C0F}"/>
                </a:ext>
              </a:extLst>
            </p:cNvPr>
            <p:cNvGrpSpPr/>
            <p:nvPr/>
          </p:nvGrpSpPr>
          <p:grpSpPr>
            <a:xfrm>
              <a:off x="600729" y="163202"/>
              <a:ext cx="1038687" cy="588751"/>
              <a:chOff x="1782913" y="2529000"/>
              <a:chExt cx="3121572" cy="1800001"/>
            </a:xfrm>
          </p:grpSpPr>
          <p:sp>
            <p:nvSpPr>
              <p:cNvPr id="13" name="圆角矩形 15">
                <a:extLst>
                  <a:ext uri="{FF2B5EF4-FFF2-40B4-BE49-F238E27FC236}">
                    <a16:creationId xmlns:a16="http://schemas.microsoft.com/office/drawing/2014/main" id="{CF7C8B5F-9966-9D3E-0393-58969A95E0E9}"/>
                  </a:ext>
                </a:extLst>
              </p:cNvPr>
              <p:cNvSpPr/>
              <p:nvPr/>
            </p:nvSpPr>
            <p:spPr>
              <a:xfrm rot="2700000">
                <a:off x="1857839" y="2529000"/>
                <a:ext cx="1800000" cy="1800001"/>
              </a:xfrm>
              <a:prstGeom prst="roundRect">
                <a:avLst/>
              </a:prstGeom>
              <a:solidFill>
                <a:srgbClr val="34B2E4"/>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sp>
            <p:nvSpPr>
              <p:cNvPr id="14" name="圆角矩形 16">
                <a:extLst>
                  <a:ext uri="{FF2B5EF4-FFF2-40B4-BE49-F238E27FC236}">
                    <a16:creationId xmlns:a16="http://schemas.microsoft.com/office/drawing/2014/main" id="{6F4CC479-26D5-ACBA-DD0A-33933707F842}"/>
                  </a:ext>
                </a:extLst>
              </p:cNvPr>
              <p:cNvSpPr/>
              <p:nvPr/>
            </p:nvSpPr>
            <p:spPr>
              <a:xfrm rot="2700000">
                <a:off x="1782913" y="2529000"/>
                <a:ext cx="1800000" cy="1800000"/>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ea"/>
                  <a:sym typeface="+mn-lt"/>
                </a:endParaRPr>
              </a:p>
            </p:txBody>
          </p:sp>
          <p:pic>
            <p:nvPicPr>
              <p:cNvPr id="15" name="圖片 14" descr="一張含有 文字, 輪子, 美工圖案, 齒輪 的圖片&#10;&#10;自動產生的描述">
                <a:extLst>
                  <a:ext uri="{FF2B5EF4-FFF2-40B4-BE49-F238E27FC236}">
                    <a16:creationId xmlns:a16="http://schemas.microsoft.com/office/drawing/2014/main" id="{CE63274E-24D9-99BB-E77C-8928F98DBB67}"/>
                  </a:ext>
                </a:extLst>
              </p:cNvPr>
              <p:cNvPicPr>
                <a:picLocks noChangeAspect="1"/>
              </p:cNvPicPr>
              <p:nvPr/>
            </p:nvPicPr>
            <p:blipFill rotWithShape="1">
              <a:blip r:embed="rId2" cstate="print">
                <a:grayscl/>
                <a:extLst>
                  <a:ext uri="{28A0092B-C50C-407E-A947-70E740481C1C}">
                    <a14:useLocalDpi xmlns:a14="http://schemas.microsoft.com/office/drawing/2010/main" val="0"/>
                  </a:ext>
                </a:extLst>
              </a:blip>
              <a:srcRect l="73898"/>
              <a:stretch>
                <a:fillRect/>
              </a:stretch>
            </p:blipFill>
            <p:spPr>
              <a:xfrm rot="5400000">
                <a:off x="3709805" y="2875160"/>
                <a:ext cx="1281680" cy="1107681"/>
              </a:xfrm>
              <a:prstGeom prst="rect">
                <a:avLst/>
              </a:prstGeom>
              <a:noFill/>
              <a:ln>
                <a:noFill/>
              </a:ln>
            </p:spPr>
          </p:pic>
          <p:sp>
            <p:nvSpPr>
              <p:cNvPr id="16" name="矩形 15">
                <a:extLst>
                  <a:ext uri="{FF2B5EF4-FFF2-40B4-BE49-F238E27FC236}">
                    <a16:creationId xmlns:a16="http://schemas.microsoft.com/office/drawing/2014/main" id="{CA60C1F1-782A-F0A6-F805-F04B8E6DE854}"/>
                  </a:ext>
                </a:extLst>
              </p:cNvPr>
              <p:cNvSpPr/>
              <p:nvPr/>
            </p:nvSpPr>
            <p:spPr>
              <a:xfrm>
                <a:off x="1831379" y="2819459"/>
                <a:ext cx="1703069" cy="13375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rPr>
                  <a:t>BG6</a:t>
                </a:r>
              </a:p>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100" b="1" dirty="0">
                    <a:solidFill>
                      <a:srgbClr val="A4A4A4"/>
                    </a:solidFill>
                    <a:latin typeface="DengXian" panose="02010600030101010101" pitchFamily="2" charset="-122"/>
                    <a:ea typeface="DengXian" panose="02010600030101010101" pitchFamily="2" charset="-122"/>
                  </a:rPr>
                  <a:t>PVN</a:t>
                </a:r>
                <a:endParaRPr kumimoji="0" lang="en-US" altLang="zh-TW" sz="1100" b="1" i="0" u="none" strike="noStrike" kern="1200" cap="none" spc="0" normalizeH="0" baseline="0" noProof="0" dirty="0">
                  <a:ln>
                    <a:noFill/>
                  </a:ln>
                  <a:solidFill>
                    <a:srgbClr val="A4A4A4"/>
                  </a:solidFill>
                  <a:effectLst/>
                  <a:uLnTx/>
                  <a:uFillTx/>
                  <a:latin typeface="DengXian" panose="02010600030101010101" pitchFamily="2" charset="-122"/>
                  <a:ea typeface="DengXian" panose="02010600030101010101" pitchFamily="2" charset="-122"/>
                </a:endParaRPr>
              </a:p>
            </p:txBody>
          </p:sp>
        </p:grpSp>
        <p:sp>
          <p:nvSpPr>
            <p:cNvPr id="12" name="文字方塊 11">
              <a:extLst>
                <a:ext uri="{FF2B5EF4-FFF2-40B4-BE49-F238E27FC236}">
                  <a16:creationId xmlns:a16="http://schemas.microsoft.com/office/drawing/2014/main" id="{4DBF3AE9-E665-42AB-D033-8DC0E2173BAE}"/>
                </a:ext>
              </a:extLst>
            </p:cNvPr>
            <p:cNvSpPr txBox="1"/>
            <p:nvPr/>
          </p:nvSpPr>
          <p:spPr>
            <a:xfrm>
              <a:off x="1604962" y="196222"/>
              <a:ext cx="5431155" cy="521970"/>
            </a:xfrm>
            <a:prstGeom prst="rect">
              <a:avLst/>
            </a:prstGeom>
            <a:noFill/>
          </p:spPr>
          <p:txBody>
            <a:bodyPr wrap="square" rtlCol="0">
              <a:spAutoFit/>
            </a:bodyPr>
            <a:lstStyle>
              <a:defPPr>
                <a:defRPr lang="zh-TW"/>
              </a:defPPr>
              <a:lvl1pPr defTabSz="837565">
                <a:defRPr sz="3200" b="1">
                  <a:solidFill>
                    <a:srgbClr val="2E9CC8"/>
                  </a:solidFill>
                  <a:latin typeface="DengXian" panose="02010600030101010101" pitchFamily="2" charset="-122"/>
                  <a:ea typeface="DengXian" panose="02010600030101010101" pitchFamily="2" charset="-122"/>
                </a:defRPr>
              </a:lvl1pPr>
            </a:lstStyle>
            <a:p>
              <a:r>
                <a:rPr lang="zh-TW" altLang="en-US" sz="2800" dirty="0">
                  <a:solidFill>
                    <a:schemeClr val="bg1"/>
                  </a:solidFill>
                  <a:latin typeface="微軟正黑體" panose="020B0604030504040204" pitchFamily="34" charset="-120"/>
                  <a:ea typeface="微軟正黑體" panose="020B0604030504040204" pitchFamily="34" charset="-120"/>
                  <a:sym typeface="+mn-ea"/>
                </a:rPr>
                <a:t>工作及自我發展計畫</a:t>
              </a:r>
              <a:endParaRPr lang="en-US" altLang="zh-TW" sz="2800" dirty="0">
                <a:solidFill>
                  <a:schemeClr val="bg1"/>
                </a:solidFill>
                <a:latin typeface="微軟正黑體" panose="020B0604030504040204" pitchFamily="34" charset="-120"/>
                <a:ea typeface="微軟正黑體" panose="020B0604030504040204" pitchFamily="34" charset="-120"/>
                <a:sym typeface="+mn-ea"/>
              </a:endParaRPr>
            </a:p>
          </p:txBody>
        </p:sp>
      </p:grpSp>
      <p:graphicFrame>
        <p:nvGraphicFramePr>
          <p:cNvPr id="17" name="表格 16">
            <a:extLst>
              <a:ext uri="{FF2B5EF4-FFF2-40B4-BE49-F238E27FC236}">
                <a16:creationId xmlns:a16="http://schemas.microsoft.com/office/drawing/2014/main" id="{568DE87F-4023-97E8-BB9F-ED4DA1338CCA}"/>
              </a:ext>
            </a:extLst>
          </p:cNvPr>
          <p:cNvGraphicFramePr>
            <a:graphicFrameLocks noGrp="1"/>
          </p:cNvGraphicFramePr>
          <p:nvPr>
            <p:extLst>
              <p:ext uri="{D42A27DB-BD31-4B8C-83A1-F6EECF244321}">
                <p14:modId xmlns:p14="http://schemas.microsoft.com/office/powerpoint/2010/main" val="3064243895"/>
              </p:ext>
            </p:extLst>
          </p:nvPr>
        </p:nvGraphicFramePr>
        <p:xfrm>
          <a:off x="616856" y="1103004"/>
          <a:ext cx="11077303" cy="5206356"/>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2903630">
                  <a:extLst>
                    <a:ext uri="{9D8B030D-6E8A-4147-A177-3AD203B41FA5}">
                      <a16:colId xmlns:a16="http://schemas.microsoft.com/office/drawing/2014/main" val="3546184672"/>
                    </a:ext>
                  </a:extLst>
                </a:gridCol>
                <a:gridCol w="8173673">
                  <a:extLst>
                    <a:ext uri="{9D8B030D-6E8A-4147-A177-3AD203B41FA5}">
                      <a16:colId xmlns:a16="http://schemas.microsoft.com/office/drawing/2014/main" val="3861677689"/>
                    </a:ext>
                  </a:extLst>
                </a:gridCol>
              </a:tblGrid>
              <a:tr h="578484">
                <a:tc>
                  <a:txBody>
                    <a:bodyPr/>
                    <a:lstStyle/>
                    <a:p>
                      <a:pPr algn="l"/>
                      <a:r>
                        <a:rPr lang="zh-TW" altLang="en-US" sz="2000" dirty="0">
                          <a:latin typeface="微軟正黑體" panose="020B0604030504040204" pitchFamily="34" charset="-120"/>
                          <a:ea typeface="微軟正黑體" panose="020B0604030504040204" pitchFamily="34" charset="-120"/>
                        </a:rPr>
                        <a:t>時間</a:t>
                      </a:r>
                    </a:p>
                  </a:txBody>
                  <a:tcPr anchor="ctr">
                    <a:solidFill>
                      <a:srgbClr val="BA996E">
                        <a:alpha val="70000"/>
                      </a:srgbClr>
                    </a:solidFill>
                  </a:tcPr>
                </a:tc>
                <a:tc>
                  <a:txBody>
                    <a:bodyPr/>
                    <a:lstStyle/>
                    <a:p>
                      <a:pPr algn="l"/>
                      <a:r>
                        <a:rPr lang="zh-TW" altLang="en-US" sz="2000" dirty="0">
                          <a:latin typeface="微軟正黑體" panose="020B0604030504040204" pitchFamily="34" charset="-120"/>
                          <a:ea typeface="微軟正黑體" panose="020B0604030504040204" pitchFamily="34" charset="-120"/>
                        </a:rPr>
                        <a:t>工作及自我發展計畫</a:t>
                      </a:r>
                    </a:p>
                  </a:txBody>
                  <a:tcPr anchor="ctr">
                    <a:solidFill>
                      <a:srgbClr val="BA996E">
                        <a:alpha val="70000"/>
                      </a:srgbClr>
                    </a:solidFill>
                  </a:tcPr>
                </a:tc>
                <a:extLst>
                  <a:ext uri="{0D108BD9-81ED-4DB2-BD59-A6C34878D82A}">
                    <a16:rowId xmlns:a16="http://schemas.microsoft.com/office/drawing/2014/main" val="266302271"/>
                  </a:ext>
                </a:extLst>
              </a:tr>
              <a:tr h="578484">
                <a:tc rowSpan="8">
                  <a:txBody>
                    <a:bodyPr/>
                    <a:lstStyle/>
                    <a:p>
                      <a:pPr algn="ctr"/>
                      <a:r>
                        <a:rPr lang="en-US" altLang="zh-TW" sz="1800" dirty="0">
                          <a:latin typeface="Arial" panose="020B0604020202020204" pitchFamily="34" charset="0"/>
                          <a:cs typeface="Arial" panose="020B0604020202020204" pitchFamily="34" charset="0"/>
                        </a:rPr>
                        <a:t>2026</a:t>
                      </a:r>
                      <a:r>
                        <a:rPr lang="zh-TW" altLang="en-US" sz="1800" dirty="0">
                          <a:latin typeface="Arial" panose="020B0604020202020204" pitchFamily="34" charset="0"/>
                          <a:cs typeface="Arial" panose="020B0604020202020204" pitchFamily="34" charset="0"/>
                        </a:rPr>
                        <a:t> </a:t>
                      </a:r>
                      <a:r>
                        <a:rPr lang="en-US" altLang="zh-TW" sz="1800" dirty="0">
                          <a:latin typeface="Arial" panose="020B0604020202020204" pitchFamily="34" charset="0"/>
                          <a:cs typeface="Arial" panose="020B0604020202020204" pitchFamily="34" charset="0"/>
                        </a:rPr>
                        <a:t>Q2~</a:t>
                      </a:r>
                      <a:endParaRPr lang="zh-TW" altLang="en-US" sz="1800" dirty="0">
                        <a:latin typeface="Arial" panose="020B0604020202020204" pitchFamily="34" charset="0"/>
                        <a:cs typeface="Arial" panose="020B0604020202020204" pitchFamily="34" charset="0"/>
                      </a:endParaRPr>
                    </a:p>
                  </a:txBody>
                  <a:tcPr anchor="ct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426463552"/>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977970917"/>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4092448663"/>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338032022"/>
                  </a:ext>
                </a:extLst>
              </a:tr>
              <a:tr h="578484">
                <a:tc vMerge="1">
                  <a:txBody>
                    <a:bodyPr/>
                    <a:lstStyle/>
                    <a:p>
                      <a:pPr algn="ctr"/>
                      <a:endParaRPr lang="zh-TW" altLang="en-US" sz="1800" dirty="0">
                        <a:latin typeface="Arial" panose="020B0604020202020204" pitchFamily="34" charset="0"/>
                        <a:cs typeface="Arial" panose="020B0604020202020204" pitchFamily="34" charset="0"/>
                      </a:endParaRPr>
                    </a:p>
                  </a:txBody>
                  <a:tcPr anchor="ct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965768060"/>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1061757831"/>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lumMod val="85000"/>
                        <a:alpha val="70000"/>
                      </a:schemeClr>
                    </a:solidFill>
                  </a:tcPr>
                </a:tc>
                <a:extLst>
                  <a:ext uri="{0D108BD9-81ED-4DB2-BD59-A6C34878D82A}">
                    <a16:rowId xmlns:a16="http://schemas.microsoft.com/office/drawing/2014/main" val="2236067214"/>
                  </a:ext>
                </a:extLst>
              </a:tr>
              <a:tr h="578484">
                <a:tc vMerge="1">
                  <a:txBody>
                    <a:bodyPr/>
                    <a:lstStyle/>
                    <a:p>
                      <a:pPr algn="ctr"/>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tc>
                  <a:txBody>
                    <a:bodyPr/>
                    <a:lstStyle/>
                    <a:p>
                      <a:pPr algn="l"/>
                      <a:endParaRPr lang="zh-TW" altLang="en-US" sz="1400" dirty="0">
                        <a:latin typeface="Arial" panose="020B0604020202020204" pitchFamily="34" charset="0"/>
                        <a:cs typeface="Arial" panose="020B0604020202020204" pitchFamily="34" charset="0"/>
                      </a:endParaRPr>
                    </a:p>
                  </a:txBody>
                  <a:tcPr>
                    <a:solidFill>
                      <a:schemeClr val="bg1">
                        <a:alpha val="70000"/>
                      </a:schemeClr>
                    </a:solidFill>
                  </a:tcPr>
                </a:tc>
                <a:extLst>
                  <a:ext uri="{0D108BD9-81ED-4DB2-BD59-A6C34878D82A}">
                    <a16:rowId xmlns:a16="http://schemas.microsoft.com/office/drawing/2014/main" val="676521946"/>
                  </a:ext>
                </a:extLst>
              </a:tr>
            </a:tbl>
          </a:graphicData>
        </a:graphic>
      </p:graphicFrame>
      <p:sp>
        <p:nvSpPr>
          <p:cNvPr id="18" name="文字方塊 17">
            <a:extLst>
              <a:ext uri="{FF2B5EF4-FFF2-40B4-BE49-F238E27FC236}">
                <a16:creationId xmlns:a16="http://schemas.microsoft.com/office/drawing/2014/main" id="{26B6EA7F-0814-A59C-B805-9096175D2963}"/>
              </a:ext>
            </a:extLst>
          </p:cNvPr>
          <p:cNvSpPr txBox="1"/>
          <p:nvPr/>
        </p:nvSpPr>
        <p:spPr>
          <a:xfrm>
            <a:off x="2817144" y="3618259"/>
            <a:ext cx="8041178" cy="1754326"/>
          </a:xfrm>
          <a:prstGeom prst="rect">
            <a:avLst/>
          </a:prstGeom>
          <a:solidFill>
            <a:schemeClr val="lt1"/>
          </a:solidFill>
          <a:ln w="3175" cap="flat" cmpd="sng" algn="ctr">
            <a:solidFill>
              <a:schemeClr val="bg1">
                <a:lumMod val="50000"/>
              </a:schemeClr>
            </a:solid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TW" altLang="en-US" sz="1800" dirty="0">
                <a:solidFill>
                  <a:schemeClr val="tx1"/>
                </a:solidFill>
                <a:latin typeface="微軟正黑體" panose="020B0604030504040204" pitchFamily="34" charset="-120"/>
                <a:ea typeface="微軟正黑體" panose="020B0604030504040204" pitchFamily="34" charset="-120"/>
                <a:sym typeface="+mn-ea"/>
              </a:rPr>
              <a:t>自我發展計畫至少寫</a:t>
            </a:r>
            <a:r>
              <a:rPr lang="en-US" altLang="zh-TW" dirty="0">
                <a:solidFill>
                  <a:schemeClr val="tx1"/>
                </a:solidFill>
                <a:latin typeface="微軟正黑體" panose="020B0604030504040204" pitchFamily="34" charset="-120"/>
                <a:ea typeface="微軟正黑體" panose="020B0604030504040204" pitchFamily="34" charset="-120"/>
                <a:sym typeface="+mn-ea"/>
              </a:rPr>
              <a:t>3</a:t>
            </a:r>
            <a:r>
              <a:rPr lang="zh-TW" altLang="en-US" sz="1800" dirty="0">
                <a:solidFill>
                  <a:schemeClr val="tx1"/>
                </a:solidFill>
                <a:latin typeface="微軟正黑體" panose="020B0604030504040204" pitchFamily="34" charset="-120"/>
                <a:ea typeface="微軟正黑體" panose="020B0604030504040204" pitchFamily="34" charset="-120"/>
                <a:sym typeface="+mn-ea"/>
              </a:rPr>
              <a:t>項</a:t>
            </a:r>
            <a:r>
              <a:rPr lang="en-US" altLang="zh-TW" sz="1800" dirty="0">
                <a:solidFill>
                  <a:schemeClr val="tx1"/>
                </a:solidFill>
                <a:latin typeface="微軟正黑體" panose="020B0604030504040204" pitchFamily="34" charset="-120"/>
                <a:ea typeface="微軟正黑體" panose="020B0604030504040204" pitchFamily="34" charset="-120"/>
                <a:sym typeface="+mn-ea"/>
              </a:rPr>
              <a:t>, </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課長請加入寫報告的能力</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課級以上必修</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b="1" dirty="0">
                <a:solidFill>
                  <a:schemeClr val="tx1"/>
                </a:solidFill>
                <a:latin typeface="微軟正黑體" panose="020B0604030504040204" pitchFamily="34" charset="-120"/>
                <a:ea typeface="微軟正黑體" panose="020B0604030504040204" pitchFamily="34" charset="-120"/>
                <a:sym typeface="+mn-ea"/>
              </a:rPr>
              <a:t>處長要求</a:t>
            </a:r>
            <a:r>
              <a:rPr lang="en-US" altLang="zh-TW" sz="1800" b="1" dirty="0">
                <a:solidFill>
                  <a:schemeClr val="tx1"/>
                </a:solidFill>
                <a:latin typeface="微軟正黑體" panose="020B0604030504040204" pitchFamily="34" charset="-120"/>
                <a:ea typeface="微軟正黑體" panose="020B0604030504040204" pitchFamily="34" charset="-120"/>
                <a:sym typeface="+mn-ea"/>
              </a:rPr>
              <a:t>)</a:t>
            </a:r>
            <a:r>
              <a:rPr lang="zh-TW" altLang="en-US" sz="1800" dirty="0">
                <a:solidFill>
                  <a:srgbClr val="FF0000"/>
                </a:solidFill>
                <a:latin typeface="微軟正黑體" panose="020B0604030504040204" pitchFamily="34" charset="-120"/>
                <a:ea typeface="微軟正黑體" panose="020B0604030504040204" pitchFamily="34" charset="-120"/>
                <a:sym typeface="+mn-ea"/>
              </a:rPr>
              <a:t>文員含助理不要求</a:t>
            </a:r>
            <a:r>
              <a:rPr lang="en-US" altLang="zh-TW" dirty="0">
                <a:solidFill>
                  <a:srgbClr val="FF0000"/>
                </a:solidFill>
                <a:latin typeface="微軟正黑體" panose="020B0604030504040204" pitchFamily="34" charset="-120"/>
                <a:ea typeface="微軟正黑體" panose="020B0604030504040204" pitchFamily="34" charset="-120"/>
                <a:sym typeface="+mn-ea"/>
              </a:rPr>
              <a:t>(</a:t>
            </a:r>
            <a:r>
              <a:rPr lang="zh-TW" altLang="en-US" dirty="0">
                <a:solidFill>
                  <a:srgbClr val="FF0000"/>
                </a:solidFill>
                <a:latin typeface="微軟正黑體" panose="020B0604030504040204" pitchFamily="34" charset="-120"/>
                <a:ea typeface="微軟正黑體" panose="020B0604030504040204" pitchFamily="34" charset="-120"/>
                <a:sym typeface="+mn-ea"/>
              </a:rPr>
              <a:t>專案要寫</a:t>
            </a:r>
            <a:r>
              <a:rPr lang="en-US" altLang="zh-TW" dirty="0">
                <a:solidFill>
                  <a:srgbClr val="FF0000"/>
                </a:solidFill>
                <a:latin typeface="微軟正黑體" panose="020B0604030504040204" pitchFamily="34" charset="-120"/>
                <a:ea typeface="微軟正黑體" panose="020B0604030504040204" pitchFamily="34" charset="-120"/>
                <a:sym typeface="+mn-ea"/>
              </a:rPr>
              <a:t>)</a:t>
            </a:r>
          </a:p>
          <a:p>
            <a:r>
              <a:rPr lang="vi-VN" altLang="zh-TW" dirty="0">
                <a:solidFill>
                  <a:schemeClr val="tx1"/>
                </a:solidFill>
              </a:rPr>
              <a:t>Kế hoạch phát triển bản thân của bạn nên bao gồm ít nhất 3 mục. Trưởng phòng cũng nên bổ sung kỹ năng viết báo cáo (bắt buộc đối với cấp phòng trở lên, theo yêu cầu của ông K.S.). </a:t>
            </a:r>
            <a:r>
              <a:rPr lang="vi-VN" altLang="zh-TW" dirty="0">
                <a:solidFill>
                  <a:srgbClr val="FF0000"/>
                </a:solidFill>
              </a:rPr>
              <a:t>Không cần thư ký và trợ lý (APM cần phải viết)</a:t>
            </a:r>
            <a:endParaRPr lang="zh-TW" altLang="en-US" dirty="0">
              <a:solidFill>
                <a:srgbClr val="FF0000"/>
              </a:solidFill>
            </a:endParaRPr>
          </a:p>
        </p:txBody>
      </p:sp>
    </p:spTree>
    <p:extLst>
      <p:ext uri="{BB962C8B-B14F-4D97-AF65-F5344CB8AC3E}">
        <p14:creationId xmlns:p14="http://schemas.microsoft.com/office/powerpoint/2010/main" val="1555829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44919F4-AB79-233A-6E39-5309E5C3DF01}"/>
              </a:ext>
            </a:extLst>
          </p:cNvPr>
          <p:cNvSpPr/>
          <p:nvPr/>
        </p:nvSpPr>
        <p:spPr>
          <a:xfrm>
            <a:off x="0" y="0"/>
            <a:ext cx="12192000" cy="6858000"/>
          </a:xfrm>
          <a:prstGeom prst="rect">
            <a:avLst/>
          </a:prstGeom>
          <a:blipFill dpi="0" rotWithShape="1">
            <a:blip r:embed="rId2">
              <a:alphaModFix amt="70000"/>
              <a:extLst>
                <a:ext uri="{BEBA8EAE-BF5A-486C-A8C5-ECC9F3942E4B}">
                  <a14:imgProps xmlns:a14="http://schemas.microsoft.com/office/drawing/2010/main">
                    <a14:imgLayer r:embed="rId3">
                      <a14:imgEffect>
                        <a14:artisticBlur radius="3"/>
                      </a14:imgEffect>
                      <a14:imgEffect>
                        <a14:brightnessContrast contrast="-6000"/>
                      </a14:imgEffect>
                      <a14:imgEffect>
                        <a14:colorTemperature colorTemp="6200"/>
                      </a14:imgEffect>
                    </a14:imgLayer>
                  </a14:imgProps>
                </a:ext>
                <a:ext uri="{28A0092B-C50C-407E-A947-70E740481C1C}">
                  <a14:useLocalDpi xmlns:a14="http://schemas.microsoft.com/office/drawing/2010/main" val="0"/>
                </a:ext>
              </a:extLst>
            </a:blip>
            <a:srcRect/>
            <a:stretch>
              <a:fillRect/>
            </a:stretch>
          </a:blipFill>
          <a:ln w="38100">
            <a:noFill/>
          </a:ln>
          <a:effectLst>
            <a:softEdge rad="31750"/>
          </a:effectLst>
          <a:scene3d>
            <a:camera prst="orthographicFront"/>
            <a:lightRig rig="threePt" dir="t"/>
          </a:scene3d>
          <a:sp3d contourW="57150">
            <a:contourClr>
              <a:schemeClr val="accent3">
                <a:lumMod val="5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latin typeface="微軟正黑體" panose="020B0604030504040204" pitchFamily="34" charset="-120"/>
              <a:ea typeface="微軟正黑體" panose="020B0604030504040204" pitchFamily="34" charset="-120"/>
            </a:endParaRPr>
          </a:p>
        </p:txBody>
      </p:sp>
      <p:sp>
        <p:nvSpPr>
          <p:cNvPr id="5" name="手繪多邊形: 圖案 4">
            <a:extLst>
              <a:ext uri="{FF2B5EF4-FFF2-40B4-BE49-F238E27FC236}">
                <a16:creationId xmlns:a16="http://schemas.microsoft.com/office/drawing/2014/main" id="{6155007F-1855-1E11-6F57-2582E0B8F689}"/>
              </a:ext>
            </a:extLst>
          </p:cNvPr>
          <p:cNvSpPr/>
          <p:nvPr/>
        </p:nvSpPr>
        <p:spPr>
          <a:xfrm>
            <a:off x="7351059" y="0"/>
            <a:ext cx="4840940" cy="6858000"/>
          </a:xfrm>
          <a:custGeom>
            <a:avLst/>
            <a:gdLst>
              <a:gd name="connsiteX0" fmla="*/ 4117886 w 5593080"/>
              <a:gd name="connsiteY0" fmla="*/ 0 h 6858000"/>
              <a:gd name="connsiteX1" fmla="*/ 5593080 w 5593080"/>
              <a:gd name="connsiteY1" fmla="*/ 0 h 6858000"/>
              <a:gd name="connsiteX2" fmla="*/ 5593080 w 5593080"/>
              <a:gd name="connsiteY2" fmla="*/ 6091430 h 6858000"/>
              <a:gd name="connsiteX3" fmla="*/ 5132793 w 5593080"/>
              <a:gd name="connsiteY3" fmla="*/ 6858000 h 6858000"/>
              <a:gd name="connsiteX4" fmla="*/ 0 w 559308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3080" h="6858000">
                <a:moveTo>
                  <a:pt x="4117886" y="0"/>
                </a:moveTo>
                <a:lnTo>
                  <a:pt x="5593080" y="0"/>
                </a:lnTo>
                <a:lnTo>
                  <a:pt x="5593080" y="6091430"/>
                </a:lnTo>
                <a:lnTo>
                  <a:pt x="5132793" y="6858000"/>
                </a:lnTo>
                <a:lnTo>
                  <a:pt x="0" y="6858000"/>
                </a:lnTo>
                <a:close/>
              </a:path>
            </a:pathLst>
          </a:custGeom>
          <a:blipFill>
            <a:blip r:embed="rId4">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6" name="文字方塊 5">
            <a:extLst>
              <a:ext uri="{FF2B5EF4-FFF2-40B4-BE49-F238E27FC236}">
                <a16:creationId xmlns:a16="http://schemas.microsoft.com/office/drawing/2014/main" id="{793771E5-B654-71D9-E558-5F572104EAEB}"/>
              </a:ext>
            </a:extLst>
          </p:cNvPr>
          <p:cNvSpPr txBox="1"/>
          <p:nvPr/>
        </p:nvSpPr>
        <p:spPr>
          <a:xfrm>
            <a:off x="7475369" y="5711409"/>
            <a:ext cx="4592320" cy="1015663"/>
          </a:xfrm>
          <a:prstGeom prst="rect">
            <a:avLst/>
          </a:prstGeom>
          <a:noFill/>
          <a:ln w="3175">
            <a:noFill/>
          </a:ln>
          <a:effectLst>
            <a:outerShdw blurRad="50800" dist="38100" dir="10800000" algn="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kumimoji="0" lang="en-US" altLang="zh-TW" sz="60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rPr>
              <a:t>Thank</a:t>
            </a:r>
            <a:r>
              <a:rPr kumimoji="0" lang="en-US" altLang="zh-TW" sz="54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rPr>
              <a:t> You</a:t>
            </a:r>
            <a:endParaRPr kumimoji="0" lang="zh-TW" altLang="en-US" sz="5400" b="1" i="0" u="none" strike="noStrike" kern="1200" cap="none" spc="0" normalizeH="0" baseline="0" noProof="0" dirty="0">
              <a:ln>
                <a:noFill/>
              </a:ln>
              <a:solidFill>
                <a:schemeClr val="bg1"/>
              </a:solidFill>
              <a:effectLst/>
              <a:uLnTx/>
              <a:uFillTx/>
              <a:latin typeface="Arial Black" panose="020B0A04020102020204" pitchFamily="34" charset="0"/>
              <a:ea typeface="DengXian" panose="02010600030101010101" pitchFamily="2" charset="-122"/>
            </a:endParaRPr>
          </a:p>
        </p:txBody>
      </p:sp>
    </p:spTree>
    <p:extLst>
      <p:ext uri="{BB962C8B-B14F-4D97-AF65-F5344CB8AC3E}">
        <p14:creationId xmlns:p14="http://schemas.microsoft.com/office/powerpoint/2010/main" val="66599500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w="38100">
          <a:noFill/>
        </a:ln>
      </a:spPr>
      <a:bodyPr rtlCol="0" anchor="ctr"/>
      <a:lstStyle>
        <a:defPPr>
          <a:defRPr dirty="0">
            <a:solidFill>
              <a:sysClr val="windowText" lastClr="000000"/>
            </a:solidFill>
            <a:latin typeface="微軟正黑體" panose="020B0604030504040204" pitchFamily="34" charset="-120"/>
            <a:ea typeface="微軟正黑體" panose="020B0604030504040204" pitchFamily="34" charset="-120"/>
          </a:defRPr>
        </a:defPPr>
      </a:lstStyle>
      <a:style>
        <a:lnRef idx="2">
          <a:schemeClr val="accent1">
            <a:shade val="50000"/>
          </a:schemeClr>
        </a:lnRef>
        <a:fillRef idx="1">
          <a:schemeClr val="accent1"/>
        </a:fillRef>
        <a:effectRef idx="0">
          <a:schemeClr val="accent1"/>
        </a:effectRef>
        <a:fontRef idx="minor">
          <a:schemeClr val="lt1"/>
        </a:fontRef>
      </a:style>
    </a:spDef>
    <a:txDef>
      <a:spPr>
        <a:ln w="3175">
          <a:solidFill>
            <a:schemeClr val="bg1">
              <a:lumMod val="50000"/>
            </a:schemeClr>
          </a:solidFill>
        </a:ln>
      </a:spPr>
      <a:bodyPr wrap="square" rtlCol="0">
        <a:spAutoFit/>
      </a:bodyPr>
      <a:lstStyle>
        <a:defPPr marL="0" marR="0" indent="0" algn="ctr" defTabSz="914400" rtl="0" eaLnBrk="1" fontAlgn="auto" latinLnBrk="0" hangingPunct="1">
          <a:lnSpc>
            <a:spcPct val="100000"/>
          </a:lnSpc>
          <a:spcBef>
            <a:spcPts val="0"/>
          </a:spcBef>
          <a:spcAft>
            <a:spcPts val="0"/>
          </a:spcAft>
          <a:buClrTx/>
          <a:buSzTx/>
          <a:buFontTx/>
          <a:buNone/>
          <a:defRPr kumimoji="0" sz="1400" b="0" i="0" u="none" strike="noStrike" kern="1200" cap="none" spc="0" normalizeH="0" baseline="0" noProof="0" dirty="0">
            <a:ln>
              <a:noFill/>
            </a:ln>
            <a:solidFill>
              <a:schemeClr val="bg1">
                <a:lumMod val="50000"/>
              </a:schemeClr>
            </a:solidFill>
            <a:effectLst/>
            <a:uLnTx/>
            <a:uFillTx/>
            <a:latin typeface="DengXian" panose="02010600030101010101" pitchFamily="2" charset="-122"/>
            <a:ea typeface="DengXian" panose="02010600030101010101" pitchFamily="2" charset="-122"/>
          </a:defRPr>
        </a:defPPr>
      </a:lstStyle>
      <a:style>
        <a:lnRef idx="2">
          <a:schemeClr val="accent1"/>
        </a:lnRef>
        <a:fillRef idx="1">
          <a:schemeClr val="lt1"/>
        </a:fillRef>
        <a:effectRef idx="0">
          <a:schemeClr val="accent1"/>
        </a:effectRef>
        <a:fontRef idx="minor">
          <a:schemeClr val="dk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1075</Words>
  <Application>Microsoft Office PowerPoint</Application>
  <PresentationFormat>Widescreen</PresentationFormat>
  <Paragraphs>102</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DengXian</vt:lpstr>
      <vt:lpstr>Microsoft JhengHei</vt:lpstr>
      <vt:lpstr>Amasis MT Pro Black</vt:lpstr>
      <vt:lpstr>Arial</vt:lpstr>
      <vt:lpstr>Arial Black</vt:lpstr>
      <vt:lpstr>Calibri</vt:lpstr>
      <vt:lpstr>Calibri Light</vt:lpstr>
      <vt:lpstr>Times New Roman</vt:lpstr>
      <vt:lpstr>Office 佈景主題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Andy; Andy Su(蘇孝維_PVN)</dc:creator>
  <cp:lastModifiedBy>Duong Nguyen</cp:lastModifiedBy>
  <cp:revision>747</cp:revision>
  <dcterms:created xsi:type="dcterms:W3CDTF">2021-03-09T11:56:00Z</dcterms:created>
  <dcterms:modified xsi:type="dcterms:W3CDTF">2026-03-12T17:34:29Z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y fmtid="{D5CDD505-2E9C-101B-9397-08002B2CF9AE}" pid="3" name="ContentTypeId">
    <vt:lpwstr>0x010100991A3A7B58DE6F478F051059C55FE93E</vt:lpwstr>
  </property>
</Properties>
</file>