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handoutMasterIdLst>
    <p:handoutMasterId r:id="rId12"/>
  </p:handoutMasterIdLst>
  <p:sldIdLst>
    <p:sldId id="1280" r:id="rId2"/>
    <p:sldId id="1262" r:id="rId3"/>
    <p:sldId id="1282" r:id="rId4"/>
    <p:sldId id="1284" r:id="rId5"/>
    <p:sldId id="1288" r:id="rId6"/>
    <p:sldId id="1285" r:id="rId7"/>
    <p:sldId id="1286" r:id="rId8"/>
    <p:sldId id="1287" r:id="rId9"/>
    <p:sldId id="1281" r:id="rId1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erence Yang(楊金晶_PSZ)" initials="TY"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D5CC"/>
    <a:srgbClr val="BA996E"/>
    <a:srgbClr val="F3F3F3"/>
    <a:srgbClr val="DAFFA3"/>
    <a:srgbClr val="1BBACB"/>
    <a:srgbClr val="347EB6"/>
    <a:srgbClr val="1AB0C0"/>
    <a:srgbClr val="1CC1D2"/>
    <a:srgbClr val="CEFF85"/>
    <a:srgbClr val="FFA1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8" autoAdjust="0"/>
    <p:restoredTop sz="95090" autoAdjust="0"/>
  </p:normalViewPr>
  <p:slideViewPr>
    <p:cSldViewPr snapToGrid="0">
      <p:cViewPr varScale="1">
        <p:scale>
          <a:sx n="87" d="100"/>
          <a:sy n="87" d="100"/>
        </p:scale>
        <p:origin x="29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4"/>
    </mc:Choice>
    <mc:Fallback>
      <c:style val="4"/>
    </mc:Fallback>
  </mc:AlternateContent>
  <c:chart>
    <c:title>
      <c:layout/>
      <c:overlay val="0"/>
      <c:spPr>
        <a:noFill/>
        <a:ln>
          <a:noFill/>
        </a:ln>
        <a:effectLst/>
      </c:spPr>
      <c:txPr>
        <a:bodyPr rot="0" spcFirstLastPara="1" vertOverflow="ellipsis" vert="horz" wrap="square" anchor="ctr" anchorCtr="1"/>
        <a:lstStyle/>
        <a:p>
          <a:pPr>
            <a:defRPr sz="2000" b="1" i="0" u="none" strike="noStrike" kern="1200" cap="none" spc="50" baseline="0">
              <a:solidFill>
                <a:schemeClr val="lt1">
                  <a:lumMod val="85000"/>
                </a:schemeClr>
              </a:solidFill>
              <a:latin typeface="+mn-lt"/>
              <a:ea typeface="+mn-ea"/>
              <a:cs typeface="+mn-cs"/>
            </a:defRPr>
          </a:pPr>
          <a:endParaRPr lang="en-US"/>
        </a:p>
      </c:txPr>
    </c:title>
    <c:autoTitleDeleted val="0"/>
    <c:plotArea>
      <c:layout/>
      <c:radarChart>
        <c:radarStyle val="filled"/>
        <c:varyColors val="0"/>
        <c:ser>
          <c:idx val="0"/>
          <c:order val="0"/>
          <c:tx>
            <c:strRef>
              <c:f>工作表1!$B$1</c:f>
              <c:strCache>
                <c:ptCount val="1"/>
                <c:pt idx="0">
                  <c:v>自我評價</c:v>
                </c:pt>
              </c:strCache>
            </c:strRef>
          </c:tx>
          <c:spPr>
            <a:solidFill>
              <a:schemeClr val="accent2">
                <a:alpha val="69804"/>
              </a:schemeClr>
            </a:solidFill>
            <a:ln w="9525" cap="flat" cmpd="sng" algn="ctr">
              <a:solidFill>
                <a:schemeClr val="accent2">
                  <a:alpha val="69804"/>
                </a:schemeClr>
              </a:solidFill>
              <a:miter lim="800000"/>
            </a:ln>
            <a:effectLst>
              <a:glow rad="76200">
                <a:schemeClr val="accent2">
                  <a:satMod val="175000"/>
                  <a:alpha val="34000"/>
                </a:schemeClr>
              </a:glow>
            </a:effectLst>
          </c:spPr>
          <c:cat>
            <c:strRef>
              <c:f>工作表1!$A$2:$A$7</c:f>
              <c:strCache>
                <c:ptCount val="6"/>
                <c:pt idx="0">
                  <c:v>個人能力</c:v>
                </c:pt>
                <c:pt idx="1">
                  <c:v>人際溝通能力</c:v>
                </c:pt>
                <c:pt idx="2">
                  <c:v>工作管理能力</c:v>
                </c:pt>
                <c:pt idx="3">
                  <c:v>專案管理能力</c:v>
                </c:pt>
                <c:pt idx="4">
                  <c:v>問題解決能力</c:v>
                </c:pt>
                <c:pt idx="5">
                  <c:v>領導力</c:v>
                </c:pt>
              </c:strCache>
            </c:strRef>
          </c:cat>
          <c:val>
            <c:numRef>
              <c:f>工作表1!$B$2:$B$7</c:f>
              <c:numCache>
                <c:formatCode>General</c:formatCode>
                <c:ptCount val="6"/>
                <c:pt idx="0">
                  <c:v>6</c:v>
                </c:pt>
                <c:pt idx="1">
                  <c:v>8</c:v>
                </c:pt>
                <c:pt idx="2">
                  <c:v>7</c:v>
                </c:pt>
                <c:pt idx="3">
                  <c:v>8</c:v>
                </c:pt>
                <c:pt idx="4">
                  <c:v>10</c:v>
                </c:pt>
                <c:pt idx="5">
                  <c:v>7</c:v>
                </c:pt>
              </c:numCache>
            </c:numRef>
          </c:val>
          <c:extLst>
            <c:ext xmlns:c16="http://schemas.microsoft.com/office/drawing/2014/chart" uri="{C3380CC4-5D6E-409C-BE32-E72D297353CC}">
              <c16:uniqueId val="{00000000-529D-449E-A0A1-43EC888793CF}"/>
            </c:ext>
          </c:extLst>
        </c:ser>
        <c:dLbls>
          <c:showLegendKey val="0"/>
          <c:showVal val="0"/>
          <c:showCatName val="0"/>
          <c:showSerName val="0"/>
          <c:showPercent val="0"/>
          <c:showBubbleSize val="0"/>
        </c:dLbls>
        <c:axId val="57490351"/>
        <c:axId val="1444344335"/>
      </c:radarChart>
      <c:catAx>
        <c:axId val="57490351"/>
        <c:scaling>
          <c:orientation val="minMax"/>
        </c:scaling>
        <c:delete val="0"/>
        <c:axPos val="b"/>
        <c:majorGridlines>
          <c:spPr>
            <a:ln w="9525" cap="flat" cmpd="sng" algn="ctr">
              <a:solidFill>
                <a:schemeClr val="lt1">
                  <a:alpha val="2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lt1">
                    <a:lumMod val="75000"/>
                  </a:schemeClr>
                </a:solidFill>
                <a:latin typeface="+mn-ea"/>
                <a:ea typeface="+mn-ea"/>
                <a:cs typeface="+mn-cs"/>
              </a:defRPr>
            </a:pPr>
            <a:endParaRPr lang="en-US"/>
          </a:p>
        </c:txPr>
        <c:crossAx val="1444344335"/>
        <c:crosses val="autoZero"/>
        <c:auto val="1"/>
        <c:lblAlgn val="ctr"/>
        <c:lblOffset val="100"/>
        <c:noMultiLvlLbl val="0"/>
      </c:catAx>
      <c:valAx>
        <c:axId val="1444344335"/>
        <c:scaling>
          <c:orientation val="minMax"/>
        </c:scaling>
        <c:delete val="0"/>
        <c:axPos val="l"/>
        <c:majorGridlines>
          <c:spPr>
            <a:ln w="9525" cap="flat" cmpd="sng" algn="ctr">
              <a:solidFill>
                <a:schemeClr val="lt1">
                  <a:alpha val="2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57490351"/>
        <c:crosses val="autoZero"/>
        <c:crossBetween val="between"/>
      </c:valAx>
      <c:spPr>
        <a:noFill/>
        <a:ln>
          <a:noFill/>
        </a:ln>
        <a:effectLst/>
      </c:spPr>
    </c:plotArea>
    <c:legend>
      <c:legendPos val="t"/>
      <c:layout/>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5">
  <a:schemeClr val="accent2"/>
</cs:colorStyle>
</file>

<file path=ppt/charts/style1.xml><?xml version="1.0" encoding="utf-8"?>
<cs:chartStyle xmlns:cs="http://schemas.microsoft.com/office/drawing/2012/chartStyle" xmlns:a="http://schemas.openxmlformats.org/drawingml/2006/main" id="320">
  <cs:axisTitle>
    <cs:lnRef idx="0"/>
    <cs:fillRef idx="0"/>
    <cs:effectRef idx="0"/>
    <cs:fontRef idx="minor">
      <a:schemeClr val="lt1">
        <a:lumMod val="75000"/>
      </a:schemeClr>
    </cs:fontRef>
    <cs:defRPr sz="1197" b="1" kern="1200"/>
  </cs:axisTitle>
  <cs:categoryAxis>
    <cs:lnRef idx="0"/>
    <cs:fillRef idx="0"/>
    <cs:effectRef idx="0"/>
    <cs:fontRef idx="minor">
      <a:schemeClr val="lt1">
        <a:lumMod val="75000"/>
      </a:schemeClr>
    </cs:fontRef>
    <cs:defRPr sz="1197"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1197" kern="1200"/>
  </cs:chartArea>
  <cs:dataLabel>
    <cs:lnRef idx="0"/>
    <cs:fillRef idx="0"/>
    <cs:effectRef idx="0"/>
    <cs:fontRef idx="minor">
      <a:schemeClr val="lt1">
        <a:lumMod val="75000"/>
      </a:schemeClr>
    </cs:fontRef>
    <cs:defRPr sz="1197" kern="1200"/>
  </cs:dataLabel>
  <cs:dataLabelCallout>
    <cs:lnRef idx="0"/>
    <cs:fillRef idx="0"/>
    <cs:effectRef idx="0"/>
    <cs:fontRef idx="minor">
      <a:schemeClr val="lt1">
        <a:lumMod val="75000"/>
      </a:schemeClr>
    </cs:fontRef>
    <cs:spPr>
      <a:solidFill>
        <a:schemeClr val="dk1">
          <a:lumMod val="75000"/>
          <a:lumOff val="25000"/>
        </a:schemeClr>
      </a:solidFill>
      <a:ln>
        <a:solidFill>
          <a:schemeClr val="lt1">
            <a:lumMod val="75000"/>
          </a:schemeClr>
        </a:solidFill>
      </a:ln>
      <a:effectLst>
        <a:glow rad="63500">
          <a:schemeClr val="lt1">
            <a:lumMod val="75000"/>
            <a:alpha val="15000"/>
          </a:schemeClr>
        </a:glow>
      </a:effectLst>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styleClr val="auto"/>
    </cs:effectRef>
    <cs:fontRef idx="minor">
      <a:schemeClr val="dk1"/>
    </cs:fontRef>
    <cs:spPr>
      <a:solidFill>
        <a:schemeClr val="phClr">
          <a:alpha val="69804"/>
        </a:schemeClr>
      </a:solidFill>
      <a:ln w="9525" cap="flat" cmpd="sng" algn="ctr">
        <a:solidFill>
          <a:schemeClr val="phClr">
            <a:alpha val="69804"/>
          </a:schemeClr>
        </a:solidFill>
        <a:miter lim="800000"/>
      </a:ln>
      <a:effectLst>
        <a:glow rad="76200">
          <a:schemeClr val="phClr">
            <a:satMod val="175000"/>
            <a:alpha val="34000"/>
          </a:schemeClr>
        </a:glow>
      </a:effectLst>
    </cs:spPr>
  </cs:dataPoint>
  <cs:dataPoint3D>
    <cs:lnRef idx="0">
      <cs:styleClr val="auto"/>
    </cs:lnRef>
    <cs:fillRef idx="0">
      <cs:styleClr val="auto"/>
    </cs:fillRef>
    <cs:effectRef idx="0">
      <cs:styleClr val="auto"/>
    </cs:effectRef>
    <cs:fontRef idx="minor">
      <a:schemeClr val="dk1"/>
    </cs:fontRef>
    <cs:spPr>
      <a:solidFill>
        <a:schemeClr val="phClr">
          <a:alpha val="69804"/>
        </a:schemeClr>
      </a:solidFill>
      <a:ln w="9525" cap="flat" cmpd="sng" algn="ctr">
        <a:solidFill>
          <a:schemeClr val="phClr">
            <a:alpha val="69804"/>
          </a:schemeClr>
        </a:solidFill>
        <a:miter lim="800000"/>
      </a:ln>
      <a:effectLst>
        <a:glow rad="76200">
          <a:schemeClr val="phClr">
            <a:satMod val="175000"/>
            <a:alpha val="34000"/>
          </a:schemeClr>
        </a:glow>
      </a:effectLst>
    </cs:spPr>
  </cs:dataPoint3D>
  <cs:dataPointLine>
    <cs:lnRef idx="0">
      <cs:styleClr val="auto"/>
    </cs:lnRef>
    <cs:fillRef idx="0">
      <cs:styleClr val="auto"/>
    </cs:fillRef>
    <cs:effectRef idx="0">
      <cs:styleClr val="auto"/>
    </cs:effectRef>
    <cs:fontRef idx="minor">
      <a:schemeClr val="dk1"/>
    </cs:fontRef>
    <cs:spPr>
      <a:ln w="28575" cap="rnd">
        <a:solidFill>
          <a:schemeClr val="phClr"/>
        </a:solidFill>
      </a:ln>
      <a:effectLst>
        <a:glow rad="76200">
          <a:schemeClr val="phClr">
            <a:satMod val="175000"/>
            <a:alpha val="3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1197"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lt1">
            <a:alpha val="20000"/>
          </a:schemeClr>
        </a:solidFill>
        <a:round/>
      </a:ln>
    </cs:spPr>
  </cs:gridlineMajor>
  <cs:gridlineMinor>
    <cs:lnRef idx="0"/>
    <cs:fillRef idx="0"/>
    <cs:effectRef idx="0"/>
    <cs:fontRef idx="minor">
      <a:schemeClr val="dk1"/>
    </cs:fontRef>
    <cs:spPr>
      <a:ln w="9525" cap="flat" cmpd="sng" algn="ctr">
        <a:solidFill>
          <a:schemeClr val="lt1">
            <a:alpha val="20000"/>
          </a:schemeClr>
        </a:soli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1197"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862" b="0" kern="1200" cap="none" spc="50" baseline="0"/>
  </cs:title>
  <cs:trendline>
    <cs:lnRef idx="0">
      <cs:styleClr val="auto"/>
    </cs:lnRef>
    <cs:fillRef idx="0"/>
    <cs:effectRef idx="0"/>
    <cs:fontRef idx="minor">
      <a:schemeClr val="dk1"/>
    </cs:fontRef>
    <cs:spPr>
      <a:ln w="9525" cap="rnd">
        <a:solidFill>
          <a:schemeClr val="phClr">
            <a:alpha val="50000"/>
          </a:schemeClr>
        </a:solidFill>
      </a:ln>
    </cs:spPr>
  </cs:trendline>
  <cs:trendlineLabel>
    <cs:lnRef idx="0"/>
    <cs:fillRef idx="0"/>
    <cs:effectRef idx="0"/>
    <cs:fontRef idx="minor">
      <a:schemeClr val="lt1">
        <a:lumMod val="75000"/>
      </a:schemeClr>
    </cs:fontRef>
    <cs:defRPr sz="1197"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1197"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TW" altLang="en-US" smtClean="0"/>
              <a:t>2026/3/3</a:t>
            </a:fld>
            <a:endParaRPr lang="zh-TW" altLang="en-US"/>
          </a:p>
        </p:txBody>
      </p:sp>
      <p:sp>
        <p:nvSpPr>
          <p:cNvPr id="4" name="頁尾版面配置區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TW" altLang="en-US" smtClean="0"/>
              <a:t>‹#›</a:t>
            </a:fld>
            <a:endParaRPr lang="zh-TW"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5A681D-2D26-4E30-9E7A-12BA2F7971AE}" type="datetimeFigureOut">
              <a:rPr lang="zh-TW" altLang="en-US" smtClean="0"/>
              <a:t>2026/3/3</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BA5AFE-8970-4B57-B423-C596FB58AC0E}" type="slidenum">
              <a:rPr lang="zh-TW" altLang="en-US" smtClean="0"/>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p:cNvSpPr>
            <a:spLocks noGrp="1"/>
          </p:cNvSpPr>
          <p:nvPr>
            <p:ph type="dt" sz="half" idx="10"/>
          </p:nvPr>
        </p:nvSpPr>
        <p:spPr/>
        <p:txBody>
          <a:bodyPr/>
          <a:lstStyle/>
          <a:p>
            <a:fld id="{61FC0C0C-18E8-48AF-8451-7EA05F209860}" type="datetimeFigureOut">
              <a:rPr lang="zh-TW" altLang="en-US" smtClean="0"/>
              <a:t>2026/3/3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90CCB221-A648-4A22-A87C-5883FFE3F868}" type="slidenum">
              <a:rPr lang="zh-TW" altLang="en-US" smtClean="0"/>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61FC0C0C-18E8-48AF-8451-7EA05F209860}" type="datetimeFigureOut">
              <a:rPr lang="zh-TW" altLang="en-US" smtClean="0"/>
              <a:t>2026/3/3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90CCB221-A648-4A22-A87C-5883FFE3F868}" type="slidenum">
              <a:rPr lang="zh-TW" altLang="en-US" smtClean="0"/>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61FC0C0C-18E8-48AF-8451-7EA05F209860}" type="datetimeFigureOut">
              <a:rPr lang="zh-TW" altLang="en-US" smtClean="0"/>
              <a:t>2026/3/3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90CCB221-A648-4A22-A87C-5883FFE3F868}" type="slidenum">
              <a:rPr lang="zh-TW" altLang="en-US" smtClean="0"/>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61FC0C0C-18E8-48AF-8451-7EA05F209860}" type="datetimeFigureOut">
              <a:rPr lang="zh-TW" altLang="en-US" smtClean="0"/>
              <a:t>2026/3/3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90CCB221-A648-4A22-A87C-5883FFE3F868}" type="slidenum">
              <a:rPr lang="zh-TW" altLang="en-US" smtClean="0"/>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61FC0C0C-18E8-48AF-8451-7EA05F209860}" type="datetimeFigureOut">
              <a:rPr lang="zh-TW" altLang="en-US" smtClean="0"/>
              <a:t>2026/3/3</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90CCB221-A648-4A22-A87C-5883FFE3F868}" type="slidenum">
              <a:rPr lang="zh-TW" altLang="en-US" smtClean="0"/>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61FC0C0C-18E8-48AF-8451-7EA05F209860}" type="datetimeFigureOut">
              <a:rPr lang="zh-TW" altLang="en-US" smtClean="0"/>
              <a:t>2026/3/3</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90CCB221-A648-4A22-A87C-5883FFE3F868}" type="slidenum">
              <a:rPr lang="zh-TW" altLang="en-US" smtClean="0"/>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61FC0C0C-18E8-48AF-8451-7EA05F209860}" type="datetimeFigureOut">
              <a:rPr lang="zh-TW" altLang="en-US" smtClean="0"/>
              <a:t>2026/3/3</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90CCB221-A648-4A22-A87C-5883FFE3F868}" type="slidenum">
              <a:rPr lang="zh-TW" altLang="en-US" smtClean="0"/>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61FC0C0C-18E8-48AF-8451-7EA05F209860}" type="datetimeFigureOut">
              <a:rPr lang="zh-TW" altLang="en-US" smtClean="0"/>
              <a:t>2026/3/3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90CCB221-A648-4A22-A87C-5883FFE3F868}" type="slidenum">
              <a:rPr lang="zh-TW" altLang="en-US" smtClean="0"/>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61FC0C0C-18E8-48AF-8451-7EA05F209860}" type="datetimeFigureOut">
              <a:rPr lang="zh-TW" altLang="en-US" smtClean="0"/>
              <a:t>2026/3/3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90CCB221-A648-4A22-A87C-5883FFE3F868}" type="slidenum">
              <a:rPr lang="zh-TW" altLang="en-US" smtClean="0"/>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61FC0C0C-18E8-48AF-8451-7EA05F209860}" type="datetimeFigureOut">
              <a:rPr lang="zh-TW" altLang="en-US" smtClean="0"/>
              <a:t>2026/3/3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90CCB221-A648-4A22-A87C-5883FFE3F868}" type="slidenum">
              <a:rPr lang="zh-TW" altLang="en-US" smtClean="0"/>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61FC0C0C-18E8-48AF-8451-7EA05F209860}" type="datetimeFigureOut">
              <a:rPr lang="zh-TW" altLang="en-US" smtClean="0"/>
              <a:t>2026/3/3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90CCB221-A648-4A22-A87C-5883FFE3F868}" type="slidenum">
              <a:rPr lang="zh-TW" altLang="en-US" smtClean="0"/>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tile tx="0" ty="0" sx="100000" sy="100000" flip="none" algn="tl"/>
        </a:blipFill>
        <a:effectLst/>
      </p:bgPr>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FC0C0C-18E8-48AF-8451-7EA05F209860}" type="datetimeFigureOut">
              <a:rPr lang="zh-TW" altLang="en-US" smtClean="0"/>
              <a:t>2026/3/3</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CCB221-A648-4A22-A87C-5883FFE3F868}" type="slidenum">
              <a:rPr lang="zh-TW" altLang="en-US" smtClean="0"/>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4518A7B8-1B2B-72F8-8C8F-9A2758B753AA}"/>
              </a:ext>
            </a:extLst>
          </p:cNvPr>
          <p:cNvSpPr/>
          <p:nvPr/>
        </p:nvSpPr>
        <p:spPr>
          <a:xfrm>
            <a:off x="0" y="0"/>
            <a:ext cx="12192000" cy="6858000"/>
          </a:xfrm>
          <a:prstGeom prst="rect">
            <a:avLst/>
          </a:prstGeom>
          <a:blipFill dpi="0" rotWithShape="1">
            <a:blip r:embed="rId2">
              <a:alphaModFix amt="40000"/>
              <a:extLst>
                <a:ext uri="{BEBA8EAE-BF5A-486C-A8C5-ECC9F3942E4B}">
                  <a14:imgProps xmlns:a14="http://schemas.microsoft.com/office/drawing/2010/main">
                    <a14:imgLayer r:embed="rId3">
                      <a14:imgEffect>
                        <a14:artisticPaintBrush/>
                      </a14:imgEffect>
                      <a14:imgEffect>
                        <a14:brightnessContrast contrast="30000"/>
                      </a14:imgEffect>
                    </a14:imgLayer>
                  </a14:imgProps>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手繪多邊形: 圖案 4">
            <a:extLst>
              <a:ext uri="{FF2B5EF4-FFF2-40B4-BE49-F238E27FC236}">
                <a16:creationId xmlns:a16="http://schemas.microsoft.com/office/drawing/2014/main" id="{C1D5E978-FE18-638A-A501-7C2AF87183D7}"/>
              </a:ext>
            </a:extLst>
          </p:cNvPr>
          <p:cNvSpPr/>
          <p:nvPr/>
        </p:nvSpPr>
        <p:spPr>
          <a:xfrm>
            <a:off x="5262880" y="0"/>
            <a:ext cx="6929120" cy="6858000"/>
          </a:xfrm>
          <a:custGeom>
            <a:avLst/>
            <a:gdLst>
              <a:gd name="connsiteX0" fmla="*/ 1099083 w 6878773"/>
              <a:gd name="connsiteY0" fmla="*/ 0 h 6858000"/>
              <a:gd name="connsiteX1" fmla="*/ 1288272 w 6878773"/>
              <a:gd name="connsiteY1" fmla="*/ 0 h 6858000"/>
              <a:gd name="connsiteX2" fmla="*/ 1071041 w 6878773"/>
              <a:gd name="connsiteY2" fmla="*/ 392191 h 6858000"/>
              <a:gd name="connsiteX3" fmla="*/ 689136 w 6878773"/>
              <a:gd name="connsiteY3" fmla="*/ 1280816 h 6858000"/>
              <a:gd name="connsiteX4" fmla="*/ 616541 w 6878773"/>
              <a:gd name="connsiteY4" fmla="*/ 1508694 h 6858000"/>
              <a:gd name="connsiteX5" fmla="*/ 614559 w 6878773"/>
              <a:gd name="connsiteY5" fmla="*/ 1514104 h 6858000"/>
              <a:gd name="connsiteX6" fmla="*/ 607149 w 6878773"/>
              <a:gd name="connsiteY6" fmla="*/ 1538176 h 6858000"/>
              <a:gd name="connsiteX7" fmla="*/ 539073 w 6878773"/>
              <a:gd name="connsiteY7" fmla="*/ 1751870 h 6858000"/>
              <a:gd name="connsiteX8" fmla="*/ 526405 w 6878773"/>
              <a:gd name="connsiteY8" fmla="*/ 1800496 h 6858000"/>
              <a:gd name="connsiteX9" fmla="*/ 607149 w 6878773"/>
              <a:gd name="connsiteY9" fmla="*/ 1538176 h 6858000"/>
              <a:gd name="connsiteX10" fmla="*/ 616541 w 6878773"/>
              <a:gd name="connsiteY10" fmla="*/ 1508694 h 6858000"/>
              <a:gd name="connsiteX11" fmla="*/ 768299 w 6878773"/>
              <a:gd name="connsiteY11" fmla="*/ 1094548 h 6858000"/>
              <a:gd name="connsiteX12" fmla="*/ 1145606 w 6878773"/>
              <a:gd name="connsiteY12" fmla="*/ 304655 h 6858000"/>
              <a:gd name="connsiteX13" fmla="*/ 1329241 w 6878773"/>
              <a:gd name="connsiteY13" fmla="*/ 0 h 6858000"/>
              <a:gd name="connsiteX14" fmla="*/ 6878773 w 6878773"/>
              <a:gd name="connsiteY14" fmla="*/ 0 h 6858000"/>
              <a:gd name="connsiteX15" fmla="*/ 6878773 w 6878773"/>
              <a:gd name="connsiteY15" fmla="*/ 6858000 h 6858000"/>
              <a:gd name="connsiteX16" fmla="*/ 796590 w 6878773"/>
              <a:gd name="connsiteY16" fmla="*/ 6858000 h 6858000"/>
              <a:gd name="connsiteX17" fmla="*/ 705664 w 6878773"/>
              <a:gd name="connsiteY17" fmla="*/ 6624805 h 6858000"/>
              <a:gd name="connsiteX18" fmla="*/ 276668 w 6878773"/>
              <a:gd name="connsiteY18" fmla="*/ 4763158 h 6858000"/>
              <a:gd name="connsiteX19" fmla="*/ 251068 w 6878773"/>
              <a:gd name="connsiteY19" fmla="*/ 4457271 h 6858000"/>
              <a:gd name="connsiteX20" fmla="*/ 252518 w 6878773"/>
              <a:gd name="connsiteY20" fmla="*/ 4492334 h 6858000"/>
              <a:gd name="connsiteX21" fmla="*/ 642791 w 6878773"/>
              <a:gd name="connsiteY21" fmla="*/ 6547897 h 6858000"/>
              <a:gd name="connsiteX22" fmla="*/ 751455 w 6878773"/>
              <a:gd name="connsiteY22" fmla="*/ 6858000 h 6858000"/>
              <a:gd name="connsiteX23" fmla="*/ 568815 w 6878773"/>
              <a:gd name="connsiteY23" fmla="*/ 6858000 h 6858000"/>
              <a:gd name="connsiteX24" fmla="*/ 520545 w 6878773"/>
              <a:gd name="connsiteY24" fmla="*/ 6743200 h 6858000"/>
              <a:gd name="connsiteX25" fmla="*/ 0 w 6878773"/>
              <a:gd name="connsiteY25" fmla="*/ 3931920 h 6858000"/>
              <a:gd name="connsiteX26" fmla="*/ 984860 w 6878773"/>
              <a:gd name="connsiteY26" fmla="*/ 18032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878773" h="6858000">
                <a:moveTo>
                  <a:pt x="1099083" y="0"/>
                </a:moveTo>
                <a:lnTo>
                  <a:pt x="1288272" y="0"/>
                </a:lnTo>
                <a:lnTo>
                  <a:pt x="1071041" y="392191"/>
                </a:lnTo>
                <a:cubicBezTo>
                  <a:pt x="926325" y="675478"/>
                  <a:pt x="798518" y="972377"/>
                  <a:pt x="689136" y="1280816"/>
                </a:cubicBezTo>
                <a:lnTo>
                  <a:pt x="616541" y="1508694"/>
                </a:lnTo>
                <a:lnTo>
                  <a:pt x="614559" y="1514104"/>
                </a:lnTo>
                <a:lnTo>
                  <a:pt x="607149" y="1538176"/>
                </a:lnTo>
                <a:lnTo>
                  <a:pt x="539073" y="1751870"/>
                </a:lnTo>
                <a:lnTo>
                  <a:pt x="526405" y="1800496"/>
                </a:lnTo>
                <a:lnTo>
                  <a:pt x="607149" y="1538176"/>
                </a:lnTo>
                <a:lnTo>
                  <a:pt x="616541" y="1508694"/>
                </a:lnTo>
                <a:lnTo>
                  <a:pt x="768299" y="1094548"/>
                </a:lnTo>
                <a:cubicBezTo>
                  <a:pt x="878763" y="820024"/>
                  <a:pt x="1004957" y="556147"/>
                  <a:pt x="1145606" y="304655"/>
                </a:cubicBezTo>
                <a:lnTo>
                  <a:pt x="1329241" y="0"/>
                </a:lnTo>
                <a:lnTo>
                  <a:pt x="6878773" y="0"/>
                </a:lnTo>
                <a:lnTo>
                  <a:pt x="6878773" y="6858000"/>
                </a:lnTo>
                <a:lnTo>
                  <a:pt x="796590" y="6858000"/>
                </a:lnTo>
                <a:lnTo>
                  <a:pt x="705664" y="6624805"/>
                </a:lnTo>
                <a:cubicBezTo>
                  <a:pt x="492576" y="6043076"/>
                  <a:pt x="345499" y="5418219"/>
                  <a:pt x="276668" y="4763158"/>
                </a:cubicBezTo>
                <a:lnTo>
                  <a:pt x="251068" y="4457271"/>
                </a:lnTo>
                <a:lnTo>
                  <a:pt x="252518" y="4492334"/>
                </a:lnTo>
                <a:cubicBezTo>
                  <a:pt x="297587" y="5213820"/>
                  <a:pt x="432380" y="5903988"/>
                  <a:pt x="642791" y="6547897"/>
                </a:cubicBezTo>
                <a:lnTo>
                  <a:pt x="751455" y="6858000"/>
                </a:lnTo>
                <a:lnTo>
                  <a:pt x="568815" y="6858000"/>
                </a:lnTo>
                <a:lnTo>
                  <a:pt x="520545" y="6743200"/>
                </a:lnTo>
                <a:cubicBezTo>
                  <a:pt x="188569" y="5907510"/>
                  <a:pt x="0" y="4949829"/>
                  <a:pt x="0" y="3931920"/>
                </a:cubicBezTo>
                <a:cubicBezTo>
                  <a:pt x="0" y="2506847"/>
                  <a:pt x="369597" y="1199822"/>
                  <a:pt x="984860" y="180321"/>
                </a:cubicBezTo>
                <a:close/>
              </a:path>
            </a:pathLst>
          </a:custGeom>
          <a:blipFill>
            <a:blip r:embed="rId4"/>
            <a:stretch>
              <a:fillRect/>
            </a:stretch>
          </a:blip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6" name="文字方塊 5">
            <a:extLst>
              <a:ext uri="{FF2B5EF4-FFF2-40B4-BE49-F238E27FC236}">
                <a16:creationId xmlns:a16="http://schemas.microsoft.com/office/drawing/2014/main" id="{4B2CDC77-8F79-FB60-ED20-78B18BF125ED}"/>
              </a:ext>
            </a:extLst>
          </p:cNvPr>
          <p:cNvSpPr txBox="1"/>
          <p:nvPr/>
        </p:nvSpPr>
        <p:spPr>
          <a:xfrm>
            <a:off x="321934" y="4841728"/>
            <a:ext cx="8302787" cy="1938992"/>
          </a:xfrm>
          <a:prstGeom prst="rect">
            <a:avLst/>
          </a:prstGeom>
          <a:noFill/>
          <a:ln>
            <a:noFill/>
          </a:ln>
          <a:effectLst/>
        </p:spPr>
        <p:txBody>
          <a:bodyPr wrap="square" rtlCol="0" anchor="t">
            <a:spAutoFit/>
          </a:bodyPr>
          <a:lstStyle/>
          <a:p>
            <a:pPr algn="just">
              <a:spcBef>
                <a:spcPts val="600"/>
              </a:spcBef>
              <a:buClrTx/>
              <a:buSzTx/>
              <a:buNone/>
            </a:pPr>
            <a:r>
              <a:rPr lang="en-US" altLang="zh-TW" sz="3600" b="1" dirty="0" smtClean="0">
                <a:solidFill>
                  <a:srgbClr val="002060"/>
                </a:solidFill>
                <a:effectLst>
                  <a:outerShdw blurRad="50800" dist="38100" dir="10800000" algn="r" rotWithShape="0">
                    <a:schemeClr val="bg1">
                      <a:lumMod val="85000"/>
                      <a:alpha val="70000"/>
                    </a:schemeClr>
                  </a:outerShdw>
                </a:effectLst>
                <a:latin typeface="微軟正黑體" panose="020B0604030504040204" pitchFamily="34" charset="-120"/>
                <a:ea typeface="微軟正黑體" panose="020B0604030504040204" pitchFamily="34" charset="-120"/>
                <a:cs typeface="微軟正黑體" panose="020B0604030504040204" pitchFamily="34" charset="-120"/>
                <a:sym typeface="+mn-ea"/>
              </a:rPr>
              <a:t>2026 </a:t>
            </a:r>
            <a:r>
              <a:rPr lang="en-US" altLang="zh-TW" sz="3600" b="1" dirty="0">
                <a:solidFill>
                  <a:srgbClr val="002060"/>
                </a:solidFill>
                <a:effectLst>
                  <a:outerShdw blurRad="50800" dist="38100" dir="10800000" algn="r" rotWithShape="0">
                    <a:schemeClr val="bg1">
                      <a:lumMod val="85000"/>
                      <a:alpha val="70000"/>
                    </a:schemeClr>
                  </a:outerShdw>
                </a:effectLst>
                <a:latin typeface="微軟正黑體" panose="020B0604030504040204" pitchFamily="34" charset="-120"/>
                <a:ea typeface="微軟正黑體" panose="020B0604030504040204" pitchFamily="34" charset="-120"/>
                <a:cs typeface="微軟正黑體" panose="020B0604030504040204" pitchFamily="34" charset="-120"/>
                <a:sym typeface="+mn-ea"/>
              </a:rPr>
              <a:t>PVN FME </a:t>
            </a:r>
            <a:r>
              <a:rPr lang="en-US" altLang="zh-TW" sz="3600" b="1" dirty="0" smtClean="0">
                <a:solidFill>
                  <a:srgbClr val="002060"/>
                </a:solidFill>
                <a:effectLst>
                  <a:outerShdw blurRad="50800" dist="38100" dir="10800000" algn="r" rotWithShape="0">
                    <a:schemeClr val="bg1">
                      <a:lumMod val="85000"/>
                      <a:alpha val="70000"/>
                    </a:schemeClr>
                  </a:outerShdw>
                </a:effectLst>
                <a:latin typeface="微軟正黑體" panose="020B0604030504040204" pitchFamily="34" charset="-120"/>
                <a:ea typeface="微軟正黑體" panose="020B0604030504040204" pitchFamily="34" charset="-120"/>
                <a:cs typeface="微軟正黑體" panose="020B0604030504040204" pitchFamily="34" charset="-120"/>
                <a:sym typeface="+mn-ea"/>
              </a:rPr>
              <a:t>Q1</a:t>
            </a:r>
            <a:r>
              <a:rPr lang="zh-TW" altLang="en-US" sz="3600" b="1" dirty="0" smtClean="0">
                <a:solidFill>
                  <a:srgbClr val="002060"/>
                </a:solidFill>
                <a:effectLst>
                  <a:outerShdw blurRad="50800" dist="38100" dir="10800000" algn="r" rotWithShape="0">
                    <a:schemeClr val="bg1">
                      <a:lumMod val="85000"/>
                      <a:alpha val="70000"/>
                    </a:schemeClr>
                  </a:outerShdw>
                </a:effectLst>
                <a:latin typeface="微軟正黑體" panose="020B0604030504040204" pitchFamily="34" charset="-120"/>
                <a:ea typeface="微軟正黑體" panose="020B0604030504040204" pitchFamily="34" charset="-120"/>
                <a:cs typeface="微軟正黑體" panose="020B0604030504040204" pitchFamily="34" charset="-120"/>
                <a:sym typeface="+mn-ea"/>
              </a:rPr>
              <a:t>工作</a:t>
            </a:r>
            <a:r>
              <a:rPr lang="zh-TW" altLang="en-US" sz="3600" b="1" dirty="0">
                <a:solidFill>
                  <a:srgbClr val="002060"/>
                </a:solidFill>
                <a:effectLst>
                  <a:outerShdw blurRad="50800" dist="38100" dir="10800000" algn="r" rotWithShape="0">
                    <a:schemeClr val="bg1">
                      <a:lumMod val="85000"/>
                      <a:alpha val="70000"/>
                    </a:schemeClr>
                  </a:outerShdw>
                </a:effectLst>
                <a:latin typeface="微軟正黑體" panose="020B0604030504040204" pitchFamily="34" charset="-120"/>
                <a:ea typeface="微軟正黑體" panose="020B0604030504040204" pitchFamily="34" charset="-120"/>
                <a:cs typeface="微軟正黑體" panose="020B0604030504040204" pitchFamily="34" charset="-120"/>
                <a:sym typeface="+mn-ea"/>
              </a:rPr>
              <a:t>報告</a:t>
            </a:r>
            <a:endParaRPr lang="en-US" altLang="zh-TW" sz="3600" b="1" dirty="0">
              <a:solidFill>
                <a:srgbClr val="002060"/>
              </a:solidFill>
              <a:effectLst>
                <a:outerShdw blurRad="50800" dist="38100" dir="10800000" algn="r" rotWithShape="0">
                  <a:schemeClr val="bg1">
                    <a:lumMod val="85000"/>
                    <a:alpha val="70000"/>
                  </a:schemeClr>
                </a:outerShdw>
              </a:effectLst>
              <a:latin typeface="微軟正黑體" panose="020B0604030504040204" pitchFamily="34" charset="-120"/>
              <a:ea typeface="微軟正黑體" panose="020B0604030504040204" pitchFamily="34" charset="-120"/>
              <a:cs typeface="微軟正黑體" panose="020B0604030504040204" pitchFamily="34" charset="-120"/>
              <a:sym typeface="+mn-ea"/>
            </a:endParaRPr>
          </a:p>
          <a:p>
            <a:pPr algn="just">
              <a:spcBef>
                <a:spcPts val="600"/>
              </a:spcBef>
            </a:pPr>
            <a:r>
              <a:rPr lang="en-US" altLang="zh-TW" sz="1600" b="1" dirty="0" err="1">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部門</a:t>
            </a:r>
            <a:r>
              <a:rPr lang="en-US" altLang="zh-TW" sz="1600" b="1" dirty="0" smtClean="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a:t>
            </a:r>
            <a:r>
              <a:rPr lang="zh-TW" altLang="en-US" sz="1600" b="1" dirty="0" smtClean="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 </a:t>
            </a:r>
            <a:r>
              <a:rPr lang="en-US" altLang="zh-TW" sz="1600" b="1" dirty="0" smtClean="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a:t>
            </a:r>
            <a:r>
              <a:rPr lang="en-US" altLang="zh-TW"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PVN)</a:t>
            </a:r>
            <a:r>
              <a:rPr lang="zh-TW" altLang="en-US"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第六事業群</a:t>
            </a:r>
            <a:r>
              <a:rPr lang="en-US" altLang="zh-TW"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a:t>
            </a:r>
            <a:r>
              <a:rPr lang="zh-TW" altLang="en-US"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製造及營運管理中心</a:t>
            </a:r>
            <a:r>
              <a:rPr lang="en-US" altLang="zh-TW"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a:t>
            </a:r>
            <a:r>
              <a:rPr lang="zh-TW" altLang="en-US"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越南製造處</a:t>
            </a:r>
            <a:r>
              <a:rPr lang="en-US" altLang="zh-TW"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-PVN1</a:t>
            </a:r>
            <a:r>
              <a:rPr lang="zh-TW" altLang="en-US"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廠</a:t>
            </a:r>
            <a:r>
              <a:rPr lang="en-US" altLang="zh-TW"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-FME</a:t>
            </a:r>
            <a:r>
              <a:rPr lang="zh-TW" altLang="en-US" sz="1600" b="1" dirty="0" smtClean="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部</a:t>
            </a:r>
            <a:r>
              <a:rPr lang="en-US" altLang="zh-TW" sz="1600" b="1" dirty="0" smtClean="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a:t>
            </a:r>
            <a:r>
              <a:rPr lang="zh-TW" altLang="en-US" sz="1600" b="1" dirty="0" smtClean="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自動化課</a:t>
            </a:r>
            <a:endParaRPr lang="en-US" altLang="zh-TW"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endParaRPr>
          </a:p>
          <a:p>
            <a:pPr algn="just">
              <a:spcBef>
                <a:spcPts val="600"/>
              </a:spcBef>
            </a:pPr>
            <a:r>
              <a:rPr lang="en-US" altLang="zh-TW" sz="1600" b="1" dirty="0" err="1">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姓名</a:t>
            </a:r>
            <a:r>
              <a:rPr lang="en-US" altLang="zh-TW"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 </a:t>
            </a:r>
            <a:r>
              <a:rPr lang="en-US" altLang="zh-TW" sz="1600" b="1" dirty="0" smtClean="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Albert Chao</a:t>
            </a:r>
          </a:p>
          <a:p>
            <a:pPr algn="just">
              <a:spcBef>
                <a:spcPts val="600"/>
              </a:spcBef>
            </a:pPr>
            <a:r>
              <a:rPr lang="zh-TW" altLang="en-US" sz="1600" b="1" dirty="0" smtClean="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職</a:t>
            </a:r>
            <a:r>
              <a:rPr lang="zh-TW" altLang="en-US"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等</a:t>
            </a:r>
            <a:r>
              <a:rPr lang="en-US" altLang="zh-TW"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 </a:t>
            </a:r>
            <a:r>
              <a:rPr lang="en-US" altLang="zh-TW" sz="1600" b="1" dirty="0" smtClean="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33</a:t>
            </a:r>
            <a:r>
              <a:rPr lang="en-US" altLang="zh-TW"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	</a:t>
            </a:r>
            <a:endParaRPr lang="en-US" altLang="zh-TW"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endParaRPr>
          </a:p>
          <a:p>
            <a:pPr algn="just">
              <a:spcBef>
                <a:spcPts val="600"/>
              </a:spcBef>
              <a:buClrTx/>
              <a:buSzTx/>
              <a:buNone/>
            </a:pPr>
            <a:r>
              <a:rPr lang="en-US" altLang="zh-TW" sz="1600" b="1" dirty="0" err="1">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日期</a:t>
            </a:r>
            <a:r>
              <a:rPr lang="en-US" altLang="zh-TW"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 </a:t>
            </a:r>
            <a:r>
              <a:rPr lang="en-US" altLang="zh-TW" sz="1600" b="1" dirty="0" smtClean="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2026/03/15</a:t>
            </a:r>
            <a:endParaRPr lang="en-US" altLang="zh-TW"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endParaRPr>
          </a:p>
        </p:txBody>
      </p:sp>
      <p:grpSp>
        <p:nvGrpSpPr>
          <p:cNvPr id="7" name="群組 6">
            <a:extLst>
              <a:ext uri="{FF2B5EF4-FFF2-40B4-BE49-F238E27FC236}">
                <a16:creationId xmlns:a16="http://schemas.microsoft.com/office/drawing/2014/main" id="{112B3D19-5153-353B-424F-8F0D7993982B}"/>
              </a:ext>
            </a:extLst>
          </p:cNvPr>
          <p:cNvGrpSpPr/>
          <p:nvPr/>
        </p:nvGrpSpPr>
        <p:grpSpPr>
          <a:xfrm>
            <a:off x="494654" y="4117202"/>
            <a:ext cx="3293433" cy="637493"/>
            <a:chOff x="637703" y="2936783"/>
            <a:chExt cx="3293433" cy="637493"/>
          </a:xfrm>
        </p:grpSpPr>
        <p:pic>
          <p:nvPicPr>
            <p:cNvPr id="8" name="Picture 6">
              <a:extLst>
                <a:ext uri="{FF2B5EF4-FFF2-40B4-BE49-F238E27FC236}">
                  <a16:creationId xmlns:a16="http://schemas.microsoft.com/office/drawing/2014/main" id="{AD0040CB-21DA-C482-2A41-8A79356C4023}"/>
                </a:ext>
              </a:extLst>
            </p:cNvPr>
            <p:cNvPicPr/>
            <p:nvPr/>
          </p:nvPicPr>
          <p:blipFill>
            <a:blip r:embed="rId5">
              <a:lum bright="-20001"/>
            </a:blip>
            <a:stretch>
              <a:fillRect/>
            </a:stretch>
          </p:blipFill>
          <p:spPr>
            <a:xfrm>
              <a:off x="637703" y="3020610"/>
              <a:ext cx="2063612" cy="553666"/>
            </a:xfrm>
            <a:prstGeom prst="rect">
              <a:avLst/>
            </a:prstGeom>
            <a:noFill/>
            <a:ln w="9525">
              <a:noFill/>
            </a:ln>
          </p:spPr>
        </p:pic>
        <p:grpSp>
          <p:nvGrpSpPr>
            <p:cNvPr id="9" name="群組 8">
              <a:extLst>
                <a:ext uri="{FF2B5EF4-FFF2-40B4-BE49-F238E27FC236}">
                  <a16:creationId xmlns:a16="http://schemas.microsoft.com/office/drawing/2014/main" id="{14C72E3B-8C67-EB76-D350-68FD31CC333A}"/>
                </a:ext>
              </a:extLst>
            </p:cNvPr>
            <p:cNvGrpSpPr/>
            <p:nvPr/>
          </p:nvGrpSpPr>
          <p:grpSpPr>
            <a:xfrm>
              <a:off x="2892449" y="2936783"/>
              <a:ext cx="1038687" cy="588751"/>
              <a:chOff x="1782913" y="2529000"/>
              <a:chExt cx="3121573" cy="1800000"/>
            </a:xfrm>
          </p:grpSpPr>
          <p:sp>
            <p:nvSpPr>
              <p:cNvPr id="10" name="圆角矩形 15">
                <a:extLst>
                  <a:ext uri="{FF2B5EF4-FFF2-40B4-BE49-F238E27FC236}">
                    <a16:creationId xmlns:a16="http://schemas.microsoft.com/office/drawing/2014/main" id="{A8AF72AA-3B3A-5ACD-D50E-22A378408615}"/>
                  </a:ext>
                </a:extLst>
              </p:cNvPr>
              <p:cNvSpPr/>
              <p:nvPr/>
            </p:nvSpPr>
            <p:spPr>
              <a:xfrm rot="2700000">
                <a:off x="1857839" y="2529000"/>
                <a:ext cx="1800000" cy="1800000"/>
              </a:xfrm>
              <a:prstGeom prst="roundRect">
                <a:avLst/>
              </a:prstGeom>
              <a:solidFill>
                <a:srgbClr val="34B2E4"/>
              </a:solidFill>
              <a:ln>
                <a:noFill/>
              </a:ln>
              <a:effectLst>
                <a:outerShdw blurRad="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ea"/>
                  <a:sym typeface="+mn-lt"/>
                </a:endParaRPr>
              </a:p>
            </p:txBody>
          </p:sp>
          <p:sp>
            <p:nvSpPr>
              <p:cNvPr id="11" name="圆角矩形 16">
                <a:extLst>
                  <a:ext uri="{FF2B5EF4-FFF2-40B4-BE49-F238E27FC236}">
                    <a16:creationId xmlns:a16="http://schemas.microsoft.com/office/drawing/2014/main" id="{D74BAA0C-C50E-20F8-BE6E-E171E1D937C4}"/>
                  </a:ext>
                </a:extLst>
              </p:cNvPr>
              <p:cNvSpPr/>
              <p:nvPr/>
            </p:nvSpPr>
            <p:spPr>
              <a:xfrm rot="2700000">
                <a:off x="1782913" y="2529000"/>
                <a:ext cx="1800000" cy="1800000"/>
              </a:xfrm>
              <a:prstGeom prst="roundRect">
                <a:avLst/>
              </a:prstGeom>
              <a:solidFill>
                <a:schemeClr val="bg1"/>
              </a:solidFill>
              <a:ln>
                <a:noFill/>
              </a:ln>
              <a:effectLst>
                <a:outerShdw blurRad="1905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ea"/>
                  <a:sym typeface="+mn-lt"/>
                </a:endParaRPr>
              </a:p>
            </p:txBody>
          </p:sp>
          <p:pic>
            <p:nvPicPr>
              <p:cNvPr id="12" name="圖片 11" descr="一張含有 文字, 輪子, 美工圖案, 齒輪 的圖片&#10;&#10;自動產生的描述">
                <a:extLst>
                  <a:ext uri="{FF2B5EF4-FFF2-40B4-BE49-F238E27FC236}">
                    <a16:creationId xmlns:a16="http://schemas.microsoft.com/office/drawing/2014/main" id="{6E8EBEE9-EBC9-8914-6C1F-E45E1570D000}"/>
                  </a:ext>
                </a:extLst>
              </p:cNvPr>
              <p:cNvPicPr/>
              <p:nvPr/>
            </p:nvPicPr>
            <p:blipFill rotWithShape="1">
              <a:blip r:embed="rId6" cstate="print">
                <a:grayscl/>
                <a:extLst>
                  <a:ext uri="{28A0092B-C50C-407E-A947-70E740481C1C}">
                    <a14:useLocalDpi xmlns:a14="http://schemas.microsoft.com/office/drawing/2010/main" val="0"/>
                  </a:ext>
                </a:extLst>
              </a:blip>
              <a:srcRect l="73898"/>
              <a:stretch>
                <a:fillRect/>
              </a:stretch>
            </p:blipFill>
            <p:spPr>
              <a:xfrm rot="5400000">
                <a:off x="3709806" y="2875160"/>
                <a:ext cx="1281679" cy="1107680"/>
              </a:xfrm>
              <a:prstGeom prst="rect">
                <a:avLst/>
              </a:prstGeom>
            </p:spPr>
          </p:pic>
          <p:sp>
            <p:nvSpPr>
              <p:cNvPr id="13" name="矩形 12">
                <a:extLst>
                  <a:ext uri="{FF2B5EF4-FFF2-40B4-BE49-F238E27FC236}">
                    <a16:creationId xmlns:a16="http://schemas.microsoft.com/office/drawing/2014/main" id="{C8390711-3383-6DA3-F533-8A28FE5DF6F8}"/>
                  </a:ext>
                </a:extLst>
              </p:cNvPr>
              <p:cNvSpPr/>
              <p:nvPr/>
            </p:nvSpPr>
            <p:spPr>
              <a:xfrm>
                <a:off x="1831379" y="2819459"/>
                <a:ext cx="1703069" cy="1337528"/>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1100" b="1" i="0" u="none" strike="noStrike" kern="1200" cap="none" spc="0" normalizeH="0" baseline="0" noProof="0" dirty="0">
                    <a:ln>
                      <a:noFill/>
                    </a:ln>
                    <a:solidFill>
                      <a:srgbClr val="A4A4A4"/>
                    </a:solidFill>
                    <a:effectLst/>
                    <a:uLnTx/>
                    <a:uFillTx/>
                    <a:latin typeface="DengXian" panose="02010600030101010101" pitchFamily="2" charset="-122"/>
                    <a:ea typeface="DengXian" panose="02010600030101010101" pitchFamily="2" charset="-122"/>
                  </a:rPr>
                  <a:t>BG6</a:t>
                </a:r>
              </a:p>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100" b="1" dirty="0">
                    <a:solidFill>
                      <a:srgbClr val="A4A4A4"/>
                    </a:solidFill>
                    <a:latin typeface="DengXian" panose="02010600030101010101" pitchFamily="2" charset="-122"/>
                    <a:ea typeface="DengXian" panose="02010600030101010101" pitchFamily="2" charset="-122"/>
                  </a:rPr>
                  <a:t>PVN</a:t>
                </a:r>
                <a:endParaRPr kumimoji="0" lang="en-US" altLang="zh-TW" sz="1100" b="1" i="0" u="none" strike="noStrike" kern="1200" cap="none" spc="0" normalizeH="0" baseline="0" noProof="0" dirty="0">
                  <a:ln>
                    <a:noFill/>
                  </a:ln>
                  <a:solidFill>
                    <a:srgbClr val="A4A4A4"/>
                  </a:solidFill>
                  <a:effectLst/>
                  <a:uLnTx/>
                  <a:uFillTx/>
                  <a:latin typeface="DengXian" panose="02010600030101010101" pitchFamily="2" charset="-122"/>
                  <a:ea typeface="DengXian" panose="02010600030101010101" pitchFamily="2" charset="-122"/>
                </a:endParaRPr>
              </a:p>
            </p:txBody>
          </p:sp>
        </p:grpSp>
      </p:grpSp>
      <p:grpSp>
        <p:nvGrpSpPr>
          <p:cNvPr id="2" name="群組 1">
            <a:extLst>
              <a:ext uri="{FF2B5EF4-FFF2-40B4-BE49-F238E27FC236}">
                <a16:creationId xmlns:a16="http://schemas.microsoft.com/office/drawing/2014/main" id="{FD9FE76B-49B7-122B-0173-0FC9E984D589}"/>
              </a:ext>
            </a:extLst>
          </p:cNvPr>
          <p:cNvGrpSpPr/>
          <p:nvPr/>
        </p:nvGrpSpPr>
        <p:grpSpPr>
          <a:xfrm>
            <a:off x="11145334" y="6021230"/>
            <a:ext cx="1058632" cy="775686"/>
            <a:chOff x="1633100" y="4132365"/>
            <a:chExt cx="419208" cy="307164"/>
          </a:xfrm>
        </p:grpSpPr>
        <p:sp>
          <p:nvSpPr>
            <p:cNvPr id="3" name="Oval 21">
              <a:extLst>
                <a:ext uri="{FF2B5EF4-FFF2-40B4-BE49-F238E27FC236}">
                  <a16:creationId xmlns:a16="http://schemas.microsoft.com/office/drawing/2014/main" id="{08753D7E-9C76-5745-271E-3279677D49DD}"/>
                </a:ext>
              </a:extLst>
            </p:cNvPr>
            <p:cNvSpPr/>
            <p:nvPr/>
          </p:nvSpPr>
          <p:spPr>
            <a:xfrm rot="20111049">
              <a:off x="1633100" y="4132365"/>
              <a:ext cx="301450" cy="254502"/>
            </a:xfrm>
            <a:custGeom>
              <a:avLst/>
              <a:gdLst/>
              <a:ahLst/>
              <a:cxnLst/>
              <a:rect l="l" t="t" r="r" b="b"/>
              <a:pathLst>
                <a:path w="4088377" h="3321003">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bg1"/>
            </a:solidFill>
            <a:ln w="3175">
              <a:solidFill>
                <a:schemeClr val="bg2">
                  <a:lumMod val="75000"/>
                </a:schemeClr>
              </a:solidFill>
            </a:ln>
            <a:effectLst>
              <a:outerShdw blurRad="50800" dist="38100" dir="8100000" sx="97000" sy="97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bg1"/>
                </a:solidFill>
              </a:endParaRPr>
            </a:p>
          </p:txBody>
        </p:sp>
        <p:grpSp>
          <p:nvGrpSpPr>
            <p:cNvPr id="14" name="群組 13">
              <a:extLst>
                <a:ext uri="{FF2B5EF4-FFF2-40B4-BE49-F238E27FC236}">
                  <a16:creationId xmlns:a16="http://schemas.microsoft.com/office/drawing/2014/main" id="{3E91ED7E-6F95-12F9-3EB2-B02A5DF1A8FE}"/>
                </a:ext>
              </a:extLst>
            </p:cNvPr>
            <p:cNvGrpSpPr/>
            <p:nvPr/>
          </p:nvGrpSpPr>
          <p:grpSpPr>
            <a:xfrm>
              <a:off x="1727685" y="4270681"/>
              <a:ext cx="324623" cy="168848"/>
              <a:chOff x="2114400" y="4249726"/>
              <a:chExt cx="324623" cy="168848"/>
            </a:xfrm>
          </p:grpSpPr>
          <p:sp>
            <p:nvSpPr>
              <p:cNvPr id="15" name="文字方塊 14">
                <a:extLst>
                  <a:ext uri="{FF2B5EF4-FFF2-40B4-BE49-F238E27FC236}">
                    <a16:creationId xmlns:a16="http://schemas.microsoft.com/office/drawing/2014/main" id="{7B31B170-9B0C-8CB4-975E-D340975F69B4}"/>
                  </a:ext>
                </a:extLst>
              </p:cNvPr>
              <p:cNvSpPr txBox="1"/>
              <p:nvPr/>
            </p:nvSpPr>
            <p:spPr>
              <a:xfrm>
                <a:off x="2114400" y="4249726"/>
                <a:ext cx="280467" cy="146252"/>
              </a:xfrm>
              <a:prstGeom prst="rect">
                <a:avLst/>
              </a:prstGeom>
              <a:noFill/>
            </p:spPr>
            <p:txBody>
              <a:bodyPr wrap="square" rtlCol="0">
                <a:spAutoFit/>
              </a:bodyPr>
              <a:lstStyle/>
              <a:p>
                <a:r>
                  <a:rPr lang="en-US" altLang="zh-TW" b="1" dirty="0">
                    <a:ln w="3175">
                      <a:solidFill>
                        <a:schemeClr val="bg2">
                          <a:lumMod val="50000"/>
                        </a:schemeClr>
                      </a:solidFill>
                    </a:ln>
                    <a:solidFill>
                      <a:schemeClr val="bg1"/>
                    </a:solidFill>
                    <a:effectLst>
                      <a:innerShdw blurRad="63500" dist="50800" dir="18900000">
                        <a:prstClr val="black">
                          <a:alpha val="50000"/>
                        </a:prstClr>
                      </a:innerShdw>
                    </a:effectLst>
                    <a:latin typeface="Amasis MT Pro Black" panose="020F0502020204030204" pitchFamily="18" charset="0"/>
                    <a:cs typeface="Arial" panose="020B0604020202020204" pitchFamily="34" charset="0"/>
                  </a:rPr>
                  <a:t>FME</a:t>
                </a:r>
                <a:endParaRPr lang="zh-TW" altLang="en-US" b="1" dirty="0">
                  <a:ln w="3175">
                    <a:solidFill>
                      <a:schemeClr val="bg2">
                        <a:lumMod val="50000"/>
                      </a:schemeClr>
                    </a:solidFill>
                  </a:ln>
                  <a:solidFill>
                    <a:schemeClr val="bg1"/>
                  </a:solidFill>
                  <a:effectLst>
                    <a:innerShdw blurRad="63500" dist="50800" dir="18900000">
                      <a:prstClr val="black">
                        <a:alpha val="50000"/>
                      </a:prstClr>
                    </a:innerShdw>
                  </a:effectLst>
                  <a:latin typeface="Amasis MT Pro Black" panose="020F0502020204030204" pitchFamily="18" charset="0"/>
                  <a:cs typeface="Arial" panose="020B0604020202020204" pitchFamily="34" charset="0"/>
                </a:endParaRPr>
              </a:p>
            </p:txBody>
          </p:sp>
          <p:sp>
            <p:nvSpPr>
              <p:cNvPr id="16" name="文字方塊 15">
                <a:extLst>
                  <a:ext uri="{FF2B5EF4-FFF2-40B4-BE49-F238E27FC236}">
                    <a16:creationId xmlns:a16="http://schemas.microsoft.com/office/drawing/2014/main" id="{0E9DDE14-C7D6-F82F-1A03-09B74D1D3628}"/>
                  </a:ext>
                </a:extLst>
              </p:cNvPr>
              <p:cNvSpPr txBox="1"/>
              <p:nvPr/>
            </p:nvSpPr>
            <p:spPr>
              <a:xfrm>
                <a:off x="2131213" y="4333260"/>
                <a:ext cx="307810" cy="85314"/>
              </a:xfrm>
              <a:prstGeom prst="rect">
                <a:avLst/>
              </a:prstGeom>
              <a:noFill/>
            </p:spPr>
            <p:txBody>
              <a:bodyPr wrap="square" rtlCol="0">
                <a:spAutoFit/>
              </a:bodyPr>
              <a:lstStyle/>
              <a:p>
                <a:r>
                  <a:rPr lang="en-US" altLang="zh-TW" sz="800" b="1" dirty="0">
                    <a:ln w="3175">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BG6</a:t>
                </a:r>
                <a:r>
                  <a:rPr lang="zh-TW" altLang="en-US" sz="800" b="1" dirty="0">
                    <a:ln w="3175">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 </a:t>
                </a:r>
                <a:r>
                  <a:rPr lang="en-US" altLang="zh-TW" sz="800" b="1" dirty="0">
                    <a:ln w="0">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PVN</a:t>
                </a:r>
                <a:endParaRPr lang="zh-TW" altLang="en-US" sz="800" b="1" dirty="0">
                  <a:ln w="0">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endParaRPr>
              </a:p>
            </p:txBody>
          </p:sp>
        </p:grpSp>
      </p:grpSp>
    </p:spTree>
    <p:extLst>
      <p:ext uri="{BB962C8B-B14F-4D97-AF65-F5344CB8AC3E}">
        <p14:creationId xmlns:p14="http://schemas.microsoft.com/office/powerpoint/2010/main" val="2200753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群組 2">
            <a:extLst>
              <a:ext uri="{FF2B5EF4-FFF2-40B4-BE49-F238E27FC236}">
                <a16:creationId xmlns:a16="http://schemas.microsoft.com/office/drawing/2014/main" id="{505B8CC2-4B9B-4096-E6FE-E5E2D0D05432}"/>
              </a:ext>
            </a:extLst>
          </p:cNvPr>
          <p:cNvGrpSpPr/>
          <p:nvPr/>
        </p:nvGrpSpPr>
        <p:grpSpPr>
          <a:xfrm>
            <a:off x="11145334" y="6021230"/>
            <a:ext cx="1058632" cy="775686"/>
            <a:chOff x="1633100" y="4132365"/>
            <a:chExt cx="419208" cy="307164"/>
          </a:xfrm>
        </p:grpSpPr>
        <p:sp>
          <p:nvSpPr>
            <p:cNvPr id="4" name="Oval 21">
              <a:extLst>
                <a:ext uri="{FF2B5EF4-FFF2-40B4-BE49-F238E27FC236}">
                  <a16:creationId xmlns:a16="http://schemas.microsoft.com/office/drawing/2014/main" id="{F7CFAFD7-D5D7-8B5A-AAB7-03383AFA405F}"/>
                </a:ext>
              </a:extLst>
            </p:cNvPr>
            <p:cNvSpPr/>
            <p:nvPr/>
          </p:nvSpPr>
          <p:spPr>
            <a:xfrm rot="20111049">
              <a:off x="1633100" y="4132365"/>
              <a:ext cx="301450" cy="254502"/>
            </a:xfrm>
            <a:custGeom>
              <a:avLst/>
              <a:gdLst/>
              <a:ahLst/>
              <a:cxnLst/>
              <a:rect l="l" t="t" r="r" b="b"/>
              <a:pathLst>
                <a:path w="4088377" h="3321003">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bg1"/>
            </a:solidFill>
            <a:ln w="3175">
              <a:solidFill>
                <a:schemeClr val="bg2">
                  <a:lumMod val="75000"/>
                </a:schemeClr>
              </a:solidFill>
            </a:ln>
            <a:effectLst>
              <a:outerShdw blurRad="50800" dist="38100" dir="8100000" sx="97000" sy="97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bg1"/>
                </a:solidFill>
              </a:endParaRPr>
            </a:p>
          </p:txBody>
        </p:sp>
        <p:grpSp>
          <p:nvGrpSpPr>
            <p:cNvPr id="6" name="群組 5">
              <a:extLst>
                <a:ext uri="{FF2B5EF4-FFF2-40B4-BE49-F238E27FC236}">
                  <a16:creationId xmlns:a16="http://schemas.microsoft.com/office/drawing/2014/main" id="{5FAF1D05-89ED-48BE-5B73-26B23A6AA311}"/>
                </a:ext>
              </a:extLst>
            </p:cNvPr>
            <p:cNvGrpSpPr/>
            <p:nvPr/>
          </p:nvGrpSpPr>
          <p:grpSpPr>
            <a:xfrm>
              <a:off x="1727685" y="4270681"/>
              <a:ext cx="324623" cy="168848"/>
              <a:chOff x="2114400" y="4249726"/>
              <a:chExt cx="324623" cy="168848"/>
            </a:xfrm>
          </p:grpSpPr>
          <p:sp>
            <p:nvSpPr>
              <p:cNvPr id="7" name="文字方塊 6">
                <a:extLst>
                  <a:ext uri="{FF2B5EF4-FFF2-40B4-BE49-F238E27FC236}">
                    <a16:creationId xmlns:a16="http://schemas.microsoft.com/office/drawing/2014/main" id="{E24D7AA0-B98F-8FEF-1BA6-B243D04B04C6}"/>
                  </a:ext>
                </a:extLst>
              </p:cNvPr>
              <p:cNvSpPr txBox="1"/>
              <p:nvPr/>
            </p:nvSpPr>
            <p:spPr>
              <a:xfrm>
                <a:off x="2114400" y="4249726"/>
                <a:ext cx="280467" cy="146252"/>
              </a:xfrm>
              <a:prstGeom prst="rect">
                <a:avLst/>
              </a:prstGeom>
              <a:noFill/>
            </p:spPr>
            <p:txBody>
              <a:bodyPr wrap="square" rtlCol="0">
                <a:spAutoFit/>
              </a:bodyPr>
              <a:lstStyle/>
              <a:p>
                <a:r>
                  <a:rPr lang="en-US" altLang="zh-TW" b="1" dirty="0">
                    <a:ln w="3175">
                      <a:solidFill>
                        <a:schemeClr val="bg2">
                          <a:lumMod val="50000"/>
                        </a:schemeClr>
                      </a:solidFill>
                    </a:ln>
                    <a:solidFill>
                      <a:schemeClr val="bg1"/>
                    </a:solidFill>
                    <a:effectLst>
                      <a:innerShdw blurRad="63500" dist="50800" dir="18900000">
                        <a:prstClr val="black">
                          <a:alpha val="50000"/>
                        </a:prstClr>
                      </a:innerShdw>
                    </a:effectLst>
                    <a:latin typeface="Amasis MT Pro Black" panose="020F0502020204030204" pitchFamily="18" charset="0"/>
                    <a:cs typeface="Arial" panose="020B0604020202020204" pitchFamily="34" charset="0"/>
                  </a:rPr>
                  <a:t>FME</a:t>
                </a:r>
                <a:endParaRPr lang="zh-TW" altLang="en-US" b="1" dirty="0">
                  <a:ln w="3175">
                    <a:solidFill>
                      <a:schemeClr val="bg2">
                        <a:lumMod val="50000"/>
                      </a:schemeClr>
                    </a:solidFill>
                  </a:ln>
                  <a:solidFill>
                    <a:schemeClr val="bg1"/>
                  </a:solidFill>
                  <a:effectLst>
                    <a:innerShdw blurRad="63500" dist="50800" dir="18900000">
                      <a:prstClr val="black">
                        <a:alpha val="50000"/>
                      </a:prstClr>
                    </a:innerShdw>
                  </a:effectLst>
                  <a:latin typeface="Amasis MT Pro Black" panose="020F0502020204030204" pitchFamily="18" charset="0"/>
                  <a:cs typeface="Arial" panose="020B0604020202020204" pitchFamily="34" charset="0"/>
                </a:endParaRPr>
              </a:p>
            </p:txBody>
          </p:sp>
          <p:sp>
            <p:nvSpPr>
              <p:cNvPr id="8" name="文字方塊 7">
                <a:extLst>
                  <a:ext uri="{FF2B5EF4-FFF2-40B4-BE49-F238E27FC236}">
                    <a16:creationId xmlns:a16="http://schemas.microsoft.com/office/drawing/2014/main" id="{E0DA0E5E-DFE9-12F2-E6CC-849AF91F4C8A}"/>
                  </a:ext>
                </a:extLst>
              </p:cNvPr>
              <p:cNvSpPr txBox="1"/>
              <p:nvPr/>
            </p:nvSpPr>
            <p:spPr>
              <a:xfrm>
                <a:off x="2131213" y="4333260"/>
                <a:ext cx="307810" cy="85314"/>
              </a:xfrm>
              <a:prstGeom prst="rect">
                <a:avLst/>
              </a:prstGeom>
              <a:noFill/>
            </p:spPr>
            <p:txBody>
              <a:bodyPr wrap="square" rtlCol="0">
                <a:spAutoFit/>
              </a:bodyPr>
              <a:lstStyle/>
              <a:p>
                <a:r>
                  <a:rPr lang="en-US" altLang="zh-TW" sz="800" b="1" dirty="0">
                    <a:ln w="3175">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BG6</a:t>
                </a:r>
                <a:r>
                  <a:rPr lang="zh-TW" altLang="en-US" sz="800" b="1" dirty="0">
                    <a:ln w="3175">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 </a:t>
                </a:r>
                <a:r>
                  <a:rPr lang="en-US" altLang="zh-TW" sz="800" b="1" dirty="0">
                    <a:ln w="0">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PVN</a:t>
                </a:r>
                <a:endParaRPr lang="zh-TW" altLang="en-US" sz="800" b="1" dirty="0">
                  <a:ln w="0">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endParaRPr>
              </a:p>
            </p:txBody>
          </p:sp>
        </p:grpSp>
      </p:grpSp>
      <p:grpSp>
        <p:nvGrpSpPr>
          <p:cNvPr id="43" name="群組 42"/>
          <p:cNvGrpSpPr/>
          <p:nvPr/>
        </p:nvGrpSpPr>
        <p:grpSpPr>
          <a:xfrm>
            <a:off x="195262" y="178409"/>
            <a:ext cx="11801476" cy="588751"/>
            <a:chOff x="195262" y="163202"/>
            <a:chExt cx="11801476" cy="588751"/>
          </a:xfrm>
        </p:grpSpPr>
        <p:sp>
          <p:nvSpPr>
            <p:cNvPr id="44" name="矩形: 圓角 43"/>
            <p:cNvSpPr/>
            <p:nvPr/>
          </p:nvSpPr>
          <p:spPr>
            <a:xfrm>
              <a:off x="195262" y="247970"/>
              <a:ext cx="11801476" cy="419217"/>
            </a:xfrm>
            <a:prstGeom prst="roundRect">
              <a:avLst>
                <a:gd name="adj" fmla="val 40804"/>
              </a:avLst>
            </a:prstGeom>
            <a:gradFill flip="none" rotWithShape="1">
              <a:gsLst>
                <a:gs pos="0">
                  <a:schemeClr val="bg1">
                    <a:lumMod val="95000"/>
                  </a:schemeClr>
                </a:gs>
                <a:gs pos="18000">
                  <a:schemeClr val="tx1">
                    <a:lumMod val="50000"/>
                    <a:lumOff val="50000"/>
                  </a:schemeClr>
                </a:gs>
                <a:gs pos="83000">
                  <a:schemeClr val="tx1">
                    <a:lumMod val="75000"/>
                    <a:lumOff val="25000"/>
                  </a:schemeClr>
                </a:gs>
                <a:gs pos="100000">
                  <a:schemeClr val="tx1">
                    <a:lumMod val="75000"/>
                    <a:lumOff val="25000"/>
                  </a:schemeClr>
                </a:gs>
              </a:gsLst>
              <a:lin ang="0" scaled="1"/>
              <a:tileRect/>
            </a:gra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ysClr val="windowText" lastClr="000000"/>
                </a:solidFill>
                <a:latin typeface="微軟正黑體" panose="020B0604030504040204" pitchFamily="34" charset="-120"/>
                <a:ea typeface="微軟正黑體" panose="020B0604030504040204" pitchFamily="34" charset="-120"/>
              </a:endParaRPr>
            </a:p>
          </p:txBody>
        </p:sp>
        <p:grpSp>
          <p:nvGrpSpPr>
            <p:cNvPr id="45" name="群組 44"/>
            <p:cNvGrpSpPr/>
            <p:nvPr/>
          </p:nvGrpSpPr>
          <p:grpSpPr>
            <a:xfrm>
              <a:off x="600729" y="163202"/>
              <a:ext cx="1038687" cy="588751"/>
              <a:chOff x="1782913" y="2529000"/>
              <a:chExt cx="3121572" cy="1800001"/>
            </a:xfrm>
          </p:grpSpPr>
          <p:sp>
            <p:nvSpPr>
              <p:cNvPr id="48" name="圆角矩形 15"/>
              <p:cNvSpPr/>
              <p:nvPr/>
            </p:nvSpPr>
            <p:spPr>
              <a:xfrm rot="2700000">
                <a:off x="1857839" y="2529000"/>
                <a:ext cx="1800000" cy="1800001"/>
              </a:xfrm>
              <a:prstGeom prst="roundRect">
                <a:avLst/>
              </a:prstGeom>
              <a:solidFill>
                <a:srgbClr val="34B2E4"/>
              </a:solidFill>
              <a:ln>
                <a:noFill/>
              </a:ln>
              <a:effectLst>
                <a:outerShdw blurRad="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ea"/>
                  <a:sym typeface="+mn-lt"/>
                </a:endParaRPr>
              </a:p>
            </p:txBody>
          </p:sp>
          <p:sp>
            <p:nvSpPr>
              <p:cNvPr id="49" name="圆角矩形 16"/>
              <p:cNvSpPr/>
              <p:nvPr/>
            </p:nvSpPr>
            <p:spPr>
              <a:xfrm rot="2700000">
                <a:off x="1782913" y="2529000"/>
                <a:ext cx="1800000" cy="1800000"/>
              </a:xfrm>
              <a:prstGeom prst="roundRect">
                <a:avLst/>
              </a:prstGeom>
              <a:solidFill>
                <a:schemeClr val="bg1"/>
              </a:solidFill>
              <a:ln>
                <a:noFill/>
              </a:ln>
              <a:effectLst>
                <a:outerShdw blurRad="1905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ea"/>
                  <a:sym typeface="+mn-lt"/>
                </a:endParaRPr>
              </a:p>
            </p:txBody>
          </p:sp>
          <p:pic>
            <p:nvPicPr>
              <p:cNvPr id="50" name="圖片 49" descr="一張含有 文字, 輪子, 美工圖案, 齒輪 的圖片&#10;&#10;自動產生的描述"/>
              <p:cNvPicPr>
                <a:picLocks noChangeAspect="1"/>
              </p:cNvPicPr>
              <p:nvPr/>
            </p:nvPicPr>
            <p:blipFill rotWithShape="1">
              <a:blip r:embed="rId2" cstate="print">
                <a:grayscl/>
                <a:extLst>
                  <a:ext uri="{28A0092B-C50C-407E-A947-70E740481C1C}">
                    <a14:useLocalDpi xmlns:a14="http://schemas.microsoft.com/office/drawing/2010/main" val="0"/>
                  </a:ext>
                </a:extLst>
              </a:blip>
              <a:srcRect l="73898"/>
              <a:stretch>
                <a:fillRect/>
              </a:stretch>
            </p:blipFill>
            <p:spPr>
              <a:xfrm rot="5400000">
                <a:off x="3709805" y="2875160"/>
                <a:ext cx="1281680" cy="1107681"/>
              </a:xfrm>
              <a:prstGeom prst="rect">
                <a:avLst/>
              </a:prstGeom>
              <a:noFill/>
              <a:ln>
                <a:noFill/>
              </a:ln>
            </p:spPr>
          </p:pic>
          <p:sp>
            <p:nvSpPr>
              <p:cNvPr id="51" name="矩形 50"/>
              <p:cNvSpPr/>
              <p:nvPr/>
            </p:nvSpPr>
            <p:spPr>
              <a:xfrm>
                <a:off x="1831379" y="2819459"/>
                <a:ext cx="1703069" cy="1337528"/>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1100" b="1" i="0" u="none" strike="noStrike" kern="1200" cap="none" spc="0" normalizeH="0" baseline="0" noProof="0" dirty="0">
                    <a:ln>
                      <a:noFill/>
                    </a:ln>
                    <a:solidFill>
                      <a:srgbClr val="A4A4A4"/>
                    </a:solidFill>
                    <a:effectLst/>
                    <a:uLnTx/>
                    <a:uFillTx/>
                    <a:latin typeface="DengXian" panose="02010600030101010101" pitchFamily="2" charset="-122"/>
                    <a:ea typeface="DengXian" panose="02010600030101010101" pitchFamily="2" charset="-122"/>
                  </a:rPr>
                  <a:t>BG6</a:t>
                </a:r>
              </a:p>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100" b="1" dirty="0">
                    <a:solidFill>
                      <a:srgbClr val="A4A4A4"/>
                    </a:solidFill>
                    <a:latin typeface="DengXian" panose="02010600030101010101" pitchFamily="2" charset="-122"/>
                    <a:ea typeface="DengXian" panose="02010600030101010101" pitchFamily="2" charset="-122"/>
                  </a:rPr>
                  <a:t>PVN</a:t>
                </a:r>
                <a:endParaRPr kumimoji="0" lang="en-US" altLang="zh-TW" sz="1100" b="1" i="0" u="none" strike="noStrike" kern="1200" cap="none" spc="0" normalizeH="0" baseline="0" noProof="0" dirty="0">
                  <a:ln>
                    <a:noFill/>
                  </a:ln>
                  <a:solidFill>
                    <a:srgbClr val="A4A4A4"/>
                  </a:solidFill>
                  <a:effectLst/>
                  <a:uLnTx/>
                  <a:uFillTx/>
                  <a:latin typeface="DengXian" panose="02010600030101010101" pitchFamily="2" charset="-122"/>
                  <a:ea typeface="DengXian" panose="02010600030101010101" pitchFamily="2" charset="-122"/>
                </a:endParaRPr>
              </a:p>
            </p:txBody>
          </p:sp>
        </p:grpSp>
        <p:sp>
          <p:nvSpPr>
            <p:cNvPr id="46" name="文字方塊 45"/>
            <p:cNvSpPr txBox="1"/>
            <p:nvPr/>
          </p:nvSpPr>
          <p:spPr>
            <a:xfrm>
              <a:off x="1604962" y="196222"/>
              <a:ext cx="5431155" cy="521970"/>
            </a:xfrm>
            <a:prstGeom prst="rect">
              <a:avLst/>
            </a:prstGeom>
            <a:noFill/>
          </p:spPr>
          <p:txBody>
            <a:bodyPr wrap="square" rtlCol="0">
              <a:spAutoFit/>
            </a:bodyPr>
            <a:lstStyle>
              <a:defPPr>
                <a:defRPr lang="zh-TW"/>
              </a:defPPr>
              <a:lvl1pPr defTabSz="837565">
                <a:defRPr sz="3200" b="1">
                  <a:solidFill>
                    <a:srgbClr val="2E9CC8"/>
                  </a:solidFill>
                  <a:latin typeface="DengXian" panose="02010600030101010101" pitchFamily="2" charset="-122"/>
                  <a:ea typeface="DengXian" panose="02010600030101010101" pitchFamily="2" charset="-122"/>
                </a:defRPr>
              </a:lvl1pPr>
            </a:lstStyle>
            <a:p>
              <a:r>
                <a:rPr lang="en-US" altLang="zh-TW" sz="2800" dirty="0" smtClean="0">
                  <a:solidFill>
                    <a:schemeClr val="bg1"/>
                  </a:solidFill>
                  <a:latin typeface="微軟正黑體" panose="020B0604030504040204" pitchFamily="34" charset="-120"/>
                  <a:ea typeface="微軟正黑體" panose="020B0604030504040204" pitchFamily="34" charset="-120"/>
                  <a:sym typeface="+mn-ea"/>
                </a:rPr>
                <a:t>2026年度Q1工作成果</a:t>
              </a:r>
              <a:endParaRPr lang="en-US" altLang="zh-TW" sz="2800" dirty="0">
                <a:solidFill>
                  <a:schemeClr val="bg1"/>
                </a:solidFill>
                <a:latin typeface="微軟正黑體" panose="020B0604030504040204" pitchFamily="34" charset="-120"/>
                <a:ea typeface="微軟正黑體" panose="020B0604030504040204" pitchFamily="34" charset="-120"/>
                <a:sym typeface="+mn-ea"/>
              </a:endParaRPr>
            </a:p>
          </p:txBody>
        </p:sp>
      </p:grpSp>
      <p:graphicFrame>
        <p:nvGraphicFramePr>
          <p:cNvPr id="5" name="表格 4">
            <a:extLst>
              <a:ext uri="{FF2B5EF4-FFF2-40B4-BE49-F238E27FC236}">
                <a16:creationId xmlns:a16="http://schemas.microsoft.com/office/drawing/2014/main" id="{7D7ECDC0-7478-1389-3555-719F52C2D9F3}"/>
              </a:ext>
            </a:extLst>
          </p:cNvPr>
          <p:cNvGraphicFramePr>
            <a:graphicFrameLocks noGrp="1"/>
          </p:cNvGraphicFramePr>
          <p:nvPr>
            <p:extLst>
              <p:ext uri="{D42A27DB-BD31-4B8C-83A1-F6EECF244321}">
                <p14:modId xmlns:p14="http://schemas.microsoft.com/office/powerpoint/2010/main" val="1042838762"/>
              </p:ext>
            </p:extLst>
          </p:nvPr>
        </p:nvGraphicFramePr>
        <p:xfrm>
          <a:off x="616856" y="1103004"/>
          <a:ext cx="11077303" cy="5206356"/>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2903630">
                  <a:extLst>
                    <a:ext uri="{9D8B030D-6E8A-4147-A177-3AD203B41FA5}">
                      <a16:colId xmlns:a16="http://schemas.microsoft.com/office/drawing/2014/main" val="3546184672"/>
                    </a:ext>
                  </a:extLst>
                </a:gridCol>
                <a:gridCol w="8173673">
                  <a:extLst>
                    <a:ext uri="{9D8B030D-6E8A-4147-A177-3AD203B41FA5}">
                      <a16:colId xmlns:a16="http://schemas.microsoft.com/office/drawing/2014/main" val="3861677689"/>
                    </a:ext>
                  </a:extLst>
                </a:gridCol>
              </a:tblGrid>
              <a:tr h="578484">
                <a:tc>
                  <a:txBody>
                    <a:bodyPr/>
                    <a:lstStyle/>
                    <a:p>
                      <a:pPr algn="l"/>
                      <a:r>
                        <a:rPr lang="zh-TW" altLang="en-US" sz="2000" dirty="0">
                          <a:latin typeface="微軟正黑體" panose="020B0604030504040204" pitchFamily="34" charset="-120"/>
                          <a:ea typeface="微軟正黑體" panose="020B0604030504040204" pitchFamily="34" charset="-120"/>
                        </a:rPr>
                        <a:t>時間</a:t>
                      </a:r>
                    </a:p>
                  </a:txBody>
                  <a:tcPr anchor="ctr">
                    <a:solidFill>
                      <a:srgbClr val="BA996E">
                        <a:alpha val="70000"/>
                      </a:srgbClr>
                    </a:solidFill>
                  </a:tcPr>
                </a:tc>
                <a:tc>
                  <a:txBody>
                    <a:bodyPr/>
                    <a:lstStyle/>
                    <a:p>
                      <a:pPr algn="l"/>
                      <a:r>
                        <a:rPr lang="zh-TW" altLang="en-US" sz="2000" dirty="0">
                          <a:latin typeface="微軟正黑體" panose="020B0604030504040204" pitchFamily="34" charset="-120"/>
                          <a:ea typeface="微軟正黑體" panose="020B0604030504040204" pitchFamily="34" charset="-120"/>
                        </a:rPr>
                        <a:t>工作成果</a:t>
                      </a:r>
                    </a:p>
                  </a:txBody>
                  <a:tcPr anchor="ctr">
                    <a:solidFill>
                      <a:srgbClr val="BA996E">
                        <a:alpha val="70000"/>
                      </a:srgbClr>
                    </a:solidFill>
                  </a:tcPr>
                </a:tc>
                <a:extLst>
                  <a:ext uri="{0D108BD9-81ED-4DB2-BD59-A6C34878D82A}">
                    <a16:rowId xmlns:a16="http://schemas.microsoft.com/office/drawing/2014/main" val="266302271"/>
                  </a:ext>
                </a:extLst>
              </a:tr>
              <a:tr h="578484">
                <a:tc rowSpan="4">
                  <a:txBody>
                    <a:bodyPr/>
                    <a:lstStyle/>
                    <a:p>
                      <a:pPr algn="ctr"/>
                      <a:r>
                        <a:rPr lang="en-US" altLang="zh-TW" sz="1800" dirty="0">
                          <a:latin typeface="Arial" panose="020B0604020202020204" pitchFamily="34" charset="0"/>
                          <a:cs typeface="Arial" panose="020B0604020202020204" pitchFamily="34" charset="0"/>
                        </a:rPr>
                        <a:t>2025</a:t>
                      </a:r>
                      <a:r>
                        <a:rPr lang="zh-TW" altLang="en-US" sz="1800" dirty="0">
                          <a:latin typeface="Arial" panose="020B0604020202020204" pitchFamily="34" charset="0"/>
                          <a:cs typeface="Arial" panose="020B0604020202020204" pitchFamily="34" charset="0"/>
                        </a:rPr>
                        <a:t> </a:t>
                      </a:r>
                      <a:r>
                        <a:rPr lang="en-US" altLang="zh-TW" sz="1800" dirty="0" smtClean="0">
                          <a:latin typeface="Arial" panose="020B0604020202020204" pitchFamily="34" charset="0"/>
                          <a:cs typeface="Arial" panose="020B0604020202020204" pitchFamily="34" charset="0"/>
                        </a:rPr>
                        <a:t>Q4</a:t>
                      </a:r>
                      <a:endParaRPr lang="zh-TW" altLang="en-US" sz="1800" dirty="0">
                        <a:latin typeface="Arial" panose="020B0604020202020204" pitchFamily="34" charset="0"/>
                        <a:cs typeface="Arial" panose="020B0604020202020204" pitchFamily="34" charset="0"/>
                      </a:endParaRPr>
                    </a:p>
                  </a:txBody>
                  <a:tcPr anchor="ctr">
                    <a:solidFill>
                      <a:schemeClr val="bg1">
                        <a:lumMod val="85000"/>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extLst>
                  <a:ext uri="{0D108BD9-81ED-4DB2-BD59-A6C34878D82A}">
                    <a16:rowId xmlns:a16="http://schemas.microsoft.com/office/drawing/2014/main" val="2426463552"/>
                  </a:ext>
                </a:extLst>
              </a:tr>
              <a:tr h="578484">
                <a:tc vMerge="1">
                  <a:txBody>
                    <a:bodyPr/>
                    <a:lstStyle/>
                    <a:p>
                      <a:pPr algn="ctr"/>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extLst>
                  <a:ext uri="{0D108BD9-81ED-4DB2-BD59-A6C34878D82A}">
                    <a16:rowId xmlns:a16="http://schemas.microsoft.com/office/drawing/2014/main" val="3977970917"/>
                  </a:ext>
                </a:extLst>
              </a:tr>
              <a:tr h="578484">
                <a:tc vMerge="1">
                  <a:txBody>
                    <a:bodyPr/>
                    <a:lstStyle/>
                    <a:p>
                      <a:pPr algn="ctr"/>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extLst>
                  <a:ext uri="{0D108BD9-81ED-4DB2-BD59-A6C34878D82A}">
                    <a16:rowId xmlns:a16="http://schemas.microsoft.com/office/drawing/2014/main" val="4092448663"/>
                  </a:ext>
                </a:extLst>
              </a:tr>
              <a:tr h="578484">
                <a:tc vMerge="1">
                  <a:txBody>
                    <a:bodyPr/>
                    <a:lstStyle/>
                    <a:p>
                      <a:pPr algn="ctr"/>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extLst>
                  <a:ext uri="{0D108BD9-81ED-4DB2-BD59-A6C34878D82A}">
                    <a16:rowId xmlns:a16="http://schemas.microsoft.com/office/drawing/2014/main" val="338032022"/>
                  </a:ext>
                </a:extLst>
              </a:tr>
              <a:tr h="578484">
                <a:tc rowSpan="4">
                  <a:txBody>
                    <a:bodyPr/>
                    <a:lstStyle/>
                    <a:p>
                      <a:pPr algn="ctr"/>
                      <a:r>
                        <a:rPr lang="en-US" altLang="zh-TW" sz="1800" dirty="0" smtClean="0">
                          <a:latin typeface="Arial" panose="020B0604020202020204" pitchFamily="34" charset="0"/>
                          <a:cs typeface="Arial" panose="020B0604020202020204" pitchFamily="34" charset="0"/>
                        </a:rPr>
                        <a:t>2026</a:t>
                      </a:r>
                      <a:r>
                        <a:rPr lang="zh-TW" altLang="en-US" sz="1800" dirty="0" smtClean="0">
                          <a:latin typeface="Arial" panose="020B0604020202020204" pitchFamily="34" charset="0"/>
                          <a:cs typeface="Arial" panose="020B0604020202020204" pitchFamily="34" charset="0"/>
                        </a:rPr>
                        <a:t> </a:t>
                      </a:r>
                      <a:r>
                        <a:rPr lang="en-US" altLang="zh-TW" sz="1800" dirty="0" smtClean="0">
                          <a:latin typeface="Arial" panose="020B0604020202020204" pitchFamily="34" charset="0"/>
                          <a:cs typeface="Arial" panose="020B0604020202020204" pitchFamily="34" charset="0"/>
                        </a:rPr>
                        <a:t>Q1</a:t>
                      </a:r>
                      <a:endParaRPr lang="zh-TW" altLang="en-US" sz="1800" dirty="0">
                        <a:latin typeface="Arial" panose="020B0604020202020204" pitchFamily="34" charset="0"/>
                        <a:cs typeface="Arial" panose="020B0604020202020204" pitchFamily="34" charset="0"/>
                      </a:endParaRPr>
                    </a:p>
                  </a:txBody>
                  <a:tcPr anchor="ctr">
                    <a:solidFill>
                      <a:schemeClr val="bg1">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extLst>
                  <a:ext uri="{0D108BD9-81ED-4DB2-BD59-A6C34878D82A}">
                    <a16:rowId xmlns:a16="http://schemas.microsoft.com/office/drawing/2014/main" val="2965768060"/>
                  </a:ext>
                </a:extLst>
              </a:tr>
              <a:tr h="578484">
                <a:tc vMerge="1">
                  <a:txBody>
                    <a:bodyPr/>
                    <a:lstStyle/>
                    <a:p>
                      <a:pPr algn="ctr"/>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extLst>
                  <a:ext uri="{0D108BD9-81ED-4DB2-BD59-A6C34878D82A}">
                    <a16:rowId xmlns:a16="http://schemas.microsoft.com/office/drawing/2014/main" val="1061757831"/>
                  </a:ext>
                </a:extLst>
              </a:tr>
              <a:tr h="578484">
                <a:tc vMerge="1">
                  <a:txBody>
                    <a:bodyPr/>
                    <a:lstStyle/>
                    <a:p>
                      <a:pPr algn="ctr"/>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extLst>
                  <a:ext uri="{0D108BD9-81ED-4DB2-BD59-A6C34878D82A}">
                    <a16:rowId xmlns:a16="http://schemas.microsoft.com/office/drawing/2014/main" val="2236067214"/>
                  </a:ext>
                </a:extLst>
              </a:tr>
              <a:tr h="578484">
                <a:tc vMerge="1">
                  <a:txBody>
                    <a:bodyPr/>
                    <a:lstStyle/>
                    <a:p>
                      <a:pPr algn="ctr"/>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extLst>
                  <a:ext uri="{0D108BD9-81ED-4DB2-BD59-A6C34878D82A}">
                    <a16:rowId xmlns:a16="http://schemas.microsoft.com/office/drawing/2014/main" val="676521946"/>
                  </a:ext>
                </a:extLst>
              </a:tr>
            </a:tbl>
          </a:graphicData>
        </a:graphic>
      </p:graphicFrame>
      <p:sp>
        <p:nvSpPr>
          <p:cNvPr id="2" name="文字方塊 1">
            <a:extLst>
              <a:ext uri="{FF2B5EF4-FFF2-40B4-BE49-F238E27FC236}">
                <a16:creationId xmlns:a16="http://schemas.microsoft.com/office/drawing/2014/main" id="{10AD9FC6-91F7-4D7A-4063-30E2FC765992}"/>
              </a:ext>
            </a:extLst>
          </p:cNvPr>
          <p:cNvSpPr txBox="1"/>
          <p:nvPr/>
        </p:nvSpPr>
        <p:spPr>
          <a:xfrm>
            <a:off x="2946399" y="3521516"/>
            <a:ext cx="7546110" cy="923330"/>
          </a:xfrm>
          <a:prstGeom prst="rect">
            <a:avLst/>
          </a:prstGeom>
          <a:solidFill>
            <a:schemeClr val="lt1"/>
          </a:solidFill>
          <a:ln w="3175" cap="flat" cmpd="sng" algn="ctr">
            <a:solidFill>
              <a:schemeClr val="bg1">
                <a:lumMod val="50000"/>
              </a:schemeClr>
            </a:solidFill>
            <a:prstDash val="solid"/>
            <a:miter lim="800000"/>
          </a:ln>
          <a:effectLst/>
        </p:spPr>
        <p:style>
          <a:lnRef idx="2">
            <a:schemeClr val="accent1"/>
          </a:lnRef>
          <a:fillRef idx="1">
            <a:schemeClr val="lt1"/>
          </a:fillRef>
          <a:effectRef idx="0">
            <a:schemeClr val="accent1"/>
          </a:effectRef>
          <a:fontRef idx="minor">
            <a:schemeClr val="dk1"/>
          </a:fontRef>
        </p:style>
        <p:txBody>
          <a:bodyPr wrap="square">
            <a:spAutoFit/>
          </a:bodyPr>
          <a:lstStyle/>
          <a:p>
            <a:r>
              <a:rPr lang="zh-TW" altLang="en-US" sz="1800" dirty="0">
                <a:latin typeface="微軟正黑體" panose="020B0604030504040204" pitchFamily="34" charset="-120"/>
                <a:ea typeface="微軟正黑體" panose="020B0604030504040204" pitchFamily="34" charset="-120"/>
              </a:rPr>
              <a:t>是寫成果</a:t>
            </a:r>
            <a:r>
              <a:rPr lang="en-US" altLang="zh-TW" sz="1800" dirty="0">
                <a:latin typeface="微軟正黑體" panose="020B0604030504040204" pitchFamily="34" charset="-120"/>
                <a:ea typeface="微軟正黑體" panose="020B0604030504040204" pitchFamily="34" charset="-120"/>
              </a:rPr>
              <a:t>, </a:t>
            </a:r>
            <a:r>
              <a:rPr lang="zh-TW" altLang="en-US" sz="1800" dirty="0">
                <a:latin typeface="微軟正黑體" panose="020B0604030504040204" pitchFamily="34" charset="-120"/>
                <a:ea typeface="微軟正黑體" panose="020B0604030504040204" pitchFamily="34" charset="-120"/>
              </a:rPr>
              <a:t>不是日常工作的流水帳</a:t>
            </a:r>
            <a:r>
              <a:rPr lang="en-US" altLang="zh-TW" sz="1800" dirty="0">
                <a:latin typeface="微軟正黑體" panose="020B0604030504040204" pitchFamily="34" charset="-120"/>
                <a:ea typeface="微軟正黑體" panose="020B0604030504040204" pitchFamily="34" charset="-120"/>
              </a:rPr>
              <a:t>, </a:t>
            </a:r>
            <a:r>
              <a:rPr lang="zh-TW" altLang="en-US" sz="1800" dirty="0">
                <a:solidFill>
                  <a:srgbClr val="FF0000"/>
                </a:solidFill>
                <a:latin typeface="微軟正黑體" panose="020B0604030504040204" pitchFamily="34" charset="-120"/>
                <a:ea typeface="微軟正黑體" panose="020B0604030504040204" pitchFamily="34" charset="-120"/>
              </a:rPr>
              <a:t>文員</a:t>
            </a:r>
            <a:r>
              <a:rPr lang="en-US" altLang="zh-TW" dirty="0">
                <a:solidFill>
                  <a:srgbClr val="FF0000"/>
                </a:solidFill>
                <a:latin typeface="微軟正黑體" panose="020B0604030504040204" pitchFamily="34" charset="-120"/>
                <a:ea typeface="微軟正黑體" panose="020B0604030504040204" pitchFamily="34" charset="-120"/>
              </a:rPr>
              <a:t>(</a:t>
            </a:r>
            <a:r>
              <a:rPr lang="zh-TW" altLang="en-US" dirty="0">
                <a:solidFill>
                  <a:srgbClr val="FF0000"/>
                </a:solidFill>
                <a:latin typeface="微軟正黑體" panose="020B0604030504040204" pitchFamily="34" charset="-120"/>
                <a:ea typeface="微軟正黑體" panose="020B0604030504040204" pitchFamily="34" charset="-120"/>
              </a:rPr>
              <a:t>不含專案</a:t>
            </a:r>
            <a:r>
              <a:rPr lang="en-US" altLang="zh-TW" dirty="0">
                <a:solidFill>
                  <a:srgbClr val="FF0000"/>
                </a:solidFill>
                <a:latin typeface="微軟正黑體" panose="020B0604030504040204" pitchFamily="34" charset="-120"/>
                <a:ea typeface="微軟正黑體" panose="020B0604030504040204" pitchFamily="34" charset="-120"/>
              </a:rPr>
              <a:t>)</a:t>
            </a:r>
            <a:r>
              <a:rPr lang="zh-TW" altLang="en-US" sz="1800" dirty="0">
                <a:solidFill>
                  <a:srgbClr val="FF0000"/>
                </a:solidFill>
                <a:latin typeface="微軟正黑體" panose="020B0604030504040204" pitchFamily="34" charset="-120"/>
                <a:ea typeface="微軟正黑體" panose="020B0604030504040204" pitchFamily="34" charset="-120"/>
              </a:rPr>
              <a:t>含助理可以寫</a:t>
            </a:r>
            <a:r>
              <a:rPr lang="zh-TW" altLang="en-US" sz="1800" dirty="0" smtClean="0">
                <a:solidFill>
                  <a:srgbClr val="FF0000"/>
                </a:solidFill>
                <a:latin typeface="微軟正黑體" panose="020B0604030504040204" pitchFamily="34" charset="-120"/>
                <a:ea typeface="微軟正黑體" panose="020B0604030504040204" pitchFamily="34" charset="-120"/>
              </a:rPr>
              <a:t>流水帳</a:t>
            </a:r>
            <a:endParaRPr lang="en-US" altLang="zh-TW" sz="1800" dirty="0" smtClean="0">
              <a:solidFill>
                <a:srgbClr val="FF0000"/>
              </a:solidFill>
              <a:latin typeface="微軟正黑體" panose="020B0604030504040204" pitchFamily="34" charset="-120"/>
              <a:ea typeface="微軟正黑體" panose="020B0604030504040204" pitchFamily="34" charset="-120"/>
            </a:endParaRPr>
          </a:p>
          <a:p>
            <a:r>
              <a:rPr lang="en-US" altLang="zh-TW" dirty="0" err="1">
                <a:solidFill>
                  <a:schemeClr val="tx1"/>
                </a:solidFill>
              </a:rPr>
              <a:t>Mục</a:t>
            </a:r>
            <a:r>
              <a:rPr lang="en-US" altLang="zh-TW" dirty="0">
                <a:solidFill>
                  <a:schemeClr val="tx1"/>
                </a:solidFill>
              </a:rPr>
              <a:t> </a:t>
            </a:r>
            <a:r>
              <a:rPr lang="en-US" altLang="zh-TW" dirty="0" err="1">
                <a:solidFill>
                  <a:schemeClr val="tx1"/>
                </a:solidFill>
              </a:rPr>
              <a:t>đích</a:t>
            </a:r>
            <a:r>
              <a:rPr lang="en-US" altLang="zh-TW" dirty="0">
                <a:solidFill>
                  <a:schemeClr val="tx1"/>
                </a:solidFill>
              </a:rPr>
              <a:t> </a:t>
            </a:r>
            <a:r>
              <a:rPr lang="en-US" altLang="zh-TW" dirty="0" err="1">
                <a:solidFill>
                  <a:schemeClr val="tx1"/>
                </a:solidFill>
              </a:rPr>
              <a:t>là</a:t>
            </a:r>
            <a:r>
              <a:rPr lang="en-US" altLang="zh-TW" dirty="0">
                <a:solidFill>
                  <a:schemeClr val="tx1"/>
                </a:solidFill>
              </a:rPr>
              <a:t> </a:t>
            </a:r>
            <a:r>
              <a:rPr lang="en-US" altLang="zh-TW" dirty="0" err="1">
                <a:solidFill>
                  <a:schemeClr val="tx1"/>
                </a:solidFill>
              </a:rPr>
              <a:t>ghi</a:t>
            </a:r>
            <a:r>
              <a:rPr lang="en-US" altLang="zh-TW" dirty="0">
                <a:solidFill>
                  <a:schemeClr val="tx1"/>
                </a:solidFill>
              </a:rPr>
              <a:t> </a:t>
            </a:r>
            <a:r>
              <a:rPr lang="en-US" altLang="zh-TW" dirty="0" err="1">
                <a:solidFill>
                  <a:schemeClr val="tx1"/>
                </a:solidFill>
              </a:rPr>
              <a:t>lại</a:t>
            </a:r>
            <a:r>
              <a:rPr lang="en-US" altLang="zh-TW" dirty="0">
                <a:solidFill>
                  <a:schemeClr val="tx1"/>
                </a:solidFill>
              </a:rPr>
              <a:t> </a:t>
            </a:r>
            <a:r>
              <a:rPr lang="en-US" altLang="zh-TW" dirty="0" err="1">
                <a:solidFill>
                  <a:schemeClr val="tx1"/>
                </a:solidFill>
              </a:rPr>
              <a:t>kết</a:t>
            </a:r>
            <a:r>
              <a:rPr lang="en-US" altLang="zh-TW" dirty="0">
                <a:solidFill>
                  <a:schemeClr val="tx1"/>
                </a:solidFill>
              </a:rPr>
              <a:t> </a:t>
            </a:r>
            <a:r>
              <a:rPr lang="en-US" altLang="zh-TW" dirty="0" err="1">
                <a:solidFill>
                  <a:schemeClr val="tx1"/>
                </a:solidFill>
              </a:rPr>
              <a:t>quả</a:t>
            </a:r>
            <a:r>
              <a:rPr lang="en-US" altLang="zh-TW" dirty="0">
                <a:solidFill>
                  <a:schemeClr val="tx1"/>
                </a:solidFill>
              </a:rPr>
              <a:t>, </a:t>
            </a:r>
            <a:r>
              <a:rPr lang="en-US" altLang="zh-TW" dirty="0" err="1">
                <a:solidFill>
                  <a:schemeClr val="tx1"/>
                </a:solidFill>
              </a:rPr>
              <a:t>không</a:t>
            </a:r>
            <a:r>
              <a:rPr lang="en-US" altLang="zh-TW" dirty="0">
                <a:solidFill>
                  <a:schemeClr val="tx1"/>
                </a:solidFill>
              </a:rPr>
              <a:t> </a:t>
            </a:r>
            <a:r>
              <a:rPr lang="en-US" altLang="zh-TW" dirty="0" err="1">
                <a:solidFill>
                  <a:schemeClr val="tx1"/>
                </a:solidFill>
              </a:rPr>
              <a:t>phải</a:t>
            </a:r>
            <a:r>
              <a:rPr lang="en-US" altLang="zh-TW" dirty="0">
                <a:solidFill>
                  <a:schemeClr val="tx1"/>
                </a:solidFill>
              </a:rPr>
              <a:t> </a:t>
            </a:r>
            <a:r>
              <a:rPr lang="en-US" altLang="zh-TW" dirty="0" err="1">
                <a:solidFill>
                  <a:schemeClr val="tx1"/>
                </a:solidFill>
              </a:rPr>
              <a:t>công</a:t>
            </a:r>
            <a:r>
              <a:rPr lang="en-US" altLang="zh-TW" dirty="0">
                <a:solidFill>
                  <a:schemeClr val="tx1"/>
                </a:solidFill>
              </a:rPr>
              <a:t> </a:t>
            </a:r>
            <a:r>
              <a:rPr lang="en-US" altLang="zh-TW" dirty="0" err="1">
                <a:solidFill>
                  <a:schemeClr val="tx1"/>
                </a:solidFill>
              </a:rPr>
              <a:t>việc</a:t>
            </a:r>
            <a:r>
              <a:rPr lang="en-US" altLang="zh-TW" dirty="0">
                <a:solidFill>
                  <a:schemeClr val="tx1"/>
                </a:solidFill>
              </a:rPr>
              <a:t> </a:t>
            </a:r>
            <a:r>
              <a:rPr lang="en-US" altLang="zh-TW" dirty="0" err="1">
                <a:solidFill>
                  <a:schemeClr val="tx1"/>
                </a:solidFill>
              </a:rPr>
              <a:t>hàng</a:t>
            </a:r>
            <a:r>
              <a:rPr lang="en-US" altLang="zh-TW" dirty="0">
                <a:solidFill>
                  <a:schemeClr val="tx1"/>
                </a:solidFill>
              </a:rPr>
              <a:t> </a:t>
            </a:r>
            <a:r>
              <a:rPr lang="en-US" altLang="zh-TW" dirty="0" err="1">
                <a:solidFill>
                  <a:schemeClr val="tx1"/>
                </a:solidFill>
              </a:rPr>
              <a:t>ngày</a:t>
            </a:r>
            <a:r>
              <a:rPr lang="en-US" altLang="zh-TW" dirty="0">
                <a:solidFill>
                  <a:schemeClr val="tx1"/>
                </a:solidFill>
              </a:rPr>
              <a:t>. </a:t>
            </a:r>
            <a:r>
              <a:rPr lang="en-US" altLang="zh-TW" dirty="0" err="1">
                <a:solidFill>
                  <a:srgbClr val="FF0000"/>
                </a:solidFill>
              </a:rPr>
              <a:t>Nhân</a:t>
            </a:r>
            <a:r>
              <a:rPr lang="en-US" altLang="zh-TW" dirty="0">
                <a:solidFill>
                  <a:srgbClr val="FF0000"/>
                </a:solidFill>
              </a:rPr>
              <a:t> </a:t>
            </a:r>
            <a:r>
              <a:rPr lang="en-US" altLang="zh-TW" dirty="0" err="1">
                <a:solidFill>
                  <a:srgbClr val="FF0000"/>
                </a:solidFill>
              </a:rPr>
              <a:t>viên</a:t>
            </a:r>
            <a:r>
              <a:rPr lang="en-US" altLang="zh-TW" dirty="0">
                <a:solidFill>
                  <a:srgbClr val="FF0000"/>
                </a:solidFill>
              </a:rPr>
              <a:t> </a:t>
            </a:r>
            <a:r>
              <a:rPr lang="en-US" altLang="zh-TW" dirty="0" err="1">
                <a:solidFill>
                  <a:srgbClr val="FF0000"/>
                </a:solidFill>
              </a:rPr>
              <a:t>văn</a:t>
            </a:r>
            <a:r>
              <a:rPr lang="en-US" altLang="zh-TW" dirty="0">
                <a:solidFill>
                  <a:srgbClr val="FF0000"/>
                </a:solidFill>
              </a:rPr>
              <a:t> </a:t>
            </a:r>
            <a:r>
              <a:rPr lang="en-US" altLang="zh-TW" dirty="0" err="1">
                <a:solidFill>
                  <a:srgbClr val="FF0000"/>
                </a:solidFill>
              </a:rPr>
              <a:t>phòng</a:t>
            </a:r>
            <a:r>
              <a:rPr lang="en-US" altLang="zh-TW" dirty="0">
                <a:solidFill>
                  <a:srgbClr val="FF0000"/>
                </a:solidFill>
              </a:rPr>
              <a:t> (</a:t>
            </a:r>
            <a:r>
              <a:rPr lang="en-US" altLang="zh-TW" dirty="0" err="1">
                <a:solidFill>
                  <a:srgbClr val="FF0000"/>
                </a:solidFill>
              </a:rPr>
              <a:t>trừ</a:t>
            </a:r>
            <a:r>
              <a:rPr lang="en-US" altLang="zh-TW" dirty="0">
                <a:solidFill>
                  <a:srgbClr val="FF0000"/>
                </a:solidFill>
              </a:rPr>
              <a:t> APM) </a:t>
            </a:r>
            <a:r>
              <a:rPr lang="en-US" altLang="zh-TW" dirty="0" err="1">
                <a:solidFill>
                  <a:srgbClr val="FF0000"/>
                </a:solidFill>
              </a:rPr>
              <a:t>và</a:t>
            </a:r>
            <a:r>
              <a:rPr lang="en-US" altLang="zh-TW" dirty="0">
                <a:solidFill>
                  <a:srgbClr val="FF0000"/>
                </a:solidFill>
              </a:rPr>
              <a:t> </a:t>
            </a:r>
            <a:r>
              <a:rPr lang="en-US" altLang="zh-TW" dirty="0" err="1">
                <a:solidFill>
                  <a:srgbClr val="FF0000"/>
                </a:solidFill>
              </a:rPr>
              <a:t>trợ</a:t>
            </a:r>
            <a:r>
              <a:rPr lang="en-US" altLang="zh-TW" dirty="0">
                <a:solidFill>
                  <a:srgbClr val="FF0000"/>
                </a:solidFill>
              </a:rPr>
              <a:t> </a:t>
            </a:r>
            <a:r>
              <a:rPr lang="en-US" altLang="zh-TW" dirty="0" err="1">
                <a:solidFill>
                  <a:srgbClr val="FF0000"/>
                </a:solidFill>
              </a:rPr>
              <a:t>lý</a:t>
            </a:r>
            <a:r>
              <a:rPr lang="en-US" altLang="zh-TW" dirty="0">
                <a:solidFill>
                  <a:srgbClr val="FF0000"/>
                </a:solidFill>
              </a:rPr>
              <a:t> </a:t>
            </a:r>
            <a:r>
              <a:rPr lang="en-US" altLang="zh-TW" dirty="0" err="1">
                <a:solidFill>
                  <a:srgbClr val="FF0000"/>
                </a:solidFill>
              </a:rPr>
              <a:t>có</a:t>
            </a:r>
            <a:r>
              <a:rPr lang="en-US" altLang="zh-TW" dirty="0">
                <a:solidFill>
                  <a:srgbClr val="FF0000"/>
                </a:solidFill>
              </a:rPr>
              <a:t> </a:t>
            </a:r>
            <a:r>
              <a:rPr lang="en-US" altLang="zh-TW" dirty="0" err="1">
                <a:solidFill>
                  <a:srgbClr val="FF0000"/>
                </a:solidFill>
              </a:rPr>
              <a:t>thể</a:t>
            </a:r>
            <a:r>
              <a:rPr lang="en-US" altLang="zh-TW" dirty="0">
                <a:solidFill>
                  <a:srgbClr val="FF0000"/>
                </a:solidFill>
              </a:rPr>
              <a:t> </a:t>
            </a:r>
            <a:r>
              <a:rPr lang="en-US" altLang="zh-TW" dirty="0" err="1">
                <a:solidFill>
                  <a:srgbClr val="FF0000"/>
                </a:solidFill>
              </a:rPr>
              <a:t>ghi</a:t>
            </a:r>
            <a:r>
              <a:rPr lang="en-US" altLang="zh-TW" dirty="0">
                <a:solidFill>
                  <a:srgbClr val="FF0000"/>
                </a:solidFill>
              </a:rPr>
              <a:t> </a:t>
            </a:r>
            <a:r>
              <a:rPr lang="en-US" altLang="zh-TW" dirty="0" err="1">
                <a:solidFill>
                  <a:srgbClr val="FF0000"/>
                </a:solidFill>
              </a:rPr>
              <a:t>sổ</a:t>
            </a:r>
            <a:r>
              <a:rPr lang="en-US" altLang="zh-TW" dirty="0">
                <a:solidFill>
                  <a:srgbClr val="FF0000"/>
                </a:solidFill>
              </a:rPr>
              <a:t> </a:t>
            </a:r>
            <a:r>
              <a:rPr lang="en-US" altLang="zh-TW" dirty="0" err="1">
                <a:solidFill>
                  <a:srgbClr val="FF0000"/>
                </a:solidFill>
              </a:rPr>
              <a:t>kế</a:t>
            </a:r>
            <a:r>
              <a:rPr lang="en-US" altLang="zh-TW" dirty="0">
                <a:solidFill>
                  <a:srgbClr val="FF0000"/>
                </a:solidFill>
              </a:rPr>
              <a:t> </a:t>
            </a:r>
            <a:r>
              <a:rPr lang="en-US" altLang="zh-TW" dirty="0" err="1">
                <a:solidFill>
                  <a:srgbClr val="FF0000"/>
                </a:solidFill>
              </a:rPr>
              <a:t>toán</a:t>
            </a:r>
            <a:r>
              <a:rPr lang="en-US" altLang="zh-TW" dirty="0">
                <a:solidFill>
                  <a:srgbClr val="FF0000"/>
                </a:solidFill>
              </a:rPr>
              <a:t> </a:t>
            </a:r>
            <a:r>
              <a:rPr lang="en-US" altLang="zh-TW" dirty="0" err="1">
                <a:solidFill>
                  <a:srgbClr val="FF0000"/>
                </a:solidFill>
              </a:rPr>
              <a:t>hàng</a:t>
            </a:r>
            <a:r>
              <a:rPr lang="en-US" altLang="zh-TW" dirty="0">
                <a:solidFill>
                  <a:srgbClr val="FF0000"/>
                </a:solidFill>
              </a:rPr>
              <a:t> </a:t>
            </a:r>
            <a:r>
              <a:rPr lang="en-US" altLang="zh-TW" dirty="0" err="1">
                <a:solidFill>
                  <a:srgbClr val="FF0000"/>
                </a:solidFill>
              </a:rPr>
              <a:t>ngày</a:t>
            </a:r>
            <a:r>
              <a:rPr lang="en-US" altLang="zh-TW" dirty="0">
                <a:solidFill>
                  <a:srgbClr val="FF0000"/>
                </a:solidFill>
              </a:rPr>
              <a:t>.</a:t>
            </a:r>
            <a:endParaRPr lang="zh-TW" altLang="en-US"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群組 42"/>
          <p:cNvGrpSpPr/>
          <p:nvPr/>
        </p:nvGrpSpPr>
        <p:grpSpPr>
          <a:xfrm>
            <a:off x="195262" y="178409"/>
            <a:ext cx="11801476" cy="588751"/>
            <a:chOff x="195262" y="163202"/>
            <a:chExt cx="11801476" cy="588751"/>
          </a:xfrm>
        </p:grpSpPr>
        <p:sp>
          <p:nvSpPr>
            <p:cNvPr id="44" name="矩形: 圓角 43"/>
            <p:cNvSpPr/>
            <p:nvPr/>
          </p:nvSpPr>
          <p:spPr>
            <a:xfrm>
              <a:off x="195262" y="247970"/>
              <a:ext cx="11801476" cy="419217"/>
            </a:xfrm>
            <a:prstGeom prst="roundRect">
              <a:avLst>
                <a:gd name="adj" fmla="val 40804"/>
              </a:avLst>
            </a:prstGeom>
            <a:gradFill flip="none" rotWithShape="1">
              <a:gsLst>
                <a:gs pos="0">
                  <a:schemeClr val="bg1">
                    <a:lumMod val="95000"/>
                  </a:schemeClr>
                </a:gs>
                <a:gs pos="18000">
                  <a:schemeClr val="tx1">
                    <a:lumMod val="50000"/>
                    <a:lumOff val="50000"/>
                  </a:schemeClr>
                </a:gs>
                <a:gs pos="83000">
                  <a:schemeClr val="tx1">
                    <a:lumMod val="75000"/>
                    <a:lumOff val="25000"/>
                  </a:schemeClr>
                </a:gs>
                <a:gs pos="100000">
                  <a:schemeClr val="tx1">
                    <a:lumMod val="75000"/>
                    <a:lumOff val="25000"/>
                  </a:schemeClr>
                </a:gs>
              </a:gsLst>
              <a:lin ang="0" scaled="1"/>
              <a:tileRect/>
            </a:gra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ysClr val="windowText" lastClr="000000"/>
                </a:solidFill>
                <a:latin typeface="微軟正黑體" panose="020B0604030504040204" pitchFamily="34" charset="-120"/>
                <a:ea typeface="微軟正黑體" panose="020B0604030504040204" pitchFamily="34" charset="-120"/>
              </a:endParaRPr>
            </a:p>
          </p:txBody>
        </p:sp>
        <p:grpSp>
          <p:nvGrpSpPr>
            <p:cNvPr id="45" name="群組 44"/>
            <p:cNvGrpSpPr/>
            <p:nvPr/>
          </p:nvGrpSpPr>
          <p:grpSpPr>
            <a:xfrm>
              <a:off x="600729" y="163202"/>
              <a:ext cx="1038687" cy="588751"/>
              <a:chOff x="1782913" y="2529000"/>
              <a:chExt cx="3121572" cy="1800001"/>
            </a:xfrm>
          </p:grpSpPr>
          <p:sp>
            <p:nvSpPr>
              <p:cNvPr id="48" name="圆角矩形 15"/>
              <p:cNvSpPr/>
              <p:nvPr/>
            </p:nvSpPr>
            <p:spPr>
              <a:xfrm rot="2700000">
                <a:off x="1857839" y="2529000"/>
                <a:ext cx="1800000" cy="1800001"/>
              </a:xfrm>
              <a:prstGeom prst="roundRect">
                <a:avLst/>
              </a:prstGeom>
              <a:solidFill>
                <a:srgbClr val="34B2E4"/>
              </a:solidFill>
              <a:ln>
                <a:noFill/>
              </a:ln>
              <a:effectLst>
                <a:outerShdw blurRad="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ea"/>
                  <a:sym typeface="+mn-lt"/>
                </a:endParaRPr>
              </a:p>
            </p:txBody>
          </p:sp>
          <p:sp>
            <p:nvSpPr>
              <p:cNvPr id="49" name="圆角矩形 16"/>
              <p:cNvSpPr/>
              <p:nvPr/>
            </p:nvSpPr>
            <p:spPr>
              <a:xfrm rot="2700000">
                <a:off x="1782913" y="2529000"/>
                <a:ext cx="1800000" cy="1800000"/>
              </a:xfrm>
              <a:prstGeom prst="roundRect">
                <a:avLst/>
              </a:prstGeom>
              <a:solidFill>
                <a:schemeClr val="bg1"/>
              </a:solidFill>
              <a:ln>
                <a:noFill/>
              </a:ln>
              <a:effectLst>
                <a:outerShdw blurRad="1905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ea"/>
                  <a:sym typeface="+mn-lt"/>
                </a:endParaRPr>
              </a:p>
            </p:txBody>
          </p:sp>
          <p:pic>
            <p:nvPicPr>
              <p:cNvPr id="50" name="圖片 49" descr="一張含有 文字, 輪子, 美工圖案, 齒輪 的圖片&#10;&#10;自動產生的描述"/>
              <p:cNvPicPr>
                <a:picLocks noChangeAspect="1"/>
              </p:cNvPicPr>
              <p:nvPr/>
            </p:nvPicPr>
            <p:blipFill rotWithShape="1">
              <a:blip r:embed="rId2" cstate="print">
                <a:grayscl/>
                <a:extLst>
                  <a:ext uri="{28A0092B-C50C-407E-A947-70E740481C1C}">
                    <a14:useLocalDpi xmlns:a14="http://schemas.microsoft.com/office/drawing/2010/main" val="0"/>
                  </a:ext>
                </a:extLst>
              </a:blip>
              <a:srcRect l="73898"/>
              <a:stretch>
                <a:fillRect/>
              </a:stretch>
            </p:blipFill>
            <p:spPr>
              <a:xfrm rot="5400000">
                <a:off x="3709805" y="2875160"/>
                <a:ext cx="1281680" cy="1107681"/>
              </a:xfrm>
              <a:prstGeom prst="rect">
                <a:avLst/>
              </a:prstGeom>
              <a:noFill/>
              <a:ln>
                <a:noFill/>
              </a:ln>
            </p:spPr>
          </p:pic>
          <p:sp>
            <p:nvSpPr>
              <p:cNvPr id="51" name="矩形 50"/>
              <p:cNvSpPr/>
              <p:nvPr/>
            </p:nvSpPr>
            <p:spPr>
              <a:xfrm>
                <a:off x="1831379" y="2819459"/>
                <a:ext cx="1703069" cy="1337528"/>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1100" b="1" i="0" u="none" strike="noStrike" kern="1200" cap="none" spc="0" normalizeH="0" baseline="0" noProof="0" dirty="0">
                    <a:ln>
                      <a:noFill/>
                    </a:ln>
                    <a:solidFill>
                      <a:srgbClr val="A4A4A4"/>
                    </a:solidFill>
                    <a:effectLst/>
                    <a:uLnTx/>
                    <a:uFillTx/>
                    <a:latin typeface="DengXian" panose="02010600030101010101" pitchFamily="2" charset="-122"/>
                    <a:ea typeface="DengXian" panose="02010600030101010101" pitchFamily="2" charset="-122"/>
                  </a:rPr>
                  <a:t>BG6</a:t>
                </a:r>
              </a:p>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100" b="1" dirty="0">
                    <a:solidFill>
                      <a:srgbClr val="A4A4A4"/>
                    </a:solidFill>
                    <a:latin typeface="DengXian" panose="02010600030101010101" pitchFamily="2" charset="-122"/>
                    <a:ea typeface="DengXian" panose="02010600030101010101" pitchFamily="2" charset="-122"/>
                  </a:rPr>
                  <a:t>PVN</a:t>
                </a:r>
                <a:endParaRPr kumimoji="0" lang="en-US" altLang="zh-TW" sz="1100" b="1" i="0" u="none" strike="noStrike" kern="1200" cap="none" spc="0" normalizeH="0" baseline="0" noProof="0" dirty="0">
                  <a:ln>
                    <a:noFill/>
                  </a:ln>
                  <a:solidFill>
                    <a:srgbClr val="A4A4A4"/>
                  </a:solidFill>
                  <a:effectLst/>
                  <a:uLnTx/>
                  <a:uFillTx/>
                  <a:latin typeface="DengXian" panose="02010600030101010101" pitchFamily="2" charset="-122"/>
                  <a:ea typeface="DengXian" panose="02010600030101010101" pitchFamily="2" charset="-122"/>
                </a:endParaRPr>
              </a:p>
            </p:txBody>
          </p:sp>
        </p:grpSp>
        <p:sp>
          <p:nvSpPr>
            <p:cNvPr id="46" name="文字方塊 45"/>
            <p:cNvSpPr txBox="1"/>
            <p:nvPr/>
          </p:nvSpPr>
          <p:spPr>
            <a:xfrm>
              <a:off x="1604962" y="196222"/>
              <a:ext cx="9835198" cy="523220"/>
            </a:xfrm>
            <a:prstGeom prst="rect">
              <a:avLst/>
            </a:prstGeom>
            <a:noFill/>
          </p:spPr>
          <p:txBody>
            <a:bodyPr wrap="square" rtlCol="0">
              <a:spAutoFit/>
            </a:bodyPr>
            <a:lstStyle>
              <a:defPPr>
                <a:defRPr lang="zh-TW"/>
              </a:defPPr>
              <a:lvl1pPr defTabSz="837565">
                <a:defRPr sz="3200" b="1">
                  <a:solidFill>
                    <a:srgbClr val="2E9CC8"/>
                  </a:solidFill>
                  <a:latin typeface="DengXian" panose="02010600030101010101" pitchFamily="2" charset="-122"/>
                  <a:ea typeface="DengXian" panose="02010600030101010101" pitchFamily="2" charset="-122"/>
                </a:defRPr>
              </a:lvl1pPr>
            </a:lstStyle>
            <a:p>
              <a:r>
                <a:rPr lang="en-US" altLang="zh-TW" sz="2800" dirty="0" err="1">
                  <a:solidFill>
                    <a:schemeClr val="bg1"/>
                  </a:solidFill>
                  <a:latin typeface="微軟正黑體" panose="020B0604030504040204" pitchFamily="34" charset="-120"/>
                  <a:ea typeface="微軟正黑體" panose="020B0604030504040204" pitchFamily="34" charset="-120"/>
                  <a:sym typeface="+mn-ea"/>
                </a:rPr>
                <a:t>工作</a:t>
              </a:r>
              <a:r>
                <a:rPr lang="zh-TW" altLang="en-US" sz="2800" dirty="0">
                  <a:solidFill>
                    <a:schemeClr val="bg1"/>
                  </a:solidFill>
                  <a:latin typeface="微軟正黑體" panose="020B0604030504040204" pitchFamily="34" charset="-120"/>
                  <a:ea typeface="微軟正黑體" panose="020B0604030504040204" pitchFamily="34" charset="-120"/>
                  <a:sym typeface="+mn-ea"/>
                </a:rPr>
                <a:t>成果詳述</a:t>
              </a:r>
              <a:r>
                <a:rPr lang="en-US" altLang="zh-TW" sz="2800" dirty="0">
                  <a:solidFill>
                    <a:schemeClr val="bg1"/>
                  </a:solidFill>
                  <a:latin typeface="微軟正黑體" panose="020B0604030504040204" pitchFamily="34" charset="-120"/>
                  <a:ea typeface="微軟正黑體" panose="020B0604030504040204" pitchFamily="34" charset="-120"/>
                  <a:sym typeface="+mn-ea"/>
                </a:rPr>
                <a:t>(</a:t>
              </a:r>
              <a:r>
                <a:rPr lang="zh-TW" altLang="en-US" sz="2800" dirty="0">
                  <a:solidFill>
                    <a:schemeClr val="bg1"/>
                  </a:solidFill>
                  <a:latin typeface="微軟正黑體" panose="020B0604030504040204" pitchFamily="34" charset="-120"/>
                  <a:ea typeface="微軟正黑體" panose="020B0604030504040204" pitchFamily="34" charset="-120"/>
                  <a:sym typeface="+mn-ea"/>
                </a:rPr>
                <a:t>改善成果</a:t>
              </a:r>
              <a:r>
                <a:rPr lang="en-US" altLang="zh-TW" sz="2800" dirty="0">
                  <a:solidFill>
                    <a:schemeClr val="bg1"/>
                  </a:solidFill>
                  <a:latin typeface="微軟正黑體" panose="020B0604030504040204" pitchFamily="34" charset="-120"/>
                  <a:ea typeface="微軟正黑體" panose="020B0604030504040204" pitchFamily="34" charset="-120"/>
                  <a:sym typeface="+mn-ea"/>
                </a:rPr>
                <a:t>)</a:t>
              </a:r>
            </a:p>
          </p:txBody>
        </p:sp>
      </p:grpSp>
      <p:sp>
        <p:nvSpPr>
          <p:cNvPr id="3" name="文字方塊 2">
            <a:extLst>
              <a:ext uri="{FF2B5EF4-FFF2-40B4-BE49-F238E27FC236}">
                <a16:creationId xmlns:a16="http://schemas.microsoft.com/office/drawing/2014/main" id="{D328E875-E79A-5EBB-F79C-B80CB2FDB665}"/>
              </a:ext>
            </a:extLst>
          </p:cNvPr>
          <p:cNvSpPr txBox="1"/>
          <p:nvPr/>
        </p:nvSpPr>
        <p:spPr>
          <a:xfrm>
            <a:off x="3048000" y="3055035"/>
            <a:ext cx="6096000" cy="2308324"/>
          </a:xfrm>
          <a:prstGeom prst="rect">
            <a:avLst/>
          </a:prstGeom>
          <a:solidFill>
            <a:schemeClr val="lt1"/>
          </a:solidFill>
          <a:ln w="3175" cap="flat" cmpd="sng" algn="ctr">
            <a:solidFill>
              <a:schemeClr val="bg1">
                <a:lumMod val="50000"/>
              </a:schemeClr>
            </a:solidFill>
            <a:prstDash val="solid"/>
            <a:miter lim="800000"/>
          </a:ln>
          <a:effectLst/>
        </p:spPr>
        <p:style>
          <a:lnRef idx="2">
            <a:schemeClr val="accent1"/>
          </a:lnRef>
          <a:fillRef idx="1">
            <a:schemeClr val="lt1"/>
          </a:fillRef>
          <a:effectRef idx="0">
            <a:schemeClr val="accent1"/>
          </a:effectRef>
          <a:fontRef idx="minor">
            <a:schemeClr val="dk1"/>
          </a:fontRef>
        </p:style>
        <p:txBody>
          <a:bodyPr wrap="square">
            <a:spAutoFit/>
          </a:bodyPr>
          <a:lstStyle/>
          <a:p>
            <a:r>
              <a:rPr lang="zh-TW" altLang="en-US" sz="1800" dirty="0">
                <a:solidFill>
                  <a:schemeClr val="tx1"/>
                </a:solidFill>
                <a:latin typeface="微軟正黑體" panose="020B0604030504040204" pitchFamily="34" charset="-120"/>
                <a:ea typeface="微軟正黑體" panose="020B0604030504040204" pitchFamily="34" charset="-120"/>
                <a:sym typeface="+mn-ea"/>
              </a:rPr>
              <a:t>針對上頁的至少兩項成果詳述達到什麼貢獻</a:t>
            </a:r>
            <a:r>
              <a:rPr lang="en-US" altLang="zh-TW" sz="1800" dirty="0">
                <a:solidFill>
                  <a:schemeClr val="tx1"/>
                </a:solidFill>
                <a:latin typeface="微軟正黑體" panose="020B0604030504040204" pitchFamily="34" charset="-120"/>
                <a:ea typeface="微軟正黑體" panose="020B0604030504040204" pitchFamily="34" charset="-120"/>
                <a:sym typeface="+mn-ea"/>
              </a:rPr>
              <a:t>(</a:t>
            </a:r>
            <a:r>
              <a:rPr lang="zh-TW" altLang="en-US" sz="1800" dirty="0">
                <a:solidFill>
                  <a:schemeClr val="tx1"/>
                </a:solidFill>
                <a:latin typeface="微軟正黑體" panose="020B0604030504040204" pitchFamily="34" charset="-120"/>
                <a:ea typeface="微軟正黑體" panose="020B0604030504040204" pitchFamily="34" charset="-120"/>
                <a:sym typeface="+mn-ea"/>
              </a:rPr>
              <a:t>如良率改善</a:t>
            </a:r>
            <a:r>
              <a:rPr lang="en-US" altLang="zh-TW" sz="1800" dirty="0">
                <a:solidFill>
                  <a:schemeClr val="tx1"/>
                </a:solidFill>
                <a:latin typeface="微軟正黑體" panose="020B0604030504040204" pitchFamily="34" charset="-120"/>
                <a:ea typeface="微軟正黑體" panose="020B0604030504040204" pitchFamily="34" charset="-120"/>
                <a:sym typeface="+mn-ea"/>
              </a:rPr>
              <a:t>, UPH</a:t>
            </a:r>
            <a:r>
              <a:rPr lang="zh-TW" altLang="en-US" sz="1800" dirty="0">
                <a:solidFill>
                  <a:schemeClr val="tx1"/>
                </a:solidFill>
                <a:latin typeface="微軟正黑體" panose="020B0604030504040204" pitchFamily="34" charset="-120"/>
                <a:ea typeface="微軟正黑體" panose="020B0604030504040204" pitchFamily="34" charset="-120"/>
                <a:sym typeface="+mn-ea"/>
              </a:rPr>
              <a:t>提升</a:t>
            </a:r>
            <a:r>
              <a:rPr lang="en-US" altLang="zh-TW" sz="1800" dirty="0">
                <a:solidFill>
                  <a:schemeClr val="tx1"/>
                </a:solidFill>
                <a:latin typeface="微軟正黑體" panose="020B0604030504040204" pitchFamily="34" charset="-120"/>
                <a:ea typeface="微軟正黑體" panose="020B0604030504040204" pitchFamily="34" charset="-120"/>
                <a:sym typeface="+mn-ea"/>
              </a:rPr>
              <a:t>,</a:t>
            </a:r>
            <a:r>
              <a:rPr lang="zh-TW" altLang="en-US" sz="1800" dirty="0">
                <a:solidFill>
                  <a:schemeClr val="tx1"/>
                </a:solidFill>
                <a:latin typeface="微軟正黑體" panose="020B0604030504040204" pitchFamily="34" charset="-120"/>
                <a:ea typeface="微軟正黑體" panose="020B0604030504040204" pitchFamily="34" charset="-120"/>
                <a:sym typeface="+mn-ea"/>
              </a:rPr>
              <a:t>組織改善</a:t>
            </a:r>
            <a:r>
              <a:rPr lang="en-US" altLang="zh-TW" sz="1800" dirty="0">
                <a:solidFill>
                  <a:schemeClr val="tx1"/>
                </a:solidFill>
                <a:latin typeface="微軟正黑體" panose="020B0604030504040204" pitchFamily="34" charset="-120"/>
                <a:ea typeface="微軟正黑體" panose="020B0604030504040204" pitchFamily="34" charset="-120"/>
                <a:sym typeface="+mn-ea"/>
              </a:rPr>
              <a:t>, </a:t>
            </a:r>
            <a:r>
              <a:rPr lang="zh-TW" altLang="en-US" sz="1800" dirty="0">
                <a:solidFill>
                  <a:schemeClr val="tx1"/>
                </a:solidFill>
                <a:latin typeface="微軟正黑體" panose="020B0604030504040204" pitchFamily="34" charset="-120"/>
                <a:ea typeface="微軟正黑體" panose="020B0604030504040204" pitchFamily="34" charset="-120"/>
                <a:sym typeface="+mn-ea"/>
              </a:rPr>
              <a:t>省錢</a:t>
            </a:r>
            <a:r>
              <a:rPr lang="en-US" altLang="zh-TW" sz="1800" dirty="0">
                <a:solidFill>
                  <a:schemeClr val="tx1"/>
                </a:solidFill>
                <a:latin typeface="微軟正黑體" panose="020B0604030504040204" pitchFamily="34" charset="-120"/>
                <a:ea typeface="微軟正黑體" panose="020B0604030504040204" pitchFamily="34" charset="-120"/>
                <a:sym typeface="+mn-ea"/>
              </a:rPr>
              <a:t>…</a:t>
            </a:r>
            <a:r>
              <a:rPr lang="zh-TW" altLang="en-US" sz="1800" dirty="0">
                <a:solidFill>
                  <a:schemeClr val="tx1"/>
                </a:solidFill>
                <a:latin typeface="微軟正黑體" panose="020B0604030504040204" pitchFamily="34" charset="-120"/>
                <a:ea typeface="微軟正黑體" panose="020B0604030504040204" pitchFamily="34" charset="-120"/>
                <a:sym typeface="+mn-ea"/>
              </a:rPr>
              <a:t>要詳細內容及數字佐證</a:t>
            </a:r>
            <a:r>
              <a:rPr lang="en-US" altLang="zh-TW" sz="1800" dirty="0">
                <a:solidFill>
                  <a:schemeClr val="tx1"/>
                </a:solidFill>
                <a:latin typeface="微軟正黑體" panose="020B0604030504040204" pitchFamily="34" charset="-120"/>
                <a:ea typeface="微軟正黑體" panose="020B0604030504040204" pitchFamily="34" charset="-120"/>
                <a:sym typeface="+mn-ea"/>
              </a:rPr>
              <a:t>), </a:t>
            </a:r>
            <a:r>
              <a:rPr lang="zh-TW" altLang="en-US" sz="1800" dirty="0">
                <a:solidFill>
                  <a:schemeClr val="tx1"/>
                </a:solidFill>
                <a:latin typeface="微軟正黑體" panose="020B0604030504040204" pitchFamily="34" charset="-120"/>
                <a:ea typeface="微軟正黑體" panose="020B0604030504040204" pitchFamily="34" charset="-120"/>
                <a:sym typeface="+mn-ea"/>
              </a:rPr>
              <a:t>或是有其他建議可以改善的方案</a:t>
            </a:r>
            <a:r>
              <a:rPr lang="en-US" altLang="zh-TW" sz="1800" dirty="0">
                <a:solidFill>
                  <a:schemeClr val="tx1"/>
                </a:solidFill>
                <a:latin typeface="微軟正黑體" panose="020B0604030504040204" pitchFamily="34" charset="-120"/>
                <a:ea typeface="微軟正黑體" panose="020B0604030504040204" pitchFamily="34" charset="-120"/>
                <a:sym typeface="+mn-ea"/>
              </a:rPr>
              <a:t> </a:t>
            </a:r>
            <a:r>
              <a:rPr lang="zh-TW" altLang="en-US" sz="1800" dirty="0">
                <a:solidFill>
                  <a:srgbClr val="FF0000"/>
                </a:solidFill>
                <a:latin typeface="微軟正黑體" panose="020B0604030504040204" pitchFamily="34" charset="-120"/>
                <a:ea typeface="微軟正黑體" panose="020B0604030504040204" pitchFamily="34" charset="-120"/>
                <a:sym typeface="+mn-ea"/>
              </a:rPr>
              <a:t>此頁文員</a:t>
            </a:r>
            <a:r>
              <a:rPr lang="en-US" altLang="zh-TW" dirty="0">
                <a:solidFill>
                  <a:srgbClr val="FF0000"/>
                </a:solidFill>
                <a:latin typeface="微軟正黑體" panose="020B0604030504040204" pitchFamily="34" charset="-120"/>
                <a:ea typeface="微軟正黑體" panose="020B0604030504040204" pitchFamily="34" charset="-120"/>
              </a:rPr>
              <a:t>(</a:t>
            </a:r>
            <a:r>
              <a:rPr lang="zh-TW" altLang="en-US" dirty="0">
                <a:solidFill>
                  <a:srgbClr val="FF0000"/>
                </a:solidFill>
                <a:latin typeface="微軟正黑體" panose="020B0604030504040204" pitchFamily="34" charset="-120"/>
                <a:ea typeface="微軟正黑體" panose="020B0604030504040204" pitchFamily="34" charset="-120"/>
              </a:rPr>
              <a:t>不含專案</a:t>
            </a:r>
            <a:r>
              <a:rPr lang="en-US" altLang="zh-TW" dirty="0">
                <a:solidFill>
                  <a:srgbClr val="FF0000"/>
                </a:solidFill>
                <a:latin typeface="微軟正黑體" panose="020B0604030504040204" pitchFamily="34" charset="-120"/>
                <a:ea typeface="微軟正黑體" panose="020B0604030504040204" pitchFamily="34" charset="-120"/>
              </a:rPr>
              <a:t>)</a:t>
            </a:r>
            <a:r>
              <a:rPr lang="zh-TW" altLang="en-US" sz="1800" dirty="0">
                <a:solidFill>
                  <a:srgbClr val="FF0000"/>
                </a:solidFill>
                <a:latin typeface="微軟正黑體" panose="020B0604030504040204" pitchFamily="34" charset="-120"/>
                <a:ea typeface="微軟正黑體" panose="020B0604030504040204" pitchFamily="34" charset="-120"/>
                <a:sym typeface="+mn-ea"/>
              </a:rPr>
              <a:t>含助理免</a:t>
            </a:r>
            <a:r>
              <a:rPr lang="zh-TW" altLang="en-US" sz="1800" dirty="0" smtClean="0">
                <a:solidFill>
                  <a:srgbClr val="FF0000"/>
                </a:solidFill>
                <a:latin typeface="微軟正黑體" panose="020B0604030504040204" pitchFamily="34" charset="-120"/>
                <a:ea typeface="微軟正黑體" panose="020B0604030504040204" pitchFamily="34" charset="-120"/>
                <a:sym typeface="+mn-ea"/>
              </a:rPr>
              <a:t>寫</a:t>
            </a:r>
            <a:endParaRPr lang="en-US" altLang="zh-TW" sz="1800" dirty="0" smtClean="0">
              <a:solidFill>
                <a:srgbClr val="FF0000"/>
              </a:solidFill>
              <a:latin typeface="微軟正黑體" panose="020B0604030504040204" pitchFamily="34" charset="-120"/>
              <a:ea typeface="微軟正黑體" panose="020B0604030504040204" pitchFamily="34" charset="-120"/>
              <a:sym typeface="+mn-ea"/>
            </a:endParaRPr>
          </a:p>
          <a:p>
            <a:r>
              <a:rPr lang="vi-VN" altLang="zh-TW" dirty="0">
                <a:solidFill>
                  <a:schemeClr val="tx1"/>
                </a:solidFill>
              </a:rPr>
              <a:t>Đối với ít nhất hai thành tích ở trang trước, vui lòng mô tả chi tiết những đóng góp đã đạt được (ví dụ: cải thiện năng suất, tăng UPH, cải thiện tổ chức, tiết kiệm tiền, v.v.) hoặc đưa ra các đề xuất cải tiến khác</a:t>
            </a:r>
            <a:r>
              <a:rPr lang="vi-VN" altLang="zh-TW" dirty="0" smtClean="0">
                <a:solidFill>
                  <a:schemeClr val="tx1"/>
                </a:solidFill>
              </a:rPr>
              <a:t>.</a:t>
            </a:r>
            <a:r>
              <a:rPr lang="zh-TW" altLang="en-US" dirty="0" smtClean="0">
                <a:solidFill>
                  <a:schemeClr val="tx1"/>
                </a:solidFill>
              </a:rPr>
              <a:t> </a:t>
            </a:r>
            <a:r>
              <a:rPr lang="vi-VN" altLang="zh-TW" dirty="0">
                <a:solidFill>
                  <a:srgbClr val="FF0000"/>
                </a:solidFill>
              </a:rPr>
              <a:t>Nhân viên văn phòng này (trừ APM) bao gồm cả trợ lý được miễn viết</a:t>
            </a:r>
            <a:endParaRPr lang="zh-TW" altLang="en-US" dirty="0">
              <a:solidFill>
                <a:srgbClr val="FF0000"/>
              </a:solidFill>
            </a:endParaRPr>
          </a:p>
        </p:txBody>
      </p:sp>
      <p:grpSp>
        <p:nvGrpSpPr>
          <p:cNvPr id="5" name="群組 4">
            <a:extLst>
              <a:ext uri="{FF2B5EF4-FFF2-40B4-BE49-F238E27FC236}">
                <a16:creationId xmlns:a16="http://schemas.microsoft.com/office/drawing/2014/main" id="{E6476685-0E8C-F870-4F9C-608BC479F9B7}"/>
              </a:ext>
            </a:extLst>
          </p:cNvPr>
          <p:cNvGrpSpPr/>
          <p:nvPr/>
        </p:nvGrpSpPr>
        <p:grpSpPr>
          <a:xfrm>
            <a:off x="11145334" y="6021230"/>
            <a:ext cx="1058632" cy="775686"/>
            <a:chOff x="1633100" y="4132365"/>
            <a:chExt cx="419208" cy="307164"/>
          </a:xfrm>
        </p:grpSpPr>
        <p:sp>
          <p:nvSpPr>
            <p:cNvPr id="6" name="Oval 21">
              <a:extLst>
                <a:ext uri="{FF2B5EF4-FFF2-40B4-BE49-F238E27FC236}">
                  <a16:creationId xmlns:a16="http://schemas.microsoft.com/office/drawing/2014/main" id="{5F82B62A-83DA-512C-A3C8-3215F691000E}"/>
                </a:ext>
              </a:extLst>
            </p:cNvPr>
            <p:cNvSpPr/>
            <p:nvPr/>
          </p:nvSpPr>
          <p:spPr>
            <a:xfrm rot="20111049">
              <a:off x="1633100" y="4132365"/>
              <a:ext cx="301450" cy="254502"/>
            </a:xfrm>
            <a:custGeom>
              <a:avLst/>
              <a:gdLst/>
              <a:ahLst/>
              <a:cxnLst/>
              <a:rect l="l" t="t" r="r" b="b"/>
              <a:pathLst>
                <a:path w="4088377" h="3321003">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bg1"/>
            </a:solidFill>
            <a:ln w="3175">
              <a:solidFill>
                <a:schemeClr val="bg2">
                  <a:lumMod val="75000"/>
                </a:schemeClr>
              </a:solidFill>
            </a:ln>
            <a:effectLst>
              <a:outerShdw blurRad="50800" dist="38100" dir="8100000" sx="97000" sy="97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bg1"/>
                </a:solidFill>
              </a:endParaRPr>
            </a:p>
          </p:txBody>
        </p:sp>
        <p:grpSp>
          <p:nvGrpSpPr>
            <p:cNvPr id="7" name="群組 6">
              <a:extLst>
                <a:ext uri="{FF2B5EF4-FFF2-40B4-BE49-F238E27FC236}">
                  <a16:creationId xmlns:a16="http://schemas.microsoft.com/office/drawing/2014/main" id="{B7017BAA-45D0-589B-0393-F15152A3EF6D}"/>
                </a:ext>
              </a:extLst>
            </p:cNvPr>
            <p:cNvGrpSpPr/>
            <p:nvPr/>
          </p:nvGrpSpPr>
          <p:grpSpPr>
            <a:xfrm>
              <a:off x="1727685" y="4270681"/>
              <a:ext cx="324623" cy="168848"/>
              <a:chOff x="2114400" y="4249726"/>
              <a:chExt cx="324623" cy="168848"/>
            </a:xfrm>
          </p:grpSpPr>
          <p:sp>
            <p:nvSpPr>
              <p:cNvPr id="8" name="文字方塊 7">
                <a:extLst>
                  <a:ext uri="{FF2B5EF4-FFF2-40B4-BE49-F238E27FC236}">
                    <a16:creationId xmlns:a16="http://schemas.microsoft.com/office/drawing/2014/main" id="{E5A4CBE8-C86E-D405-7072-71CE5226122E}"/>
                  </a:ext>
                </a:extLst>
              </p:cNvPr>
              <p:cNvSpPr txBox="1"/>
              <p:nvPr/>
            </p:nvSpPr>
            <p:spPr>
              <a:xfrm>
                <a:off x="2114400" y="4249726"/>
                <a:ext cx="280467" cy="146252"/>
              </a:xfrm>
              <a:prstGeom prst="rect">
                <a:avLst/>
              </a:prstGeom>
              <a:noFill/>
            </p:spPr>
            <p:txBody>
              <a:bodyPr wrap="square" rtlCol="0">
                <a:spAutoFit/>
              </a:bodyPr>
              <a:lstStyle/>
              <a:p>
                <a:r>
                  <a:rPr lang="en-US" altLang="zh-TW" b="1" dirty="0">
                    <a:ln w="3175">
                      <a:solidFill>
                        <a:schemeClr val="bg2">
                          <a:lumMod val="50000"/>
                        </a:schemeClr>
                      </a:solidFill>
                    </a:ln>
                    <a:solidFill>
                      <a:schemeClr val="bg1"/>
                    </a:solidFill>
                    <a:effectLst>
                      <a:innerShdw blurRad="63500" dist="50800" dir="18900000">
                        <a:prstClr val="black">
                          <a:alpha val="50000"/>
                        </a:prstClr>
                      </a:innerShdw>
                    </a:effectLst>
                    <a:latin typeface="Amasis MT Pro Black" panose="020F0502020204030204" pitchFamily="18" charset="0"/>
                    <a:cs typeface="Arial" panose="020B0604020202020204" pitchFamily="34" charset="0"/>
                  </a:rPr>
                  <a:t>FME</a:t>
                </a:r>
                <a:endParaRPr lang="zh-TW" altLang="en-US" b="1" dirty="0">
                  <a:ln w="3175">
                    <a:solidFill>
                      <a:schemeClr val="bg2">
                        <a:lumMod val="50000"/>
                      </a:schemeClr>
                    </a:solidFill>
                  </a:ln>
                  <a:solidFill>
                    <a:schemeClr val="bg1"/>
                  </a:solidFill>
                  <a:effectLst>
                    <a:innerShdw blurRad="63500" dist="50800" dir="18900000">
                      <a:prstClr val="black">
                        <a:alpha val="50000"/>
                      </a:prstClr>
                    </a:innerShdw>
                  </a:effectLst>
                  <a:latin typeface="Amasis MT Pro Black" panose="020F0502020204030204" pitchFamily="18" charset="0"/>
                  <a:cs typeface="Arial" panose="020B0604020202020204" pitchFamily="34" charset="0"/>
                </a:endParaRPr>
              </a:p>
            </p:txBody>
          </p:sp>
          <p:sp>
            <p:nvSpPr>
              <p:cNvPr id="9" name="文字方塊 8">
                <a:extLst>
                  <a:ext uri="{FF2B5EF4-FFF2-40B4-BE49-F238E27FC236}">
                    <a16:creationId xmlns:a16="http://schemas.microsoft.com/office/drawing/2014/main" id="{39E0587B-810D-1DEA-6B31-75D48683B90D}"/>
                  </a:ext>
                </a:extLst>
              </p:cNvPr>
              <p:cNvSpPr txBox="1"/>
              <p:nvPr/>
            </p:nvSpPr>
            <p:spPr>
              <a:xfrm>
                <a:off x="2131213" y="4333260"/>
                <a:ext cx="307810" cy="85314"/>
              </a:xfrm>
              <a:prstGeom prst="rect">
                <a:avLst/>
              </a:prstGeom>
              <a:noFill/>
            </p:spPr>
            <p:txBody>
              <a:bodyPr wrap="square" rtlCol="0">
                <a:spAutoFit/>
              </a:bodyPr>
              <a:lstStyle/>
              <a:p>
                <a:r>
                  <a:rPr lang="en-US" altLang="zh-TW" sz="800" b="1" dirty="0">
                    <a:ln w="3175">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BG6</a:t>
                </a:r>
                <a:r>
                  <a:rPr lang="zh-TW" altLang="en-US" sz="800" b="1" dirty="0">
                    <a:ln w="3175">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 </a:t>
                </a:r>
                <a:r>
                  <a:rPr lang="en-US" altLang="zh-TW" sz="800" b="1" dirty="0">
                    <a:ln w="0">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PVN</a:t>
                </a:r>
                <a:endParaRPr lang="zh-TW" altLang="en-US" sz="800" b="1" dirty="0">
                  <a:ln w="0">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endParaRPr>
              </a:p>
            </p:txBody>
          </p:sp>
        </p:grpSp>
      </p:grpSp>
    </p:spTree>
    <p:extLst>
      <p:ext uri="{BB962C8B-B14F-4D97-AF65-F5344CB8AC3E}">
        <p14:creationId xmlns:p14="http://schemas.microsoft.com/office/powerpoint/2010/main" val="15319780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AE814-C8CC-1B29-A1B3-89CA10D6C2D8}"/>
            </a:ext>
          </a:extLst>
        </p:cNvPr>
        <p:cNvGrpSpPr/>
        <p:nvPr/>
      </p:nvGrpSpPr>
      <p:grpSpPr>
        <a:xfrm>
          <a:off x="0" y="0"/>
          <a:ext cx="0" cy="0"/>
          <a:chOff x="0" y="0"/>
          <a:chExt cx="0" cy="0"/>
        </a:xfrm>
      </p:grpSpPr>
      <p:grpSp>
        <p:nvGrpSpPr>
          <p:cNvPr id="43" name="群組 42">
            <a:extLst>
              <a:ext uri="{FF2B5EF4-FFF2-40B4-BE49-F238E27FC236}">
                <a16:creationId xmlns:a16="http://schemas.microsoft.com/office/drawing/2014/main" id="{16C28EAE-56F2-C84F-AAB9-0B8EFA8B46C4}"/>
              </a:ext>
            </a:extLst>
          </p:cNvPr>
          <p:cNvGrpSpPr/>
          <p:nvPr/>
        </p:nvGrpSpPr>
        <p:grpSpPr>
          <a:xfrm>
            <a:off x="195262" y="178409"/>
            <a:ext cx="11801476" cy="588751"/>
            <a:chOff x="195262" y="163202"/>
            <a:chExt cx="11801476" cy="588751"/>
          </a:xfrm>
        </p:grpSpPr>
        <p:sp>
          <p:nvSpPr>
            <p:cNvPr id="44" name="矩形: 圓角 43">
              <a:extLst>
                <a:ext uri="{FF2B5EF4-FFF2-40B4-BE49-F238E27FC236}">
                  <a16:creationId xmlns:a16="http://schemas.microsoft.com/office/drawing/2014/main" id="{F56DA744-C7C5-44B1-A99E-22EB4816F6A7}"/>
                </a:ext>
              </a:extLst>
            </p:cNvPr>
            <p:cNvSpPr/>
            <p:nvPr/>
          </p:nvSpPr>
          <p:spPr>
            <a:xfrm>
              <a:off x="195262" y="247970"/>
              <a:ext cx="11801476" cy="419217"/>
            </a:xfrm>
            <a:prstGeom prst="roundRect">
              <a:avLst>
                <a:gd name="adj" fmla="val 40804"/>
              </a:avLst>
            </a:prstGeom>
            <a:gradFill flip="none" rotWithShape="1">
              <a:gsLst>
                <a:gs pos="0">
                  <a:schemeClr val="bg1">
                    <a:lumMod val="95000"/>
                  </a:schemeClr>
                </a:gs>
                <a:gs pos="18000">
                  <a:schemeClr val="tx1">
                    <a:lumMod val="50000"/>
                    <a:lumOff val="50000"/>
                  </a:schemeClr>
                </a:gs>
                <a:gs pos="83000">
                  <a:schemeClr val="tx1">
                    <a:lumMod val="75000"/>
                    <a:lumOff val="25000"/>
                  </a:schemeClr>
                </a:gs>
                <a:gs pos="100000">
                  <a:schemeClr val="tx1">
                    <a:lumMod val="75000"/>
                    <a:lumOff val="25000"/>
                  </a:schemeClr>
                </a:gs>
              </a:gsLst>
              <a:lin ang="0" scaled="1"/>
              <a:tileRect/>
            </a:gra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ysClr val="windowText" lastClr="000000"/>
                </a:solidFill>
                <a:latin typeface="微軟正黑體" panose="020B0604030504040204" pitchFamily="34" charset="-120"/>
                <a:ea typeface="微軟正黑體" panose="020B0604030504040204" pitchFamily="34" charset="-120"/>
              </a:endParaRPr>
            </a:p>
          </p:txBody>
        </p:sp>
        <p:grpSp>
          <p:nvGrpSpPr>
            <p:cNvPr id="45" name="群組 44">
              <a:extLst>
                <a:ext uri="{FF2B5EF4-FFF2-40B4-BE49-F238E27FC236}">
                  <a16:creationId xmlns:a16="http://schemas.microsoft.com/office/drawing/2014/main" id="{728E927A-F9BC-4A8C-7E90-792F2B11FF1A}"/>
                </a:ext>
              </a:extLst>
            </p:cNvPr>
            <p:cNvGrpSpPr/>
            <p:nvPr/>
          </p:nvGrpSpPr>
          <p:grpSpPr>
            <a:xfrm>
              <a:off x="600729" y="163202"/>
              <a:ext cx="1038687" cy="588751"/>
              <a:chOff x="1782913" y="2529000"/>
              <a:chExt cx="3121572" cy="1800001"/>
            </a:xfrm>
          </p:grpSpPr>
          <p:sp>
            <p:nvSpPr>
              <p:cNvPr id="48" name="圆角矩形 15">
                <a:extLst>
                  <a:ext uri="{FF2B5EF4-FFF2-40B4-BE49-F238E27FC236}">
                    <a16:creationId xmlns:a16="http://schemas.microsoft.com/office/drawing/2014/main" id="{EAA60DBE-77B7-95E3-848E-3AC9AAC60DFD}"/>
                  </a:ext>
                </a:extLst>
              </p:cNvPr>
              <p:cNvSpPr/>
              <p:nvPr/>
            </p:nvSpPr>
            <p:spPr>
              <a:xfrm rot="2700000">
                <a:off x="1857839" y="2529000"/>
                <a:ext cx="1800000" cy="1800001"/>
              </a:xfrm>
              <a:prstGeom prst="roundRect">
                <a:avLst/>
              </a:prstGeom>
              <a:solidFill>
                <a:srgbClr val="34B2E4"/>
              </a:solidFill>
              <a:ln>
                <a:noFill/>
              </a:ln>
              <a:effectLst>
                <a:outerShdw blurRad="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ea"/>
                  <a:sym typeface="+mn-lt"/>
                </a:endParaRPr>
              </a:p>
            </p:txBody>
          </p:sp>
          <p:sp>
            <p:nvSpPr>
              <p:cNvPr id="49" name="圆角矩形 16">
                <a:extLst>
                  <a:ext uri="{FF2B5EF4-FFF2-40B4-BE49-F238E27FC236}">
                    <a16:creationId xmlns:a16="http://schemas.microsoft.com/office/drawing/2014/main" id="{DCCBFAAD-D77C-FE4E-3320-9A3E4F894916}"/>
                  </a:ext>
                </a:extLst>
              </p:cNvPr>
              <p:cNvSpPr/>
              <p:nvPr/>
            </p:nvSpPr>
            <p:spPr>
              <a:xfrm rot="2700000">
                <a:off x="1782913" y="2529000"/>
                <a:ext cx="1800000" cy="1800000"/>
              </a:xfrm>
              <a:prstGeom prst="roundRect">
                <a:avLst/>
              </a:prstGeom>
              <a:solidFill>
                <a:schemeClr val="bg1"/>
              </a:solidFill>
              <a:ln>
                <a:noFill/>
              </a:ln>
              <a:effectLst>
                <a:outerShdw blurRad="1905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ea"/>
                  <a:sym typeface="+mn-lt"/>
                </a:endParaRPr>
              </a:p>
            </p:txBody>
          </p:sp>
          <p:pic>
            <p:nvPicPr>
              <p:cNvPr id="50" name="圖片 49" descr="一張含有 文字, 輪子, 美工圖案, 齒輪 的圖片&#10;&#10;自動產生的描述">
                <a:extLst>
                  <a:ext uri="{FF2B5EF4-FFF2-40B4-BE49-F238E27FC236}">
                    <a16:creationId xmlns:a16="http://schemas.microsoft.com/office/drawing/2014/main" id="{A7F544AF-FAAC-7557-C76C-9A0FC2AC4D99}"/>
                  </a:ext>
                </a:extLst>
              </p:cNvPr>
              <p:cNvPicPr>
                <a:picLocks noChangeAspect="1"/>
              </p:cNvPicPr>
              <p:nvPr/>
            </p:nvPicPr>
            <p:blipFill rotWithShape="1">
              <a:blip r:embed="rId2" cstate="print">
                <a:grayscl/>
                <a:extLst>
                  <a:ext uri="{28A0092B-C50C-407E-A947-70E740481C1C}">
                    <a14:useLocalDpi xmlns:a14="http://schemas.microsoft.com/office/drawing/2010/main" val="0"/>
                  </a:ext>
                </a:extLst>
              </a:blip>
              <a:srcRect l="73898"/>
              <a:stretch>
                <a:fillRect/>
              </a:stretch>
            </p:blipFill>
            <p:spPr>
              <a:xfrm rot="5400000">
                <a:off x="3709805" y="2875160"/>
                <a:ext cx="1281680" cy="1107681"/>
              </a:xfrm>
              <a:prstGeom prst="rect">
                <a:avLst/>
              </a:prstGeom>
              <a:noFill/>
              <a:ln>
                <a:noFill/>
              </a:ln>
            </p:spPr>
          </p:pic>
          <p:sp>
            <p:nvSpPr>
              <p:cNvPr id="51" name="矩形 50">
                <a:extLst>
                  <a:ext uri="{FF2B5EF4-FFF2-40B4-BE49-F238E27FC236}">
                    <a16:creationId xmlns:a16="http://schemas.microsoft.com/office/drawing/2014/main" id="{DB1F7818-0CE2-302A-0BD0-EB40AD162369}"/>
                  </a:ext>
                </a:extLst>
              </p:cNvPr>
              <p:cNvSpPr/>
              <p:nvPr/>
            </p:nvSpPr>
            <p:spPr>
              <a:xfrm>
                <a:off x="1831379" y="2819459"/>
                <a:ext cx="1703069" cy="1337528"/>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1100" b="1" i="0" u="none" strike="noStrike" kern="1200" cap="none" spc="0" normalizeH="0" baseline="0" noProof="0" dirty="0">
                    <a:ln>
                      <a:noFill/>
                    </a:ln>
                    <a:solidFill>
                      <a:srgbClr val="A4A4A4"/>
                    </a:solidFill>
                    <a:effectLst/>
                    <a:uLnTx/>
                    <a:uFillTx/>
                    <a:latin typeface="DengXian" panose="02010600030101010101" pitchFamily="2" charset="-122"/>
                    <a:ea typeface="DengXian" panose="02010600030101010101" pitchFamily="2" charset="-122"/>
                  </a:rPr>
                  <a:t>BG6</a:t>
                </a:r>
              </a:p>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100" b="1" dirty="0">
                    <a:solidFill>
                      <a:srgbClr val="A4A4A4"/>
                    </a:solidFill>
                    <a:latin typeface="DengXian" panose="02010600030101010101" pitchFamily="2" charset="-122"/>
                    <a:ea typeface="DengXian" panose="02010600030101010101" pitchFamily="2" charset="-122"/>
                  </a:rPr>
                  <a:t>PVN</a:t>
                </a:r>
                <a:endParaRPr kumimoji="0" lang="en-US" altLang="zh-TW" sz="1100" b="1" i="0" u="none" strike="noStrike" kern="1200" cap="none" spc="0" normalizeH="0" baseline="0" noProof="0" dirty="0">
                  <a:ln>
                    <a:noFill/>
                  </a:ln>
                  <a:solidFill>
                    <a:srgbClr val="A4A4A4"/>
                  </a:solidFill>
                  <a:effectLst/>
                  <a:uLnTx/>
                  <a:uFillTx/>
                  <a:latin typeface="DengXian" panose="02010600030101010101" pitchFamily="2" charset="-122"/>
                  <a:ea typeface="DengXian" panose="02010600030101010101" pitchFamily="2" charset="-122"/>
                </a:endParaRPr>
              </a:p>
            </p:txBody>
          </p:sp>
        </p:grpSp>
        <p:sp>
          <p:nvSpPr>
            <p:cNvPr id="46" name="文字方塊 45">
              <a:extLst>
                <a:ext uri="{FF2B5EF4-FFF2-40B4-BE49-F238E27FC236}">
                  <a16:creationId xmlns:a16="http://schemas.microsoft.com/office/drawing/2014/main" id="{5DBD8CE8-C6A2-E5AB-11EC-1C88795B3ECA}"/>
                </a:ext>
              </a:extLst>
            </p:cNvPr>
            <p:cNvSpPr txBox="1"/>
            <p:nvPr/>
          </p:nvSpPr>
          <p:spPr>
            <a:xfrm>
              <a:off x="1604962" y="196222"/>
              <a:ext cx="6675438" cy="523220"/>
            </a:xfrm>
            <a:prstGeom prst="rect">
              <a:avLst/>
            </a:prstGeom>
            <a:noFill/>
          </p:spPr>
          <p:txBody>
            <a:bodyPr wrap="square" rtlCol="0">
              <a:spAutoFit/>
            </a:bodyPr>
            <a:lstStyle>
              <a:defPPr>
                <a:defRPr lang="zh-TW"/>
              </a:defPPr>
              <a:lvl1pPr defTabSz="837565">
                <a:defRPr sz="3200" b="1">
                  <a:solidFill>
                    <a:srgbClr val="2E9CC8"/>
                  </a:solidFill>
                  <a:latin typeface="DengXian" panose="02010600030101010101" pitchFamily="2" charset="-122"/>
                  <a:ea typeface="DengXian" panose="02010600030101010101" pitchFamily="2" charset="-122"/>
                </a:defRPr>
              </a:lvl1pPr>
            </a:lstStyle>
            <a:p>
              <a:r>
                <a:rPr lang="zh-TW" altLang="en-US" sz="2800" dirty="0">
                  <a:solidFill>
                    <a:schemeClr val="bg1"/>
                  </a:solidFill>
                  <a:latin typeface="微軟正黑體" panose="020B0604030504040204" pitchFamily="34" charset="-120"/>
                  <a:ea typeface="微軟正黑體" panose="020B0604030504040204" pitchFamily="34" charset="-120"/>
                  <a:sym typeface="+mn-ea"/>
                </a:rPr>
                <a:t>自我評價</a:t>
              </a:r>
              <a:r>
                <a:rPr lang="en-US" altLang="zh-TW" sz="2800" dirty="0">
                  <a:solidFill>
                    <a:schemeClr val="bg1"/>
                  </a:solidFill>
                  <a:latin typeface="微軟正黑體" panose="020B0604030504040204" pitchFamily="34" charset="-120"/>
                  <a:ea typeface="微軟正黑體" panose="020B0604030504040204" pitchFamily="34" charset="-120"/>
                  <a:sym typeface="+mn-ea"/>
                </a:rPr>
                <a:t>-29</a:t>
              </a:r>
              <a:r>
                <a:rPr lang="zh-TW" altLang="en-US" sz="2800" dirty="0">
                  <a:solidFill>
                    <a:schemeClr val="bg1"/>
                  </a:solidFill>
                  <a:latin typeface="微軟正黑體" panose="020B0604030504040204" pitchFamily="34" charset="-120"/>
                  <a:ea typeface="微軟正黑體" panose="020B0604030504040204" pitchFamily="34" charset="-120"/>
                  <a:sym typeface="+mn-ea"/>
                </a:rPr>
                <a:t>職等以上自評</a:t>
              </a:r>
              <a:r>
                <a:rPr lang="en-US" altLang="zh-TW" sz="2800" dirty="0">
                  <a:solidFill>
                    <a:schemeClr val="bg1"/>
                  </a:solidFill>
                  <a:latin typeface="微軟正黑體" panose="020B0604030504040204" pitchFamily="34" charset="-120"/>
                  <a:ea typeface="微軟正黑體" panose="020B0604030504040204" pitchFamily="34" charset="-120"/>
                  <a:sym typeface="+mn-ea"/>
                </a:rPr>
                <a:t>(1-10)</a:t>
              </a:r>
            </a:p>
          </p:txBody>
        </p:sp>
      </p:grpSp>
      <p:grpSp>
        <p:nvGrpSpPr>
          <p:cNvPr id="7" name="群組 6">
            <a:extLst>
              <a:ext uri="{FF2B5EF4-FFF2-40B4-BE49-F238E27FC236}">
                <a16:creationId xmlns:a16="http://schemas.microsoft.com/office/drawing/2014/main" id="{E8A2E610-9033-711C-22DA-D07E6BA485B3}"/>
              </a:ext>
            </a:extLst>
          </p:cNvPr>
          <p:cNvGrpSpPr/>
          <p:nvPr/>
        </p:nvGrpSpPr>
        <p:grpSpPr>
          <a:xfrm>
            <a:off x="11145334" y="6021230"/>
            <a:ext cx="1058632" cy="775686"/>
            <a:chOff x="1633100" y="4132365"/>
            <a:chExt cx="419208" cy="307164"/>
          </a:xfrm>
        </p:grpSpPr>
        <p:sp>
          <p:nvSpPr>
            <p:cNvPr id="8" name="Oval 21">
              <a:extLst>
                <a:ext uri="{FF2B5EF4-FFF2-40B4-BE49-F238E27FC236}">
                  <a16:creationId xmlns:a16="http://schemas.microsoft.com/office/drawing/2014/main" id="{6CD05818-5A8F-25DD-3A84-5E6A91EFB560}"/>
                </a:ext>
              </a:extLst>
            </p:cNvPr>
            <p:cNvSpPr/>
            <p:nvPr/>
          </p:nvSpPr>
          <p:spPr>
            <a:xfrm rot="20111049">
              <a:off x="1633100" y="4132365"/>
              <a:ext cx="301450" cy="254502"/>
            </a:xfrm>
            <a:custGeom>
              <a:avLst/>
              <a:gdLst/>
              <a:ahLst/>
              <a:cxnLst/>
              <a:rect l="l" t="t" r="r" b="b"/>
              <a:pathLst>
                <a:path w="4088377" h="3321003">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bg1"/>
            </a:solidFill>
            <a:ln w="3175">
              <a:solidFill>
                <a:schemeClr val="bg2">
                  <a:lumMod val="75000"/>
                </a:schemeClr>
              </a:solidFill>
            </a:ln>
            <a:effectLst>
              <a:outerShdw blurRad="50800" dist="38100" dir="8100000" sx="97000" sy="97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bg1"/>
                </a:solidFill>
              </a:endParaRPr>
            </a:p>
          </p:txBody>
        </p:sp>
        <p:grpSp>
          <p:nvGrpSpPr>
            <p:cNvPr id="9" name="群組 8">
              <a:extLst>
                <a:ext uri="{FF2B5EF4-FFF2-40B4-BE49-F238E27FC236}">
                  <a16:creationId xmlns:a16="http://schemas.microsoft.com/office/drawing/2014/main" id="{7AAE9357-BB64-A608-05A7-00D8EED9AC64}"/>
                </a:ext>
              </a:extLst>
            </p:cNvPr>
            <p:cNvGrpSpPr/>
            <p:nvPr/>
          </p:nvGrpSpPr>
          <p:grpSpPr>
            <a:xfrm>
              <a:off x="1727685" y="4270681"/>
              <a:ext cx="324623" cy="168848"/>
              <a:chOff x="2114400" y="4249726"/>
              <a:chExt cx="324623" cy="168848"/>
            </a:xfrm>
          </p:grpSpPr>
          <p:sp>
            <p:nvSpPr>
              <p:cNvPr id="10" name="文字方塊 9">
                <a:extLst>
                  <a:ext uri="{FF2B5EF4-FFF2-40B4-BE49-F238E27FC236}">
                    <a16:creationId xmlns:a16="http://schemas.microsoft.com/office/drawing/2014/main" id="{EC47DFCE-30A2-9338-59B2-23F78A694EFE}"/>
                  </a:ext>
                </a:extLst>
              </p:cNvPr>
              <p:cNvSpPr txBox="1"/>
              <p:nvPr/>
            </p:nvSpPr>
            <p:spPr>
              <a:xfrm>
                <a:off x="2114400" y="4249726"/>
                <a:ext cx="280467" cy="146252"/>
              </a:xfrm>
              <a:prstGeom prst="rect">
                <a:avLst/>
              </a:prstGeom>
              <a:noFill/>
            </p:spPr>
            <p:txBody>
              <a:bodyPr wrap="square" rtlCol="0">
                <a:spAutoFit/>
              </a:bodyPr>
              <a:lstStyle/>
              <a:p>
                <a:r>
                  <a:rPr lang="en-US" altLang="zh-TW" b="1" dirty="0">
                    <a:ln w="3175">
                      <a:solidFill>
                        <a:schemeClr val="bg2">
                          <a:lumMod val="50000"/>
                        </a:schemeClr>
                      </a:solidFill>
                    </a:ln>
                    <a:solidFill>
                      <a:schemeClr val="bg1"/>
                    </a:solidFill>
                    <a:effectLst>
                      <a:innerShdw blurRad="63500" dist="50800" dir="18900000">
                        <a:prstClr val="black">
                          <a:alpha val="50000"/>
                        </a:prstClr>
                      </a:innerShdw>
                    </a:effectLst>
                    <a:latin typeface="Amasis MT Pro Black" panose="020F0502020204030204" pitchFamily="18" charset="0"/>
                    <a:cs typeface="Arial" panose="020B0604020202020204" pitchFamily="34" charset="0"/>
                  </a:rPr>
                  <a:t>FME</a:t>
                </a:r>
                <a:endParaRPr lang="zh-TW" altLang="en-US" b="1" dirty="0">
                  <a:ln w="3175">
                    <a:solidFill>
                      <a:schemeClr val="bg2">
                        <a:lumMod val="50000"/>
                      </a:schemeClr>
                    </a:solidFill>
                  </a:ln>
                  <a:solidFill>
                    <a:schemeClr val="bg1"/>
                  </a:solidFill>
                  <a:effectLst>
                    <a:innerShdw blurRad="63500" dist="50800" dir="18900000">
                      <a:prstClr val="black">
                        <a:alpha val="50000"/>
                      </a:prstClr>
                    </a:innerShdw>
                  </a:effectLst>
                  <a:latin typeface="Amasis MT Pro Black" panose="020F0502020204030204" pitchFamily="18" charset="0"/>
                  <a:cs typeface="Arial" panose="020B0604020202020204" pitchFamily="34" charset="0"/>
                </a:endParaRPr>
              </a:p>
            </p:txBody>
          </p:sp>
          <p:sp>
            <p:nvSpPr>
              <p:cNvPr id="11" name="文字方塊 10">
                <a:extLst>
                  <a:ext uri="{FF2B5EF4-FFF2-40B4-BE49-F238E27FC236}">
                    <a16:creationId xmlns:a16="http://schemas.microsoft.com/office/drawing/2014/main" id="{1E5D1D21-AD9C-CEDB-9E3C-A130B3E7FC0D}"/>
                  </a:ext>
                </a:extLst>
              </p:cNvPr>
              <p:cNvSpPr txBox="1"/>
              <p:nvPr/>
            </p:nvSpPr>
            <p:spPr>
              <a:xfrm>
                <a:off x="2131213" y="4333260"/>
                <a:ext cx="307810" cy="85314"/>
              </a:xfrm>
              <a:prstGeom prst="rect">
                <a:avLst/>
              </a:prstGeom>
              <a:noFill/>
            </p:spPr>
            <p:txBody>
              <a:bodyPr wrap="square" rtlCol="0">
                <a:spAutoFit/>
              </a:bodyPr>
              <a:lstStyle/>
              <a:p>
                <a:r>
                  <a:rPr lang="en-US" altLang="zh-TW" sz="800" b="1" dirty="0">
                    <a:ln w="3175">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BG6</a:t>
                </a:r>
                <a:r>
                  <a:rPr lang="zh-TW" altLang="en-US" sz="800" b="1" dirty="0">
                    <a:ln w="3175">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 </a:t>
                </a:r>
                <a:r>
                  <a:rPr lang="en-US" altLang="zh-TW" sz="800" b="1" dirty="0">
                    <a:ln w="0">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PVN</a:t>
                </a:r>
                <a:endParaRPr lang="zh-TW" altLang="en-US" sz="800" b="1" dirty="0">
                  <a:ln w="0">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endParaRPr>
              </a:p>
            </p:txBody>
          </p:sp>
        </p:grpSp>
      </p:grpSp>
      <p:sp>
        <p:nvSpPr>
          <p:cNvPr id="36" name="文字方塊 35">
            <a:extLst>
              <a:ext uri="{FF2B5EF4-FFF2-40B4-BE49-F238E27FC236}">
                <a16:creationId xmlns:a16="http://schemas.microsoft.com/office/drawing/2014/main" id="{413E3680-5C47-CDED-5C60-43C4AF48E89C}"/>
              </a:ext>
            </a:extLst>
          </p:cNvPr>
          <p:cNvSpPr txBox="1"/>
          <p:nvPr/>
        </p:nvSpPr>
        <p:spPr>
          <a:xfrm>
            <a:off x="6902298" y="1017129"/>
            <a:ext cx="5041418" cy="4708981"/>
          </a:xfrm>
          <a:prstGeom prst="rect">
            <a:avLst/>
          </a:prstGeom>
          <a:solidFill>
            <a:schemeClr val="lt1"/>
          </a:solidFill>
          <a:ln w="3175" cap="flat" cmpd="sng" algn="ctr">
            <a:solidFill>
              <a:schemeClr val="bg1">
                <a:lumMod val="50000"/>
              </a:schemeClr>
            </a:solidFill>
            <a:prstDash val="solid"/>
            <a:miter lim="800000"/>
          </a:ln>
          <a:effectLst/>
        </p:spPr>
        <p:style>
          <a:lnRef idx="2">
            <a:schemeClr val="accent1"/>
          </a:lnRef>
          <a:fillRef idx="1">
            <a:schemeClr val="lt1"/>
          </a:fillRef>
          <a:effectRef idx="0">
            <a:schemeClr val="accent1"/>
          </a:effectRef>
          <a:fontRef idx="minor">
            <a:schemeClr val="dk1"/>
          </a:fontRef>
        </p:style>
        <p:txBody>
          <a:bodyPr wrap="square">
            <a:spAutoFit/>
          </a:bodyPr>
          <a:lstStyle/>
          <a:p>
            <a:pPr>
              <a:buNone/>
            </a:pPr>
            <a:r>
              <a:rPr lang="en-US" altLang="zh-TW" sz="1000" dirty="0"/>
              <a:t>1. </a:t>
            </a:r>
            <a:r>
              <a:rPr lang="zh-TW" altLang="en-US" sz="1000" dirty="0"/>
              <a:t>個人能力 </a:t>
            </a:r>
            <a:r>
              <a:rPr lang="en-US" altLang="zh-TW" sz="1000" dirty="0"/>
              <a:t>(Personal Competencies)</a:t>
            </a:r>
          </a:p>
          <a:p>
            <a:pPr>
              <a:buFont typeface="Arial" panose="020B0604020202020204" pitchFamily="34" charset="0"/>
              <a:buChar char="•"/>
            </a:pPr>
            <a:r>
              <a:rPr lang="zh-TW" altLang="en-US" sz="1000" b="1" dirty="0"/>
              <a:t>邏輯思考</a:t>
            </a:r>
            <a:r>
              <a:rPr lang="zh-TW" altLang="en-US" sz="1000" dirty="0"/>
              <a:t>：</a:t>
            </a:r>
            <a:r>
              <a:rPr lang="en-US" altLang="zh-TW" sz="1000" dirty="0"/>
              <a:t>: </a:t>
            </a:r>
            <a:r>
              <a:rPr lang="zh-TW" altLang="en-US" sz="1000" dirty="0"/>
              <a:t>能夠清晰地思考，進行分析判斷，解決複雜問題。 </a:t>
            </a:r>
            <a:endParaRPr lang="zh-TW" altLang="en-US" sz="1000" dirty="0">
              <a:effectLst/>
            </a:endParaRPr>
          </a:p>
          <a:p>
            <a:pPr>
              <a:buFont typeface="Arial" panose="020B0604020202020204" pitchFamily="34" charset="0"/>
              <a:buChar char="•"/>
            </a:pPr>
            <a:r>
              <a:rPr lang="zh-TW" altLang="en-US" sz="1000" b="1" dirty="0"/>
              <a:t>情緒控制與智商</a:t>
            </a:r>
            <a:r>
              <a:rPr lang="zh-TW" altLang="en-US" sz="1000" dirty="0"/>
              <a:t>：</a:t>
            </a:r>
            <a:r>
              <a:rPr lang="en-US" altLang="zh-TW" sz="1000" dirty="0"/>
              <a:t>: </a:t>
            </a:r>
            <a:r>
              <a:rPr lang="zh-TW" altLang="en-US" sz="1000" dirty="0"/>
              <a:t>能夠管理自身情緒，在壓力下保持冷靜，並展現高情商，以更好地與人互動。 </a:t>
            </a:r>
          </a:p>
          <a:p>
            <a:pPr>
              <a:buNone/>
            </a:pPr>
            <a:r>
              <a:rPr lang="zh-TW" altLang="en-US" sz="1000" dirty="0">
                <a:effectLst/>
              </a:rPr>
              <a:t> </a:t>
            </a:r>
          </a:p>
          <a:p>
            <a:pPr>
              <a:buNone/>
            </a:pPr>
            <a:r>
              <a:rPr lang="en-US" altLang="zh-TW" sz="1000" dirty="0"/>
              <a:t>2. </a:t>
            </a:r>
            <a:r>
              <a:rPr lang="zh-TW" altLang="en-US" sz="1000" dirty="0"/>
              <a:t>人際溝通能力 </a:t>
            </a:r>
            <a:r>
              <a:rPr lang="en-US" altLang="zh-TW" sz="1000" dirty="0"/>
              <a:t>(Interpersonal Skills)</a:t>
            </a:r>
          </a:p>
          <a:p>
            <a:pPr>
              <a:buNone/>
            </a:pPr>
            <a:r>
              <a:rPr lang="zh-TW" altLang="en-US" sz="1000" b="1" dirty="0"/>
              <a:t>溝通與協調</a:t>
            </a:r>
            <a:r>
              <a:rPr lang="zh-TW" altLang="en-US" sz="1000" dirty="0"/>
              <a:t>：</a:t>
            </a:r>
          </a:p>
          <a:p>
            <a:pPr>
              <a:buNone/>
            </a:pPr>
            <a:r>
              <a:rPr lang="zh-TW" altLang="en-US" sz="1000" dirty="0"/>
              <a:t>有效傳達訊息，聆聽他人意見，並協調團隊內部關係，確保順暢運作。 </a:t>
            </a:r>
            <a:endParaRPr lang="zh-TW" altLang="en-US" sz="1000" dirty="0">
              <a:effectLst/>
            </a:endParaRPr>
          </a:p>
          <a:p>
            <a:pPr>
              <a:buNone/>
            </a:pPr>
            <a:r>
              <a:rPr lang="zh-TW" altLang="en-US" sz="1000" b="1" dirty="0"/>
              <a:t>同理心與尊重</a:t>
            </a:r>
            <a:r>
              <a:rPr lang="zh-TW" altLang="en-US" sz="1000" dirty="0"/>
              <a:t>：</a:t>
            </a:r>
          </a:p>
          <a:p>
            <a:pPr>
              <a:buNone/>
            </a:pPr>
            <a:r>
              <a:rPr lang="zh-TW" altLang="en-US" sz="1000" dirty="0"/>
              <a:t>理解他人感受，尊重團隊成員，並能夠激勵他人，營造良好的團隊氛圍。 </a:t>
            </a:r>
          </a:p>
          <a:p>
            <a:pPr>
              <a:buNone/>
            </a:pPr>
            <a:r>
              <a:rPr lang="zh-TW" altLang="en-US" sz="1000" dirty="0">
                <a:effectLst/>
              </a:rPr>
              <a:t> </a:t>
            </a:r>
          </a:p>
          <a:p>
            <a:pPr>
              <a:buNone/>
            </a:pPr>
            <a:r>
              <a:rPr lang="en-US" altLang="zh-TW" sz="1000" dirty="0"/>
              <a:t>3. </a:t>
            </a:r>
            <a:r>
              <a:rPr lang="zh-TW" altLang="en-US" sz="1000" dirty="0"/>
              <a:t>工作管理能力 </a:t>
            </a:r>
            <a:r>
              <a:rPr lang="en-US" altLang="zh-TW" sz="1000" dirty="0"/>
              <a:t>(Work Management)</a:t>
            </a:r>
          </a:p>
          <a:p>
            <a:pPr>
              <a:buFont typeface="Arial" panose="020B0604020202020204" pitchFamily="34" charset="0"/>
              <a:buChar char="•"/>
            </a:pPr>
            <a:r>
              <a:rPr lang="zh-TW" altLang="en-US" sz="1000" b="1" dirty="0"/>
              <a:t>任務分配與控制</a:t>
            </a:r>
            <a:r>
              <a:rPr lang="zh-TW" altLang="en-US" sz="1000" dirty="0"/>
              <a:t>：</a:t>
            </a:r>
            <a:r>
              <a:rPr lang="en-US" altLang="zh-TW" sz="1000" dirty="0"/>
              <a:t>: </a:t>
            </a:r>
            <a:r>
              <a:rPr lang="zh-TW" altLang="en-US" sz="1000" dirty="0"/>
              <a:t>將工作任務合理分配給團隊成員，並控管工作進度，確保任務按時完成。 </a:t>
            </a:r>
            <a:endParaRPr lang="zh-TW" altLang="en-US" sz="1000" dirty="0">
              <a:effectLst/>
            </a:endParaRPr>
          </a:p>
          <a:p>
            <a:pPr>
              <a:buFont typeface="Arial" panose="020B0604020202020204" pitchFamily="34" charset="0"/>
              <a:buChar char="•"/>
            </a:pPr>
            <a:r>
              <a:rPr lang="zh-TW" altLang="en-US" sz="1000" b="1" dirty="0"/>
              <a:t>資源運用</a:t>
            </a:r>
            <a:r>
              <a:rPr lang="zh-TW" altLang="en-US" sz="1000" dirty="0"/>
              <a:t>：</a:t>
            </a:r>
            <a:r>
              <a:rPr lang="en-US" altLang="zh-TW" sz="1000" dirty="0"/>
              <a:t>: </a:t>
            </a:r>
            <a:r>
              <a:rPr lang="zh-TW" altLang="en-US" sz="1000" dirty="0"/>
              <a:t>善於運用有限的資源，提高工作效率。 </a:t>
            </a:r>
          </a:p>
          <a:p>
            <a:pPr>
              <a:buNone/>
            </a:pPr>
            <a:r>
              <a:rPr lang="zh-TW" altLang="en-US" sz="1000" dirty="0">
                <a:effectLst/>
              </a:rPr>
              <a:t> </a:t>
            </a:r>
          </a:p>
          <a:p>
            <a:pPr>
              <a:buNone/>
            </a:pPr>
            <a:r>
              <a:rPr lang="en-US" altLang="zh-TW" sz="1000" dirty="0"/>
              <a:t>4. </a:t>
            </a:r>
            <a:r>
              <a:rPr lang="zh-TW" altLang="en-US" sz="1000" dirty="0"/>
              <a:t>專案管理能力 </a:t>
            </a:r>
            <a:r>
              <a:rPr lang="en-US" altLang="zh-TW" sz="1000" dirty="0"/>
              <a:t>(Project Management)</a:t>
            </a:r>
          </a:p>
          <a:p>
            <a:pPr>
              <a:buFont typeface="Arial" panose="020B0604020202020204" pitchFamily="34" charset="0"/>
              <a:buChar char="•"/>
            </a:pPr>
            <a:r>
              <a:rPr lang="zh-TW" altLang="en-US" sz="1000" b="1" dirty="0"/>
              <a:t>團隊協作</a:t>
            </a:r>
            <a:r>
              <a:rPr lang="zh-TW" altLang="en-US" sz="1000" dirty="0"/>
              <a:t>：</a:t>
            </a:r>
            <a:r>
              <a:rPr lang="en-US" altLang="zh-TW" sz="1000" dirty="0"/>
              <a:t>: </a:t>
            </a:r>
            <a:r>
              <a:rPr lang="zh-TW" altLang="en-US" sz="1000" dirty="0"/>
              <a:t>帶領團隊合作，共同達成專案目標。 </a:t>
            </a:r>
            <a:endParaRPr lang="zh-TW" altLang="en-US" sz="1000" dirty="0">
              <a:effectLst/>
            </a:endParaRPr>
          </a:p>
          <a:p>
            <a:pPr>
              <a:buFont typeface="Arial" panose="020B0604020202020204" pitchFamily="34" charset="0"/>
              <a:buChar char="•"/>
            </a:pPr>
            <a:r>
              <a:rPr lang="zh-TW" altLang="en-US" sz="1000" b="1" dirty="0"/>
              <a:t>目標達成</a:t>
            </a:r>
            <a:r>
              <a:rPr lang="zh-TW" altLang="en-US" sz="1000" dirty="0"/>
              <a:t>：</a:t>
            </a:r>
            <a:r>
              <a:rPr lang="en-US" altLang="zh-TW" sz="1000" dirty="0"/>
              <a:t>: </a:t>
            </a:r>
            <a:r>
              <a:rPr lang="zh-TW" altLang="en-US" sz="1000" dirty="0"/>
              <a:t>確保團隊成員專注於共同的大目標，並將其轉化為可執行的行動，最終達成目標。 </a:t>
            </a:r>
          </a:p>
          <a:p>
            <a:pPr>
              <a:buNone/>
            </a:pPr>
            <a:r>
              <a:rPr lang="zh-TW" altLang="en-US" sz="1000" dirty="0">
                <a:effectLst/>
              </a:rPr>
              <a:t> </a:t>
            </a:r>
          </a:p>
          <a:p>
            <a:pPr>
              <a:buNone/>
            </a:pPr>
            <a:r>
              <a:rPr lang="en-US" altLang="zh-TW" sz="1000" dirty="0"/>
              <a:t>5. </a:t>
            </a:r>
            <a:r>
              <a:rPr lang="zh-TW" altLang="en-US" sz="1000" dirty="0"/>
              <a:t>問題解決能力 </a:t>
            </a:r>
            <a:r>
              <a:rPr lang="en-US" altLang="zh-TW" sz="1000" dirty="0"/>
              <a:t>(Problem-Solving)</a:t>
            </a:r>
          </a:p>
          <a:p>
            <a:pPr>
              <a:buNone/>
            </a:pPr>
            <a:r>
              <a:rPr lang="zh-TW" altLang="en-US" sz="1000" b="1" dirty="0"/>
              <a:t>策略性思考</a:t>
            </a:r>
            <a:r>
              <a:rPr lang="zh-TW" altLang="en-US" sz="1000" dirty="0"/>
              <a:t>：</a:t>
            </a:r>
          </a:p>
          <a:p>
            <a:pPr>
              <a:buNone/>
            </a:pPr>
            <a:r>
              <a:rPr lang="zh-TW" altLang="en-US" sz="1000" dirty="0"/>
              <a:t>能夠以長遠的眼光思考，找出問題的根本原因，並制定解決方案。 </a:t>
            </a:r>
            <a:endParaRPr lang="zh-TW" altLang="en-US" sz="1000" dirty="0">
              <a:effectLst/>
            </a:endParaRPr>
          </a:p>
          <a:p>
            <a:pPr>
              <a:buNone/>
            </a:pPr>
            <a:r>
              <a:rPr lang="zh-TW" altLang="en-US" sz="1000" b="1" dirty="0"/>
              <a:t>決策能力</a:t>
            </a:r>
            <a:r>
              <a:rPr lang="zh-TW" altLang="en-US" sz="1000" dirty="0"/>
              <a:t>：</a:t>
            </a:r>
          </a:p>
          <a:p>
            <a:pPr>
              <a:buNone/>
            </a:pPr>
            <a:r>
              <a:rPr lang="zh-TW" altLang="en-US" sz="1000" dirty="0"/>
              <a:t>在快速變化的環境中做出正確的決策，並承擔相應的責任。 </a:t>
            </a:r>
          </a:p>
          <a:p>
            <a:pPr>
              <a:buNone/>
            </a:pPr>
            <a:r>
              <a:rPr lang="zh-TW" altLang="en-US" sz="1000" dirty="0">
                <a:effectLst/>
              </a:rPr>
              <a:t> </a:t>
            </a:r>
          </a:p>
          <a:p>
            <a:pPr>
              <a:buNone/>
            </a:pPr>
            <a:r>
              <a:rPr lang="en-US" altLang="zh-TW" sz="1000" dirty="0"/>
              <a:t>6. </a:t>
            </a:r>
            <a:r>
              <a:rPr lang="zh-TW" altLang="en-US" sz="1000" dirty="0"/>
              <a:t>領導力 </a:t>
            </a:r>
            <a:r>
              <a:rPr lang="en-US" altLang="zh-TW" sz="1000" dirty="0"/>
              <a:t>(Leadership)</a:t>
            </a:r>
          </a:p>
          <a:p>
            <a:pPr>
              <a:buFont typeface="Arial" panose="020B0604020202020204" pitchFamily="34" charset="0"/>
              <a:buChar char="•"/>
            </a:pPr>
            <a:r>
              <a:rPr lang="zh-TW" altLang="en-US" sz="1000" b="1" dirty="0"/>
              <a:t>激勵與授權</a:t>
            </a:r>
            <a:r>
              <a:rPr lang="zh-TW" altLang="en-US" sz="1000" dirty="0"/>
              <a:t>：</a:t>
            </a:r>
            <a:r>
              <a:rPr lang="en-US" altLang="zh-TW" sz="1000" dirty="0"/>
              <a:t>: </a:t>
            </a:r>
            <a:r>
              <a:rPr lang="zh-TW" altLang="en-US" sz="1000" dirty="0"/>
              <a:t>激發團隊成員的潛力，並適時賦予任務和權力，培養接班人。 </a:t>
            </a:r>
            <a:endParaRPr lang="zh-TW" altLang="en-US" sz="1000" dirty="0">
              <a:effectLst/>
            </a:endParaRPr>
          </a:p>
          <a:p>
            <a:pPr>
              <a:buFont typeface="Arial" panose="020B0604020202020204" pitchFamily="34" charset="0"/>
              <a:buChar char="•"/>
            </a:pPr>
            <a:r>
              <a:rPr lang="zh-TW" altLang="en-US" sz="1000" b="1" dirty="0">
                <a:effectLst/>
              </a:rPr>
              <a:t>賦予團隊成員權能</a:t>
            </a:r>
            <a:r>
              <a:rPr lang="zh-TW" altLang="en-US" sz="1000" dirty="0">
                <a:effectLst/>
              </a:rPr>
              <a:t>：</a:t>
            </a:r>
            <a:r>
              <a:rPr lang="en-US" altLang="zh-TW" sz="1000" dirty="0">
                <a:effectLst/>
              </a:rPr>
              <a:t>: </a:t>
            </a:r>
            <a:r>
              <a:rPr lang="zh-TW" altLang="en-US" sz="1000" dirty="0">
                <a:effectLst/>
              </a:rPr>
              <a:t>將權力下放給團隊成員，讓他們有機會成長和發展。</a:t>
            </a:r>
            <a:r>
              <a:rPr lang="zh-TW" altLang="en-US" sz="1000" dirty="0"/>
              <a:t> </a:t>
            </a:r>
          </a:p>
        </p:txBody>
      </p:sp>
      <p:graphicFrame>
        <p:nvGraphicFramePr>
          <p:cNvPr id="40" name="圖表 39">
            <a:extLst>
              <a:ext uri="{FF2B5EF4-FFF2-40B4-BE49-F238E27FC236}">
                <a16:creationId xmlns:a16="http://schemas.microsoft.com/office/drawing/2014/main" id="{8895AA72-25B5-5E39-A6DD-1CB167CF23BE}"/>
              </a:ext>
            </a:extLst>
          </p:cNvPr>
          <p:cNvGraphicFramePr/>
          <p:nvPr>
            <p:extLst>
              <p:ext uri="{D42A27DB-BD31-4B8C-83A1-F6EECF244321}">
                <p14:modId xmlns:p14="http://schemas.microsoft.com/office/powerpoint/2010/main" val="354654459"/>
              </p:ext>
            </p:extLst>
          </p:nvPr>
        </p:nvGraphicFramePr>
        <p:xfrm>
          <a:off x="248284" y="1017128"/>
          <a:ext cx="6416676" cy="4277785"/>
        </p:xfrm>
        <a:graphic>
          <a:graphicData uri="http://schemas.openxmlformats.org/drawingml/2006/chart">
            <c:chart xmlns:c="http://schemas.openxmlformats.org/drawingml/2006/chart" xmlns:r="http://schemas.openxmlformats.org/officeDocument/2006/relationships" r:id="rId3"/>
          </a:graphicData>
        </a:graphic>
      </p:graphicFrame>
      <p:sp>
        <p:nvSpPr>
          <p:cNvPr id="37" name="文字方塊 36">
            <a:extLst>
              <a:ext uri="{FF2B5EF4-FFF2-40B4-BE49-F238E27FC236}">
                <a16:creationId xmlns:a16="http://schemas.microsoft.com/office/drawing/2014/main" id="{07805140-3DDE-B331-9E39-045858CEF220}"/>
              </a:ext>
            </a:extLst>
          </p:cNvPr>
          <p:cNvSpPr txBox="1"/>
          <p:nvPr/>
        </p:nvSpPr>
        <p:spPr>
          <a:xfrm>
            <a:off x="1033731" y="4501071"/>
            <a:ext cx="10124537" cy="2292935"/>
          </a:xfrm>
          <a:prstGeom prst="rect">
            <a:avLst/>
          </a:prstGeom>
          <a:solidFill>
            <a:schemeClr val="lt1"/>
          </a:solidFill>
          <a:ln w="3175" cap="flat" cmpd="sng" algn="ctr">
            <a:solidFill>
              <a:schemeClr val="bg1">
                <a:lumMod val="50000"/>
              </a:schemeClr>
            </a:solidFill>
            <a:prstDash val="solid"/>
            <a:miter lim="800000"/>
          </a:ln>
          <a:effectLst/>
        </p:spPr>
        <p:style>
          <a:lnRef idx="2">
            <a:schemeClr val="accent1"/>
          </a:lnRef>
          <a:fillRef idx="1">
            <a:schemeClr val="lt1"/>
          </a:fillRef>
          <a:effectRef idx="0">
            <a:schemeClr val="accent1"/>
          </a:effectRef>
          <a:fontRef idx="minor">
            <a:schemeClr val="dk1"/>
          </a:fontRef>
        </p:style>
        <p:txBody>
          <a:bodyPr wrap="square">
            <a:spAutoFit/>
          </a:bodyPr>
          <a:lstStyle/>
          <a:p>
            <a:r>
              <a:rPr lang="zh-TW" altLang="en-US" sz="1100" dirty="0">
                <a:solidFill>
                  <a:schemeClr val="tx1"/>
                </a:solidFill>
                <a:latin typeface="微軟正黑體" panose="020B0604030504040204" pitchFamily="34" charset="-120"/>
                <a:ea typeface="微軟正黑體" panose="020B0604030504040204" pitchFamily="34" charset="-120"/>
                <a:sym typeface="+mn-ea"/>
              </a:rPr>
              <a:t>此頁</a:t>
            </a:r>
            <a:r>
              <a:rPr lang="en-US" altLang="zh-TW" sz="1100" dirty="0">
                <a:solidFill>
                  <a:schemeClr val="tx1"/>
                </a:solidFill>
                <a:latin typeface="微軟正黑體" panose="020B0604030504040204" pitchFamily="34" charset="-120"/>
                <a:ea typeface="微軟正黑體" panose="020B0604030504040204" pitchFamily="34" charset="-120"/>
                <a:sym typeface="+mn-ea"/>
              </a:rPr>
              <a:t>29</a:t>
            </a:r>
            <a:r>
              <a:rPr lang="zh-TW" altLang="en-US" sz="1100" dirty="0">
                <a:solidFill>
                  <a:schemeClr val="tx1"/>
                </a:solidFill>
                <a:latin typeface="微軟正黑體" panose="020B0604030504040204" pitchFamily="34" charset="-120"/>
                <a:ea typeface="微軟正黑體" panose="020B0604030504040204" pitchFamily="34" charset="-120"/>
                <a:sym typeface="+mn-ea"/>
              </a:rPr>
              <a:t>職等以上人員請正視自己的能力</a:t>
            </a:r>
            <a:r>
              <a:rPr lang="en-US" altLang="zh-TW" sz="1100" dirty="0">
                <a:solidFill>
                  <a:schemeClr val="tx1"/>
                </a:solidFill>
                <a:latin typeface="微軟正黑體" panose="020B0604030504040204" pitchFamily="34" charset="-120"/>
                <a:ea typeface="微軟正黑體" panose="020B0604030504040204" pitchFamily="34" charset="-120"/>
                <a:sym typeface="+mn-ea"/>
              </a:rPr>
              <a:t>, </a:t>
            </a:r>
            <a:r>
              <a:rPr lang="zh-TW" altLang="en-US" sz="1100" dirty="0">
                <a:solidFill>
                  <a:schemeClr val="tx1"/>
                </a:solidFill>
                <a:latin typeface="微軟正黑體" panose="020B0604030504040204" pitchFamily="34" charset="-120"/>
                <a:ea typeface="微軟正黑體" panose="020B0604030504040204" pitchFamily="34" charset="-120"/>
                <a:sym typeface="+mn-ea"/>
              </a:rPr>
              <a:t>不足的部分請也誠實評分</a:t>
            </a:r>
            <a:r>
              <a:rPr lang="en-US" altLang="zh-TW" sz="1100" dirty="0">
                <a:solidFill>
                  <a:schemeClr val="tx1"/>
                </a:solidFill>
                <a:latin typeface="微軟正黑體" panose="020B0604030504040204" pitchFamily="34" charset="-120"/>
                <a:ea typeface="微軟正黑體" panose="020B0604030504040204" pitchFamily="34" charset="-120"/>
                <a:sym typeface="+mn-ea"/>
              </a:rPr>
              <a:t>, </a:t>
            </a:r>
            <a:r>
              <a:rPr lang="zh-TW" altLang="en-US" sz="1100" dirty="0">
                <a:solidFill>
                  <a:schemeClr val="tx1"/>
                </a:solidFill>
                <a:latin typeface="微軟正黑體" panose="020B0604030504040204" pitchFamily="34" charset="-120"/>
                <a:ea typeface="微軟正黑體" panose="020B0604030504040204" pitchFamily="34" charset="-120"/>
                <a:sym typeface="+mn-ea"/>
              </a:rPr>
              <a:t>自我檢討也是主管必備的技能</a:t>
            </a:r>
            <a:r>
              <a:rPr lang="en-US" altLang="zh-TW" sz="1100" dirty="0" smtClean="0">
                <a:solidFill>
                  <a:schemeClr val="tx1"/>
                </a:solidFill>
                <a:latin typeface="微軟正黑體" panose="020B0604030504040204" pitchFamily="34" charset="-120"/>
                <a:ea typeface="微軟正黑體" panose="020B0604030504040204" pitchFamily="34" charset="-120"/>
                <a:sym typeface="+mn-ea"/>
              </a:rPr>
              <a:t>,</a:t>
            </a:r>
          </a:p>
          <a:p>
            <a:r>
              <a:rPr lang="en-US" altLang="zh-TW" sz="1100" dirty="0" smtClean="0">
                <a:solidFill>
                  <a:schemeClr val="tx1"/>
                </a:solidFill>
                <a:latin typeface="微軟正黑體" panose="020B0604030504040204" pitchFamily="34" charset="-120"/>
                <a:ea typeface="微軟正黑體" panose="020B0604030504040204" pitchFamily="34" charset="-120"/>
                <a:sym typeface="+mn-ea"/>
              </a:rPr>
              <a:t> </a:t>
            </a:r>
            <a:r>
              <a:rPr lang="zh-TW" altLang="en-US" sz="1100" dirty="0">
                <a:solidFill>
                  <a:srgbClr val="FF0000"/>
                </a:solidFill>
                <a:latin typeface="微軟正黑體" panose="020B0604030504040204" pitchFamily="34" charset="-120"/>
                <a:ea typeface="微軟正黑體" panose="020B0604030504040204" pitchFamily="34" charset="-120"/>
                <a:sym typeface="+mn-ea"/>
              </a:rPr>
              <a:t>請勿像</a:t>
            </a:r>
            <a:r>
              <a:rPr lang="en-US" altLang="zh-TW" sz="1100" dirty="0">
                <a:solidFill>
                  <a:srgbClr val="FF0000"/>
                </a:solidFill>
                <a:latin typeface="微軟正黑體" panose="020B0604030504040204" pitchFamily="34" charset="-120"/>
                <a:ea typeface="微軟正黑體" panose="020B0604030504040204" pitchFamily="34" charset="-120"/>
                <a:sym typeface="+mn-ea"/>
              </a:rPr>
              <a:t>EPA</a:t>
            </a:r>
            <a:r>
              <a:rPr lang="zh-TW" altLang="en-US" sz="1100" dirty="0">
                <a:solidFill>
                  <a:srgbClr val="FF0000"/>
                </a:solidFill>
                <a:latin typeface="微軟正黑體" panose="020B0604030504040204" pitchFamily="34" charset="-120"/>
                <a:ea typeface="微軟正黑體" panose="020B0604030504040204" pitchFamily="34" charset="-120"/>
                <a:sym typeface="+mn-ea"/>
              </a:rPr>
              <a:t>那樣什麼都是</a:t>
            </a:r>
            <a:r>
              <a:rPr lang="en-US" altLang="zh-TW" sz="1100" dirty="0">
                <a:solidFill>
                  <a:srgbClr val="FF0000"/>
                </a:solidFill>
                <a:latin typeface="微軟正黑體" panose="020B0604030504040204" pitchFamily="34" charset="-120"/>
                <a:ea typeface="微軟正黑體" panose="020B0604030504040204" pitchFamily="34" charset="-120"/>
                <a:sym typeface="+mn-ea"/>
              </a:rPr>
              <a:t>90</a:t>
            </a:r>
            <a:r>
              <a:rPr lang="zh-TW" altLang="en-US" sz="1100" dirty="0">
                <a:solidFill>
                  <a:srgbClr val="FF0000"/>
                </a:solidFill>
                <a:latin typeface="微軟正黑體" panose="020B0604030504040204" pitchFamily="34" charset="-120"/>
                <a:ea typeface="微軟正黑體" panose="020B0604030504040204" pitchFamily="34" charset="-120"/>
                <a:sym typeface="+mn-ea"/>
              </a:rPr>
              <a:t>分</a:t>
            </a:r>
            <a:r>
              <a:rPr lang="en-US" altLang="zh-TW" sz="1100" dirty="0">
                <a:solidFill>
                  <a:srgbClr val="FF0000"/>
                </a:solidFill>
                <a:latin typeface="微軟正黑體" panose="020B0604030504040204" pitchFamily="34" charset="-120"/>
                <a:ea typeface="微軟正黑體" panose="020B0604030504040204" pitchFamily="34" charset="-120"/>
                <a:sym typeface="+mn-ea"/>
              </a:rPr>
              <a:t>(8-10</a:t>
            </a:r>
            <a:r>
              <a:rPr lang="zh-TW" altLang="en-US" sz="1100" dirty="0">
                <a:solidFill>
                  <a:srgbClr val="FF0000"/>
                </a:solidFill>
                <a:latin typeface="微軟正黑體" panose="020B0604030504040204" pitchFamily="34" charset="-120"/>
                <a:ea typeface="微軟正黑體" panose="020B0604030504040204" pitchFamily="34" charset="-120"/>
                <a:sym typeface="+mn-ea"/>
              </a:rPr>
              <a:t>分</a:t>
            </a:r>
            <a:r>
              <a:rPr lang="en-US" altLang="zh-TW" sz="1100" dirty="0">
                <a:solidFill>
                  <a:srgbClr val="FF0000"/>
                </a:solidFill>
                <a:latin typeface="微軟正黑體" panose="020B0604030504040204" pitchFamily="34" charset="-120"/>
                <a:ea typeface="微軟正黑體" panose="020B0604030504040204" pitchFamily="34" charset="-120"/>
                <a:sym typeface="+mn-ea"/>
              </a:rPr>
              <a:t>)</a:t>
            </a:r>
            <a:r>
              <a:rPr lang="zh-TW" altLang="en-US" sz="1100" dirty="0">
                <a:solidFill>
                  <a:srgbClr val="FF0000"/>
                </a:solidFill>
                <a:latin typeface="微軟正黑體" panose="020B0604030504040204" pitchFamily="34" charset="-120"/>
                <a:ea typeface="微軟正黑體" panose="020B0604030504040204" pitchFamily="34" charset="-120"/>
                <a:sym typeface="+mn-ea"/>
              </a:rPr>
              <a:t>以上</a:t>
            </a:r>
            <a:r>
              <a:rPr lang="en-US" altLang="zh-TW" sz="1100" dirty="0">
                <a:solidFill>
                  <a:srgbClr val="FF0000"/>
                </a:solidFill>
                <a:latin typeface="微軟正黑體" panose="020B0604030504040204" pitchFamily="34" charset="-120"/>
                <a:ea typeface="微軟正黑體" panose="020B0604030504040204" pitchFamily="34" charset="-120"/>
                <a:sym typeface="+mn-ea"/>
              </a:rPr>
              <a:t>.</a:t>
            </a:r>
            <a:r>
              <a:rPr lang="zh-TW" altLang="en-US" sz="1100" dirty="0">
                <a:solidFill>
                  <a:srgbClr val="FF0000"/>
                </a:solidFill>
                <a:latin typeface="微軟正黑體" panose="020B0604030504040204" pitchFamily="34" charset="-120"/>
                <a:ea typeface="微軟正黑體" panose="020B0604030504040204" pitchFamily="34" charset="-120"/>
                <a:sym typeface="+mn-ea"/>
              </a:rPr>
              <a:t>一二階主管心裡都有譜</a:t>
            </a:r>
            <a:r>
              <a:rPr lang="en-US" altLang="zh-TW" sz="1100" dirty="0">
                <a:solidFill>
                  <a:srgbClr val="FF0000"/>
                </a:solidFill>
                <a:latin typeface="微軟正黑體" panose="020B0604030504040204" pitchFamily="34" charset="-120"/>
                <a:ea typeface="微軟正黑體" panose="020B0604030504040204" pitchFamily="34" charset="-120"/>
                <a:sym typeface="+mn-ea"/>
              </a:rPr>
              <a:t>. </a:t>
            </a:r>
          </a:p>
          <a:p>
            <a:r>
              <a:rPr lang="zh-TW" altLang="en-US" sz="1100" dirty="0">
                <a:solidFill>
                  <a:schemeClr val="tx1"/>
                </a:solidFill>
                <a:latin typeface="微軟正黑體" panose="020B0604030504040204" pitchFamily="34" charset="-120"/>
                <a:ea typeface="微軟正黑體" panose="020B0604030504040204" pitchFamily="34" charset="-120"/>
                <a:sym typeface="+mn-ea"/>
              </a:rPr>
              <a:t>自評分數</a:t>
            </a:r>
            <a:r>
              <a:rPr lang="en-US" altLang="zh-TW" sz="1100" dirty="0">
                <a:solidFill>
                  <a:schemeClr val="tx1"/>
                </a:solidFill>
                <a:latin typeface="微軟正黑體" panose="020B0604030504040204" pitchFamily="34" charset="-120"/>
                <a:ea typeface="微軟正黑體" panose="020B0604030504040204" pitchFamily="34" charset="-120"/>
                <a:sym typeface="+mn-ea"/>
              </a:rPr>
              <a:t>1-10</a:t>
            </a:r>
          </a:p>
          <a:p>
            <a:r>
              <a:rPr lang="en-US" altLang="zh-TW" sz="1100" dirty="0">
                <a:solidFill>
                  <a:schemeClr val="tx1"/>
                </a:solidFill>
                <a:latin typeface="微軟正黑體" panose="020B0604030504040204" pitchFamily="34" charset="-120"/>
                <a:ea typeface="微軟正黑體" panose="020B0604030504040204" pitchFamily="34" charset="-120"/>
                <a:sym typeface="+mn-ea"/>
              </a:rPr>
              <a:t>8-10</a:t>
            </a:r>
            <a:r>
              <a:rPr lang="zh-TW" altLang="en-US" sz="1100" dirty="0">
                <a:solidFill>
                  <a:schemeClr val="tx1"/>
                </a:solidFill>
                <a:latin typeface="微軟正黑體" panose="020B0604030504040204" pitchFamily="34" charset="-120"/>
                <a:ea typeface="微軟正黑體" panose="020B0604030504040204" pitchFamily="34" charset="-120"/>
                <a:sym typeface="+mn-ea"/>
              </a:rPr>
              <a:t>分 </a:t>
            </a:r>
            <a:r>
              <a:rPr lang="en-US" altLang="zh-TW" sz="1100" dirty="0">
                <a:solidFill>
                  <a:schemeClr val="tx1"/>
                </a:solidFill>
                <a:latin typeface="微軟正黑體" panose="020B0604030504040204" pitchFamily="34" charset="-120"/>
                <a:ea typeface="微軟正黑體" panose="020B0604030504040204" pitchFamily="34" charset="-120"/>
                <a:sym typeface="+mn-ea"/>
              </a:rPr>
              <a:t>: </a:t>
            </a:r>
            <a:r>
              <a:rPr lang="zh-TW" altLang="en-US" sz="1100" dirty="0">
                <a:solidFill>
                  <a:schemeClr val="tx1"/>
                </a:solidFill>
                <a:latin typeface="微軟正黑體" panose="020B0604030504040204" pitchFamily="34" charset="-120"/>
                <a:ea typeface="微軟正黑體" panose="020B0604030504040204" pitchFamily="34" charset="-120"/>
                <a:sym typeface="+mn-ea"/>
              </a:rPr>
              <a:t>優秀</a:t>
            </a:r>
            <a:r>
              <a:rPr lang="en-US" altLang="zh-TW" sz="1100" dirty="0">
                <a:solidFill>
                  <a:schemeClr val="tx1"/>
                </a:solidFill>
                <a:latin typeface="微軟正黑體" panose="020B0604030504040204" pitchFamily="34" charset="-120"/>
                <a:ea typeface="微軟正黑體" panose="020B0604030504040204" pitchFamily="34" charset="-120"/>
                <a:sym typeface="+mn-ea"/>
              </a:rPr>
              <a:t>, </a:t>
            </a:r>
            <a:r>
              <a:rPr lang="zh-TW" altLang="en-US" sz="1100" dirty="0">
                <a:solidFill>
                  <a:schemeClr val="tx1"/>
                </a:solidFill>
                <a:latin typeface="微軟正黑體" panose="020B0604030504040204" pitchFamily="34" charset="-120"/>
                <a:ea typeface="微軟正黑體" panose="020B0604030504040204" pitchFamily="34" charset="-120"/>
                <a:sym typeface="+mn-ea"/>
              </a:rPr>
              <a:t>要加強但不是首要</a:t>
            </a:r>
            <a:endParaRPr lang="en-US" altLang="zh-TW" sz="1100" dirty="0">
              <a:solidFill>
                <a:schemeClr val="tx1"/>
              </a:solidFill>
              <a:latin typeface="微軟正黑體" panose="020B0604030504040204" pitchFamily="34" charset="-120"/>
              <a:ea typeface="微軟正黑體" panose="020B0604030504040204" pitchFamily="34" charset="-120"/>
              <a:sym typeface="+mn-ea"/>
            </a:endParaRPr>
          </a:p>
          <a:p>
            <a:r>
              <a:rPr lang="en-US" altLang="zh-TW" sz="1100" dirty="0">
                <a:solidFill>
                  <a:schemeClr val="tx1"/>
                </a:solidFill>
                <a:latin typeface="微軟正黑體" panose="020B0604030504040204" pitchFamily="34" charset="-120"/>
                <a:ea typeface="微軟正黑體" panose="020B0604030504040204" pitchFamily="34" charset="-120"/>
                <a:sym typeface="+mn-ea"/>
              </a:rPr>
              <a:t>6-7</a:t>
            </a:r>
            <a:r>
              <a:rPr lang="zh-TW" altLang="en-US" sz="1100" dirty="0">
                <a:solidFill>
                  <a:schemeClr val="tx1"/>
                </a:solidFill>
                <a:latin typeface="微軟正黑體" panose="020B0604030504040204" pitchFamily="34" charset="-120"/>
                <a:ea typeface="微軟正黑體" panose="020B0604030504040204" pitchFamily="34" charset="-120"/>
                <a:sym typeface="+mn-ea"/>
              </a:rPr>
              <a:t>分 </a:t>
            </a:r>
            <a:r>
              <a:rPr lang="en-US" altLang="zh-TW" sz="1100" dirty="0">
                <a:solidFill>
                  <a:schemeClr val="tx1"/>
                </a:solidFill>
                <a:latin typeface="微軟正黑體" panose="020B0604030504040204" pitchFamily="34" charset="-120"/>
                <a:ea typeface="微軟正黑體" panose="020B0604030504040204" pitchFamily="34" charset="-120"/>
                <a:sym typeface="+mn-ea"/>
              </a:rPr>
              <a:t>: </a:t>
            </a:r>
            <a:r>
              <a:rPr lang="zh-TW" altLang="en-US" sz="1100" dirty="0">
                <a:solidFill>
                  <a:schemeClr val="tx1"/>
                </a:solidFill>
                <a:latin typeface="微軟正黑體" panose="020B0604030504040204" pitchFamily="34" charset="-120"/>
                <a:ea typeface="微軟正黑體" panose="020B0604030504040204" pitchFamily="34" charset="-120"/>
                <a:sym typeface="+mn-ea"/>
              </a:rPr>
              <a:t>一般</a:t>
            </a:r>
            <a:r>
              <a:rPr lang="en-US" altLang="zh-TW" sz="1100" dirty="0">
                <a:solidFill>
                  <a:schemeClr val="tx1"/>
                </a:solidFill>
                <a:latin typeface="微軟正黑體" panose="020B0604030504040204" pitchFamily="34" charset="-120"/>
                <a:ea typeface="微軟正黑體" panose="020B0604030504040204" pitchFamily="34" charset="-120"/>
                <a:sym typeface="+mn-ea"/>
              </a:rPr>
              <a:t>, </a:t>
            </a:r>
            <a:r>
              <a:rPr lang="zh-TW" altLang="en-US" sz="1100" dirty="0">
                <a:solidFill>
                  <a:schemeClr val="tx1"/>
                </a:solidFill>
                <a:latin typeface="微軟正黑體" panose="020B0604030504040204" pitchFamily="34" charset="-120"/>
                <a:ea typeface="微軟正黑體" panose="020B0604030504040204" pitchFamily="34" charset="-120"/>
                <a:sym typeface="+mn-ea"/>
              </a:rPr>
              <a:t>需要再加強往優秀邁進</a:t>
            </a:r>
            <a:endParaRPr lang="en-US" altLang="zh-TW" sz="1100" dirty="0">
              <a:solidFill>
                <a:schemeClr val="tx1"/>
              </a:solidFill>
              <a:latin typeface="微軟正黑體" panose="020B0604030504040204" pitchFamily="34" charset="-120"/>
              <a:ea typeface="微軟正黑體" panose="020B0604030504040204" pitchFamily="34" charset="-120"/>
              <a:sym typeface="+mn-ea"/>
            </a:endParaRPr>
          </a:p>
          <a:p>
            <a:r>
              <a:rPr lang="en-US" altLang="zh-TW" sz="1100" dirty="0">
                <a:solidFill>
                  <a:schemeClr val="tx1"/>
                </a:solidFill>
                <a:latin typeface="微軟正黑體" panose="020B0604030504040204" pitchFamily="34" charset="-120"/>
                <a:ea typeface="微軟正黑體" panose="020B0604030504040204" pitchFamily="34" charset="-120"/>
                <a:sym typeface="+mn-ea"/>
              </a:rPr>
              <a:t>0-5</a:t>
            </a:r>
            <a:r>
              <a:rPr lang="zh-TW" altLang="en-US" sz="1100" dirty="0">
                <a:solidFill>
                  <a:schemeClr val="tx1"/>
                </a:solidFill>
                <a:latin typeface="微軟正黑體" panose="020B0604030504040204" pitchFamily="34" charset="-120"/>
                <a:ea typeface="微軟正黑體" panose="020B0604030504040204" pitchFamily="34" charset="-120"/>
                <a:sym typeface="+mn-ea"/>
              </a:rPr>
              <a:t>分 </a:t>
            </a:r>
            <a:r>
              <a:rPr lang="en-US" altLang="zh-TW" sz="1100" dirty="0">
                <a:solidFill>
                  <a:schemeClr val="tx1"/>
                </a:solidFill>
                <a:latin typeface="微軟正黑體" panose="020B0604030504040204" pitchFamily="34" charset="-120"/>
                <a:ea typeface="微軟正黑體" panose="020B0604030504040204" pitchFamily="34" charset="-120"/>
                <a:sym typeface="+mn-ea"/>
              </a:rPr>
              <a:t>: </a:t>
            </a:r>
            <a:r>
              <a:rPr lang="zh-TW" altLang="en-US" sz="1100" dirty="0">
                <a:solidFill>
                  <a:schemeClr val="tx1"/>
                </a:solidFill>
                <a:latin typeface="微軟正黑體" panose="020B0604030504040204" pitchFamily="34" charset="-120"/>
                <a:ea typeface="微軟正黑體" panose="020B0604030504040204" pitchFamily="34" charset="-120"/>
                <a:sym typeface="+mn-ea"/>
              </a:rPr>
              <a:t>短板</a:t>
            </a:r>
            <a:r>
              <a:rPr lang="en-US" altLang="zh-TW" sz="1100" dirty="0">
                <a:solidFill>
                  <a:schemeClr val="tx1"/>
                </a:solidFill>
                <a:latin typeface="微軟正黑體" panose="020B0604030504040204" pitchFamily="34" charset="-120"/>
                <a:ea typeface="微軟正黑體" panose="020B0604030504040204" pitchFamily="34" charset="-120"/>
                <a:sym typeface="+mn-ea"/>
              </a:rPr>
              <a:t>, </a:t>
            </a:r>
            <a:r>
              <a:rPr lang="zh-TW" altLang="en-US" sz="1100" dirty="0">
                <a:solidFill>
                  <a:schemeClr val="tx1"/>
                </a:solidFill>
                <a:latin typeface="微軟正黑體" panose="020B0604030504040204" pitchFamily="34" charset="-120"/>
                <a:ea typeface="微軟正黑體" panose="020B0604030504040204" pitchFamily="34" charset="-120"/>
                <a:sym typeface="+mn-ea"/>
              </a:rPr>
              <a:t>需要學習並往一般</a:t>
            </a:r>
            <a:r>
              <a:rPr lang="zh-TW" altLang="en-US" sz="1100" dirty="0" smtClean="0">
                <a:solidFill>
                  <a:schemeClr val="tx1"/>
                </a:solidFill>
                <a:latin typeface="微軟正黑體" panose="020B0604030504040204" pitchFamily="34" charset="-120"/>
                <a:ea typeface="微軟正黑體" panose="020B0604030504040204" pitchFamily="34" charset="-120"/>
                <a:sym typeface="+mn-ea"/>
              </a:rPr>
              <a:t>發展</a:t>
            </a:r>
            <a:endParaRPr lang="en-US" altLang="zh-TW" sz="1100" dirty="0" smtClean="0">
              <a:solidFill>
                <a:schemeClr val="tx1"/>
              </a:solidFill>
              <a:latin typeface="微軟正黑體" panose="020B0604030504040204" pitchFamily="34" charset="-120"/>
              <a:ea typeface="微軟正黑體" panose="020B0604030504040204" pitchFamily="34" charset="-120"/>
              <a:sym typeface="+mn-ea"/>
            </a:endParaRPr>
          </a:p>
          <a:p>
            <a:r>
              <a:rPr lang="vi-VN" altLang="zh-TW" sz="1100" dirty="0">
                <a:solidFill>
                  <a:schemeClr val="tx1"/>
                </a:solidFill>
              </a:rPr>
              <a:t>Những người trên cấp độ 29 nên trung thực về năng lực của mình và đánh giá một cách trung thực những thiếu sót. Tự phản ánh cũng là một kỹ năng thiết yếu đối với người giám sát. </a:t>
            </a:r>
            <a:r>
              <a:rPr lang="vi-VN" altLang="zh-TW" sz="1100" dirty="0">
                <a:solidFill>
                  <a:srgbClr val="FF0000"/>
                </a:solidFill>
              </a:rPr>
              <a:t>Đừng giống như EPA, nơi mọi thứ đều được đánh giá 90 điểm trở lên (8-10 điểm). Các nhà quản lý cấp một và cấp hai đã có sẵn ý kiến ​​trong đầu</a:t>
            </a:r>
            <a:r>
              <a:rPr lang="vi-VN" altLang="zh-TW" sz="1100" dirty="0" smtClean="0">
                <a:solidFill>
                  <a:srgbClr val="FF0000"/>
                </a:solidFill>
              </a:rPr>
              <a:t>.</a:t>
            </a:r>
            <a:endParaRPr lang="en-US" altLang="zh-TW" sz="1100" dirty="0" smtClean="0">
              <a:solidFill>
                <a:srgbClr val="FF0000"/>
              </a:solidFill>
            </a:endParaRPr>
          </a:p>
          <a:p>
            <a:r>
              <a:rPr lang="vi-VN" altLang="zh-TW" sz="1100" dirty="0">
                <a:solidFill>
                  <a:schemeClr val="tx1"/>
                </a:solidFill>
              </a:rPr>
              <a:t>Thang điểm tự đánh giá: 1-10</a:t>
            </a:r>
          </a:p>
          <a:p>
            <a:r>
              <a:rPr lang="vi-VN" altLang="zh-TW" sz="1100" dirty="0">
                <a:solidFill>
                  <a:schemeClr val="tx1"/>
                </a:solidFill>
              </a:rPr>
              <a:t>8-10: Xuất sắc, cần cải thiện nhưng không phải là ưu tiên</a:t>
            </a:r>
          </a:p>
          <a:p>
            <a:r>
              <a:rPr lang="vi-VN" altLang="zh-TW" sz="1100" dirty="0">
                <a:solidFill>
                  <a:schemeClr val="tx1"/>
                </a:solidFill>
              </a:rPr>
              <a:t>6-7: Trung bình, cần cải thiện để đạt xuất sắc</a:t>
            </a:r>
          </a:p>
          <a:p>
            <a:r>
              <a:rPr lang="vi-VN" altLang="zh-TW" sz="1100" dirty="0">
                <a:solidFill>
                  <a:schemeClr val="tx1"/>
                </a:solidFill>
              </a:rPr>
              <a:t>0-5: Điểm yếu, cần học hỏi và cải thiện để đạt trung bình</a:t>
            </a:r>
            <a:endParaRPr lang="zh-TW" altLang="en-US" sz="1100" dirty="0">
              <a:solidFill>
                <a:schemeClr val="tx1"/>
              </a:solidFill>
            </a:endParaRPr>
          </a:p>
        </p:txBody>
      </p:sp>
    </p:spTree>
    <p:extLst>
      <p:ext uri="{BB962C8B-B14F-4D97-AF65-F5344CB8AC3E}">
        <p14:creationId xmlns:p14="http://schemas.microsoft.com/office/powerpoint/2010/main" val="2105029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AE814-C8CC-1B29-A1B3-89CA10D6C2D8}"/>
            </a:ext>
          </a:extLst>
        </p:cNvPr>
        <p:cNvGrpSpPr/>
        <p:nvPr/>
      </p:nvGrpSpPr>
      <p:grpSpPr>
        <a:xfrm>
          <a:off x="0" y="0"/>
          <a:ext cx="0" cy="0"/>
          <a:chOff x="0" y="0"/>
          <a:chExt cx="0" cy="0"/>
        </a:xfrm>
      </p:grpSpPr>
      <p:grpSp>
        <p:nvGrpSpPr>
          <p:cNvPr id="43" name="群組 42">
            <a:extLst>
              <a:ext uri="{FF2B5EF4-FFF2-40B4-BE49-F238E27FC236}">
                <a16:creationId xmlns:a16="http://schemas.microsoft.com/office/drawing/2014/main" id="{16C28EAE-56F2-C84F-AAB9-0B8EFA8B46C4}"/>
              </a:ext>
            </a:extLst>
          </p:cNvPr>
          <p:cNvGrpSpPr/>
          <p:nvPr/>
        </p:nvGrpSpPr>
        <p:grpSpPr>
          <a:xfrm>
            <a:off x="195262" y="178409"/>
            <a:ext cx="11801476" cy="588751"/>
            <a:chOff x="195262" y="163202"/>
            <a:chExt cx="11801476" cy="588751"/>
          </a:xfrm>
        </p:grpSpPr>
        <p:sp>
          <p:nvSpPr>
            <p:cNvPr id="44" name="矩形: 圓角 43">
              <a:extLst>
                <a:ext uri="{FF2B5EF4-FFF2-40B4-BE49-F238E27FC236}">
                  <a16:creationId xmlns:a16="http://schemas.microsoft.com/office/drawing/2014/main" id="{F56DA744-C7C5-44B1-A99E-22EB4816F6A7}"/>
                </a:ext>
              </a:extLst>
            </p:cNvPr>
            <p:cNvSpPr/>
            <p:nvPr/>
          </p:nvSpPr>
          <p:spPr>
            <a:xfrm>
              <a:off x="195262" y="247970"/>
              <a:ext cx="11801476" cy="419217"/>
            </a:xfrm>
            <a:prstGeom prst="roundRect">
              <a:avLst>
                <a:gd name="adj" fmla="val 40804"/>
              </a:avLst>
            </a:prstGeom>
            <a:gradFill flip="none" rotWithShape="1">
              <a:gsLst>
                <a:gs pos="0">
                  <a:schemeClr val="bg1">
                    <a:lumMod val="95000"/>
                  </a:schemeClr>
                </a:gs>
                <a:gs pos="18000">
                  <a:schemeClr val="tx1">
                    <a:lumMod val="50000"/>
                    <a:lumOff val="50000"/>
                  </a:schemeClr>
                </a:gs>
                <a:gs pos="83000">
                  <a:schemeClr val="tx1">
                    <a:lumMod val="75000"/>
                    <a:lumOff val="25000"/>
                  </a:schemeClr>
                </a:gs>
                <a:gs pos="100000">
                  <a:schemeClr val="tx1">
                    <a:lumMod val="75000"/>
                    <a:lumOff val="25000"/>
                  </a:schemeClr>
                </a:gs>
              </a:gsLst>
              <a:lin ang="0" scaled="1"/>
              <a:tileRect/>
            </a:gra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ysClr val="windowText" lastClr="000000"/>
                </a:solidFill>
                <a:latin typeface="微軟正黑體" panose="020B0604030504040204" pitchFamily="34" charset="-120"/>
                <a:ea typeface="微軟正黑體" panose="020B0604030504040204" pitchFamily="34" charset="-120"/>
              </a:endParaRPr>
            </a:p>
          </p:txBody>
        </p:sp>
        <p:grpSp>
          <p:nvGrpSpPr>
            <p:cNvPr id="45" name="群組 44">
              <a:extLst>
                <a:ext uri="{FF2B5EF4-FFF2-40B4-BE49-F238E27FC236}">
                  <a16:creationId xmlns:a16="http://schemas.microsoft.com/office/drawing/2014/main" id="{728E927A-F9BC-4A8C-7E90-792F2B11FF1A}"/>
                </a:ext>
              </a:extLst>
            </p:cNvPr>
            <p:cNvGrpSpPr/>
            <p:nvPr/>
          </p:nvGrpSpPr>
          <p:grpSpPr>
            <a:xfrm>
              <a:off x="600729" y="163202"/>
              <a:ext cx="1038687" cy="588751"/>
              <a:chOff x="1782913" y="2529000"/>
              <a:chExt cx="3121572" cy="1800001"/>
            </a:xfrm>
          </p:grpSpPr>
          <p:sp>
            <p:nvSpPr>
              <p:cNvPr id="48" name="圆角矩形 15">
                <a:extLst>
                  <a:ext uri="{FF2B5EF4-FFF2-40B4-BE49-F238E27FC236}">
                    <a16:creationId xmlns:a16="http://schemas.microsoft.com/office/drawing/2014/main" id="{EAA60DBE-77B7-95E3-848E-3AC9AAC60DFD}"/>
                  </a:ext>
                </a:extLst>
              </p:cNvPr>
              <p:cNvSpPr/>
              <p:nvPr/>
            </p:nvSpPr>
            <p:spPr>
              <a:xfrm rot="2700000">
                <a:off x="1857839" y="2529000"/>
                <a:ext cx="1800000" cy="1800001"/>
              </a:xfrm>
              <a:prstGeom prst="roundRect">
                <a:avLst/>
              </a:prstGeom>
              <a:solidFill>
                <a:srgbClr val="34B2E4"/>
              </a:solidFill>
              <a:ln>
                <a:noFill/>
              </a:ln>
              <a:effectLst>
                <a:outerShdw blurRad="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ea"/>
                  <a:sym typeface="+mn-lt"/>
                </a:endParaRPr>
              </a:p>
            </p:txBody>
          </p:sp>
          <p:sp>
            <p:nvSpPr>
              <p:cNvPr id="49" name="圆角矩形 16">
                <a:extLst>
                  <a:ext uri="{FF2B5EF4-FFF2-40B4-BE49-F238E27FC236}">
                    <a16:creationId xmlns:a16="http://schemas.microsoft.com/office/drawing/2014/main" id="{DCCBFAAD-D77C-FE4E-3320-9A3E4F894916}"/>
                  </a:ext>
                </a:extLst>
              </p:cNvPr>
              <p:cNvSpPr/>
              <p:nvPr/>
            </p:nvSpPr>
            <p:spPr>
              <a:xfrm rot="2700000">
                <a:off x="1782913" y="2529000"/>
                <a:ext cx="1800000" cy="1800000"/>
              </a:xfrm>
              <a:prstGeom prst="roundRect">
                <a:avLst/>
              </a:prstGeom>
              <a:solidFill>
                <a:schemeClr val="bg1"/>
              </a:solidFill>
              <a:ln>
                <a:noFill/>
              </a:ln>
              <a:effectLst>
                <a:outerShdw blurRad="1905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ea"/>
                  <a:sym typeface="+mn-lt"/>
                </a:endParaRPr>
              </a:p>
            </p:txBody>
          </p:sp>
          <p:pic>
            <p:nvPicPr>
              <p:cNvPr id="50" name="圖片 49" descr="一張含有 文字, 輪子, 美工圖案, 齒輪 的圖片&#10;&#10;自動產生的描述">
                <a:extLst>
                  <a:ext uri="{FF2B5EF4-FFF2-40B4-BE49-F238E27FC236}">
                    <a16:creationId xmlns:a16="http://schemas.microsoft.com/office/drawing/2014/main" id="{A7F544AF-FAAC-7557-C76C-9A0FC2AC4D99}"/>
                  </a:ext>
                </a:extLst>
              </p:cNvPr>
              <p:cNvPicPr>
                <a:picLocks noChangeAspect="1"/>
              </p:cNvPicPr>
              <p:nvPr/>
            </p:nvPicPr>
            <p:blipFill rotWithShape="1">
              <a:blip r:embed="rId2" cstate="print">
                <a:grayscl/>
                <a:extLst>
                  <a:ext uri="{28A0092B-C50C-407E-A947-70E740481C1C}">
                    <a14:useLocalDpi xmlns:a14="http://schemas.microsoft.com/office/drawing/2010/main" val="0"/>
                  </a:ext>
                </a:extLst>
              </a:blip>
              <a:srcRect l="73898"/>
              <a:stretch>
                <a:fillRect/>
              </a:stretch>
            </p:blipFill>
            <p:spPr>
              <a:xfrm rot="5400000">
                <a:off x="3709805" y="2875160"/>
                <a:ext cx="1281680" cy="1107681"/>
              </a:xfrm>
              <a:prstGeom prst="rect">
                <a:avLst/>
              </a:prstGeom>
              <a:noFill/>
              <a:ln>
                <a:noFill/>
              </a:ln>
            </p:spPr>
          </p:pic>
          <p:sp>
            <p:nvSpPr>
              <p:cNvPr id="51" name="矩形 50">
                <a:extLst>
                  <a:ext uri="{FF2B5EF4-FFF2-40B4-BE49-F238E27FC236}">
                    <a16:creationId xmlns:a16="http://schemas.microsoft.com/office/drawing/2014/main" id="{DB1F7818-0CE2-302A-0BD0-EB40AD162369}"/>
                  </a:ext>
                </a:extLst>
              </p:cNvPr>
              <p:cNvSpPr/>
              <p:nvPr/>
            </p:nvSpPr>
            <p:spPr>
              <a:xfrm>
                <a:off x="1831379" y="2819459"/>
                <a:ext cx="1703069" cy="1337528"/>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1100" b="1" i="0" u="none" strike="noStrike" kern="1200" cap="none" spc="0" normalizeH="0" baseline="0" noProof="0" dirty="0">
                    <a:ln>
                      <a:noFill/>
                    </a:ln>
                    <a:solidFill>
                      <a:srgbClr val="A4A4A4"/>
                    </a:solidFill>
                    <a:effectLst/>
                    <a:uLnTx/>
                    <a:uFillTx/>
                    <a:latin typeface="DengXian" panose="02010600030101010101" pitchFamily="2" charset="-122"/>
                    <a:ea typeface="DengXian" panose="02010600030101010101" pitchFamily="2" charset="-122"/>
                  </a:rPr>
                  <a:t>BG6</a:t>
                </a:r>
              </a:p>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100" b="1" dirty="0">
                    <a:solidFill>
                      <a:srgbClr val="A4A4A4"/>
                    </a:solidFill>
                    <a:latin typeface="DengXian" panose="02010600030101010101" pitchFamily="2" charset="-122"/>
                    <a:ea typeface="DengXian" panose="02010600030101010101" pitchFamily="2" charset="-122"/>
                  </a:rPr>
                  <a:t>PVN</a:t>
                </a:r>
                <a:endParaRPr kumimoji="0" lang="en-US" altLang="zh-TW" sz="1100" b="1" i="0" u="none" strike="noStrike" kern="1200" cap="none" spc="0" normalizeH="0" baseline="0" noProof="0" dirty="0">
                  <a:ln>
                    <a:noFill/>
                  </a:ln>
                  <a:solidFill>
                    <a:srgbClr val="A4A4A4"/>
                  </a:solidFill>
                  <a:effectLst/>
                  <a:uLnTx/>
                  <a:uFillTx/>
                  <a:latin typeface="DengXian" panose="02010600030101010101" pitchFamily="2" charset="-122"/>
                  <a:ea typeface="DengXian" panose="02010600030101010101" pitchFamily="2" charset="-122"/>
                </a:endParaRPr>
              </a:p>
            </p:txBody>
          </p:sp>
        </p:grpSp>
        <p:sp>
          <p:nvSpPr>
            <p:cNvPr id="46" name="文字方塊 45">
              <a:extLst>
                <a:ext uri="{FF2B5EF4-FFF2-40B4-BE49-F238E27FC236}">
                  <a16:creationId xmlns:a16="http://schemas.microsoft.com/office/drawing/2014/main" id="{5DBD8CE8-C6A2-E5AB-11EC-1C88795B3ECA}"/>
                </a:ext>
              </a:extLst>
            </p:cNvPr>
            <p:cNvSpPr txBox="1"/>
            <p:nvPr/>
          </p:nvSpPr>
          <p:spPr>
            <a:xfrm>
              <a:off x="1604962" y="196222"/>
              <a:ext cx="6675438" cy="523220"/>
            </a:xfrm>
            <a:prstGeom prst="rect">
              <a:avLst/>
            </a:prstGeom>
            <a:noFill/>
          </p:spPr>
          <p:txBody>
            <a:bodyPr wrap="square" rtlCol="0">
              <a:spAutoFit/>
            </a:bodyPr>
            <a:lstStyle>
              <a:defPPr>
                <a:defRPr lang="zh-TW"/>
              </a:defPPr>
              <a:lvl1pPr defTabSz="837565">
                <a:defRPr sz="3200" b="1">
                  <a:solidFill>
                    <a:srgbClr val="2E9CC8"/>
                  </a:solidFill>
                  <a:latin typeface="DengXian" panose="02010600030101010101" pitchFamily="2" charset="-122"/>
                  <a:ea typeface="DengXian" panose="02010600030101010101" pitchFamily="2" charset="-122"/>
                </a:defRPr>
              </a:lvl1pPr>
            </a:lstStyle>
            <a:p>
              <a:r>
                <a:rPr lang="zh-TW" altLang="en-US" sz="2800" dirty="0">
                  <a:solidFill>
                    <a:schemeClr val="bg1"/>
                  </a:solidFill>
                  <a:latin typeface="微軟正黑體" panose="020B0604030504040204" pitchFamily="34" charset="-120"/>
                  <a:ea typeface="微軟正黑體" panose="020B0604030504040204" pitchFamily="34" charset="-120"/>
                  <a:sym typeface="+mn-ea"/>
                </a:rPr>
                <a:t>自我評價</a:t>
              </a:r>
              <a:r>
                <a:rPr lang="en-US" altLang="zh-TW" sz="2800" dirty="0">
                  <a:solidFill>
                    <a:schemeClr val="bg1"/>
                  </a:solidFill>
                  <a:latin typeface="微軟正黑體" panose="020B0604030504040204" pitchFamily="34" charset="-120"/>
                  <a:ea typeface="微軟正黑體" panose="020B0604030504040204" pitchFamily="34" charset="-120"/>
                  <a:sym typeface="+mn-ea"/>
                </a:rPr>
                <a:t>-29</a:t>
              </a:r>
              <a:r>
                <a:rPr lang="zh-TW" altLang="en-US" sz="2800" dirty="0">
                  <a:solidFill>
                    <a:schemeClr val="bg1"/>
                  </a:solidFill>
                  <a:latin typeface="微軟正黑體" panose="020B0604030504040204" pitchFamily="34" charset="-120"/>
                  <a:ea typeface="微軟正黑體" panose="020B0604030504040204" pitchFamily="34" charset="-120"/>
                  <a:sym typeface="+mn-ea"/>
                </a:rPr>
                <a:t>職等以上自評</a:t>
              </a:r>
              <a:r>
                <a:rPr lang="en-US" altLang="zh-TW" sz="2800" dirty="0">
                  <a:solidFill>
                    <a:schemeClr val="bg1"/>
                  </a:solidFill>
                  <a:latin typeface="微軟正黑體" panose="020B0604030504040204" pitchFamily="34" charset="-120"/>
                  <a:ea typeface="微軟正黑體" panose="020B0604030504040204" pitchFamily="34" charset="-120"/>
                  <a:sym typeface="+mn-ea"/>
                </a:rPr>
                <a:t>(1-10)</a:t>
              </a:r>
            </a:p>
          </p:txBody>
        </p:sp>
      </p:grpSp>
      <p:grpSp>
        <p:nvGrpSpPr>
          <p:cNvPr id="7" name="群組 6">
            <a:extLst>
              <a:ext uri="{FF2B5EF4-FFF2-40B4-BE49-F238E27FC236}">
                <a16:creationId xmlns:a16="http://schemas.microsoft.com/office/drawing/2014/main" id="{E8A2E610-9033-711C-22DA-D07E6BA485B3}"/>
              </a:ext>
            </a:extLst>
          </p:cNvPr>
          <p:cNvGrpSpPr/>
          <p:nvPr/>
        </p:nvGrpSpPr>
        <p:grpSpPr>
          <a:xfrm>
            <a:off x="11145334" y="6021230"/>
            <a:ext cx="1058632" cy="775686"/>
            <a:chOff x="1633100" y="4132365"/>
            <a:chExt cx="419208" cy="307164"/>
          </a:xfrm>
        </p:grpSpPr>
        <p:sp>
          <p:nvSpPr>
            <p:cNvPr id="8" name="Oval 21">
              <a:extLst>
                <a:ext uri="{FF2B5EF4-FFF2-40B4-BE49-F238E27FC236}">
                  <a16:creationId xmlns:a16="http://schemas.microsoft.com/office/drawing/2014/main" id="{6CD05818-5A8F-25DD-3A84-5E6A91EFB560}"/>
                </a:ext>
              </a:extLst>
            </p:cNvPr>
            <p:cNvSpPr/>
            <p:nvPr/>
          </p:nvSpPr>
          <p:spPr>
            <a:xfrm rot="20111049">
              <a:off x="1633100" y="4132365"/>
              <a:ext cx="301450" cy="254502"/>
            </a:xfrm>
            <a:custGeom>
              <a:avLst/>
              <a:gdLst/>
              <a:ahLst/>
              <a:cxnLst/>
              <a:rect l="l" t="t" r="r" b="b"/>
              <a:pathLst>
                <a:path w="4088377" h="3321003">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bg1"/>
            </a:solidFill>
            <a:ln w="3175">
              <a:solidFill>
                <a:schemeClr val="bg2">
                  <a:lumMod val="75000"/>
                </a:schemeClr>
              </a:solidFill>
            </a:ln>
            <a:effectLst>
              <a:outerShdw blurRad="50800" dist="38100" dir="8100000" sx="97000" sy="97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bg1"/>
                </a:solidFill>
              </a:endParaRPr>
            </a:p>
          </p:txBody>
        </p:sp>
        <p:grpSp>
          <p:nvGrpSpPr>
            <p:cNvPr id="9" name="群組 8">
              <a:extLst>
                <a:ext uri="{FF2B5EF4-FFF2-40B4-BE49-F238E27FC236}">
                  <a16:creationId xmlns:a16="http://schemas.microsoft.com/office/drawing/2014/main" id="{7AAE9357-BB64-A608-05A7-00D8EED9AC64}"/>
                </a:ext>
              </a:extLst>
            </p:cNvPr>
            <p:cNvGrpSpPr/>
            <p:nvPr/>
          </p:nvGrpSpPr>
          <p:grpSpPr>
            <a:xfrm>
              <a:off x="1727685" y="4270681"/>
              <a:ext cx="324623" cy="168848"/>
              <a:chOff x="2114400" y="4249726"/>
              <a:chExt cx="324623" cy="168848"/>
            </a:xfrm>
          </p:grpSpPr>
          <p:sp>
            <p:nvSpPr>
              <p:cNvPr id="10" name="文字方塊 9">
                <a:extLst>
                  <a:ext uri="{FF2B5EF4-FFF2-40B4-BE49-F238E27FC236}">
                    <a16:creationId xmlns:a16="http://schemas.microsoft.com/office/drawing/2014/main" id="{EC47DFCE-30A2-9338-59B2-23F78A694EFE}"/>
                  </a:ext>
                </a:extLst>
              </p:cNvPr>
              <p:cNvSpPr txBox="1"/>
              <p:nvPr/>
            </p:nvSpPr>
            <p:spPr>
              <a:xfrm>
                <a:off x="2114400" y="4249726"/>
                <a:ext cx="280467" cy="146252"/>
              </a:xfrm>
              <a:prstGeom prst="rect">
                <a:avLst/>
              </a:prstGeom>
              <a:noFill/>
            </p:spPr>
            <p:txBody>
              <a:bodyPr wrap="square" rtlCol="0">
                <a:spAutoFit/>
              </a:bodyPr>
              <a:lstStyle/>
              <a:p>
                <a:r>
                  <a:rPr lang="en-US" altLang="zh-TW" b="1" dirty="0">
                    <a:ln w="3175">
                      <a:solidFill>
                        <a:schemeClr val="bg2">
                          <a:lumMod val="50000"/>
                        </a:schemeClr>
                      </a:solidFill>
                    </a:ln>
                    <a:solidFill>
                      <a:schemeClr val="bg1"/>
                    </a:solidFill>
                    <a:effectLst>
                      <a:innerShdw blurRad="63500" dist="50800" dir="18900000">
                        <a:prstClr val="black">
                          <a:alpha val="50000"/>
                        </a:prstClr>
                      </a:innerShdw>
                    </a:effectLst>
                    <a:latin typeface="Amasis MT Pro Black" panose="020F0502020204030204" pitchFamily="18" charset="0"/>
                    <a:cs typeface="Arial" panose="020B0604020202020204" pitchFamily="34" charset="0"/>
                  </a:rPr>
                  <a:t>FME</a:t>
                </a:r>
                <a:endParaRPr lang="zh-TW" altLang="en-US" b="1" dirty="0">
                  <a:ln w="3175">
                    <a:solidFill>
                      <a:schemeClr val="bg2">
                        <a:lumMod val="50000"/>
                      </a:schemeClr>
                    </a:solidFill>
                  </a:ln>
                  <a:solidFill>
                    <a:schemeClr val="bg1"/>
                  </a:solidFill>
                  <a:effectLst>
                    <a:innerShdw blurRad="63500" dist="50800" dir="18900000">
                      <a:prstClr val="black">
                        <a:alpha val="50000"/>
                      </a:prstClr>
                    </a:innerShdw>
                  </a:effectLst>
                  <a:latin typeface="Amasis MT Pro Black" panose="020F0502020204030204" pitchFamily="18" charset="0"/>
                  <a:cs typeface="Arial" panose="020B0604020202020204" pitchFamily="34" charset="0"/>
                </a:endParaRPr>
              </a:p>
            </p:txBody>
          </p:sp>
          <p:sp>
            <p:nvSpPr>
              <p:cNvPr id="11" name="文字方塊 10">
                <a:extLst>
                  <a:ext uri="{FF2B5EF4-FFF2-40B4-BE49-F238E27FC236}">
                    <a16:creationId xmlns:a16="http://schemas.microsoft.com/office/drawing/2014/main" id="{1E5D1D21-AD9C-CEDB-9E3C-A130B3E7FC0D}"/>
                  </a:ext>
                </a:extLst>
              </p:cNvPr>
              <p:cNvSpPr txBox="1"/>
              <p:nvPr/>
            </p:nvSpPr>
            <p:spPr>
              <a:xfrm>
                <a:off x="2131213" y="4333260"/>
                <a:ext cx="307810" cy="85314"/>
              </a:xfrm>
              <a:prstGeom prst="rect">
                <a:avLst/>
              </a:prstGeom>
              <a:noFill/>
            </p:spPr>
            <p:txBody>
              <a:bodyPr wrap="square" rtlCol="0">
                <a:spAutoFit/>
              </a:bodyPr>
              <a:lstStyle/>
              <a:p>
                <a:r>
                  <a:rPr lang="en-US" altLang="zh-TW" sz="800" b="1" dirty="0">
                    <a:ln w="3175">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BG6</a:t>
                </a:r>
                <a:r>
                  <a:rPr lang="zh-TW" altLang="en-US" sz="800" b="1" dirty="0">
                    <a:ln w="3175">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 </a:t>
                </a:r>
                <a:r>
                  <a:rPr lang="en-US" altLang="zh-TW" sz="800" b="1" dirty="0">
                    <a:ln w="0">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PVN</a:t>
                </a:r>
                <a:endParaRPr lang="zh-TW" altLang="en-US" sz="800" b="1" dirty="0">
                  <a:ln w="0">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endParaRPr>
              </a:p>
            </p:txBody>
          </p:sp>
        </p:grpSp>
      </p:grpSp>
      <p:sp>
        <p:nvSpPr>
          <p:cNvPr id="36" name="文字方塊 35">
            <a:extLst>
              <a:ext uri="{FF2B5EF4-FFF2-40B4-BE49-F238E27FC236}">
                <a16:creationId xmlns:a16="http://schemas.microsoft.com/office/drawing/2014/main" id="{413E3680-5C47-CDED-5C60-43C4AF48E89C}"/>
              </a:ext>
            </a:extLst>
          </p:cNvPr>
          <p:cNvSpPr txBox="1"/>
          <p:nvPr/>
        </p:nvSpPr>
        <p:spPr>
          <a:xfrm>
            <a:off x="480286" y="984537"/>
            <a:ext cx="5041418" cy="4708981"/>
          </a:xfrm>
          <a:prstGeom prst="rect">
            <a:avLst/>
          </a:prstGeom>
          <a:solidFill>
            <a:schemeClr val="lt1"/>
          </a:solidFill>
          <a:ln w="3175" cap="flat" cmpd="sng" algn="ctr">
            <a:solidFill>
              <a:schemeClr val="bg1">
                <a:lumMod val="50000"/>
              </a:schemeClr>
            </a:solidFill>
            <a:prstDash val="solid"/>
            <a:miter lim="800000"/>
          </a:ln>
          <a:effectLst/>
        </p:spPr>
        <p:style>
          <a:lnRef idx="2">
            <a:schemeClr val="accent1"/>
          </a:lnRef>
          <a:fillRef idx="1">
            <a:schemeClr val="lt1"/>
          </a:fillRef>
          <a:effectRef idx="0">
            <a:schemeClr val="accent1"/>
          </a:effectRef>
          <a:fontRef idx="minor">
            <a:schemeClr val="dk1"/>
          </a:fontRef>
        </p:style>
        <p:txBody>
          <a:bodyPr wrap="square">
            <a:spAutoFit/>
          </a:bodyPr>
          <a:lstStyle/>
          <a:p>
            <a:pPr>
              <a:buNone/>
            </a:pPr>
            <a:r>
              <a:rPr lang="en-US" altLang="zh-TW" sz="1000" dirty="0"/>
              <a:t>1. </a:t>
            </a:r>
            <a:r>
              <a:rPr lang="zh-TW" altLang="en-US" sz="1000" dirty="0"/>
              <a:t>個人能力 </a:t>
            </a:r>
            <a:r>
              <a:rPr lang="en-US" altLang="zh-TW" sz="1000" dirty="0"/>
              <a:t>(Personal Competencies)</a:t>
            </a:r>
          </a:p>
          <a:p>
            <a:pPr>
              <a:buFont typeface="Arial" panose="020B0604020202020204" pitchFamily="34" charset="0"/>
              <a:buChar char="•"/>
            </a:pPr>
            <a:r>
              <a:rPr lang="zh-TW" altLang="en-US" sz="1000" b="1" dirty="0"/>
              <a:t>邏輯思考</a:t>
            </a:r>
            <a:r>
              <a:rPr lang="zh-TW" altLang="en-US" sz="1000" dirty="0"/>
              <a:t>：</a:t>
            </a:r>
            <a:r>
              <a:rPr lang="en-US" altLang="zh-TW" sz="1000" dirty="0"/>
              <a:t>: </a:t>
            </a:r>
            <a:r>
              <a:rPr lang="zh-TW" altLang="en-US" sz="1000" dirty="0"/>
              <a:t>能夠清晰地思考，進行分析判斷，解決複雜問題。 </a:t>
            </a:r>
            <a:endParaRPr lang="zh-TW" altLang="en-US" sz="1000" dirty="0">
              <a:effectLst/>
            </a:endParaRPr>
          </a:p>
          <a:p>
            <a:pPr>
              <a:buFont typeface="Arial" panose="020B0604020202020204" pitchFamily="34" charset="0"/>
              <a:buChar char="•"/>
            </a:pPr>
            <a:r>
              <a:rPr lang="zh-TW" altLang="en-US" sz="1000" b="1" dirty="0"/>
              <a:t>情緒控制與智商</a:t>
            </a:r>
            <a:r>
              <a:rPr lang="zh-TW" altLang="en-US" sz="1000" dirty="0"/>
              <a:t>：</a:t>
            </a:r>
            <a:r>
              <a:rPr lang="en-US" altLang="zh-TW" sz="1000" dirty="0"/>
              <a:t>: </a:t>
            </a:r>
            <a:r>
              <a:rPr lang="zh-TW" altLang="en-US" sz="1000" dirty="0"/>
              <a:t>能夠管理自身情緒，在壓力下保持冷靜，並展現高情商，以更好地與人互動。 </a:t>
            </a:r>
          </a:p>
          <a:p>
            <a:pPr>
              <a:buNone/>
            </a:pPr>
            <a:r>
              <a:rPr lang="zh-TW" altLang="en-US" sz="1000" dirty="0">
                <a:effectLst/>
              </a:rPr>
              <a:t> </a:t>
            </a:r>
          </a:p>
          <a:p>
            <a:pPr>
              <a:buNone/>
            </a:pPr>
            <a:r>
              <a:rPr lang="en-US" altLang="zh-TW" sz="1000" dirty="0"/>
              <a:t>2. </a:t>
            </a:r>
            <a:r>
              <a:rPr lang="zh-TW" altLang="en-US" sz="1000" dirty="0"/>
              <a:t>人際溝通能力 </a:t>
            </a:r>
            <a:r>
              <a:rPr lang="en-US" altLang="zh-TW" sz="1000" dirty="0"/>
              <a:t>(Interpersonal Skills)</a:t>
            </a:r>
          </a:p>
          <a:p>
            <a:pPr>
              <a:buNone/>
            </a:pPr>
            <a:r>
              <a:rPr lang="zh-TW" altLang="en-US" sz="1000" b="1" dirty="0"/>
              <a:t>溝通與協調</a:t>
            </a:r>
            <a:r>
              <a:rPr lang="zh-TW" altLang="en-US" sz="1000" dirty="0"/>
              <a:t>：</a:t>
            </a:r>
          </a:p>
          <a:p>
            <a:pPr>
              <a:buNone/>
            </a:pPr>
            <a:r>
              <a:rPr lang="zh-TW" altLang="en-US" sz="1000" dirty="0"/>
              <a:t>有效傳達訊息，聆聽他人意見，並協調團隊內部關係，確保順暢運作。 </a:t>
            </a:r>
            <a:endParaRPr lang="zh-TW" altLang="en-US" sz="1000" dirty="0">
              <a:effectLst/>
            </a:endParaRPr>
          </a:p>
          <a:p>
            <a:pPr>
              <a:buNone/>
            </a:pPr>
            <a:r>
              <a:rPr lang="zh-TW" altLang="en-US" sz="1000" b="1" dirty="0"/>
              <a:t>同理心與尊重</a:t>
            </a:r>
            <a:r>
              <a:rPr lang="zh-TW" altLang="en-US" sz="1000" dirty="0"/>
              <a:t>：</a:t>
            </a:r>
          </a:p>
          <a:p>
            <a:pPr>
              <a:buNone/>
            </a:pPr>
            <a:r>
              <a:rPr lang="zh-TW" altLang="en-US" sz="1000" dirty="0"/>
              <a:t>理解他人感受，尊重團隊成員，並能夠激勵他人，營造良好的團隊氛圍。 </a:t>
            </a:r>
          </a:p>
          <a:p>
            <a:pPr>
              <a:buNone/>
            </a:pPr>
            <a:r>
              <a:rPr lang="zh-TW" altLang="en-US" sz="1000" dirty="0">
                <a:effectLst/>
              </a:rPr>
              <a:t> </a:t>
            </a:r>
          </a:p>
          <a:p>
            <a:pPr>
              <a:buNone/>
            </a:pPr>
            <a:r>
              <a:rPr lang="en-US" altLang="zh-TW" sz="1000" dirty="0"/>
              <a:t>3. </a:t>
            </a:r>
            <a:r>
              <a:rPr lang="zh-TW" altLang="en-US" sz="1000" dirty="0"/>
              <a:t>工作管理能力 </a:t>
            </a:r>
            <a:r>
              <a:rPr lang="en-US" altLang="zh-TW" sz="1000" dirty="0"/>
              <a:t>(Work Management)</a:t>
            </a:r>
          </a:p>
          <a:p>
            <a:pPr>
              <a:buFont typeface="Arial" panose="020B0604020202020204" pitchFamily="34" charset="0"/>
              <a:buChar char="•"/>
            </a:pPr>
            <a:r>
              <a:rPr lang="zh-TW" altLang="en-US" sz="1000" b="1" dirty="0"/>
              <a:t>任務分配與控制</a:t>
            </a:r>
            <a:r>
              <a:rPr lang="zh-TW" altLang="en-US" sz="1000" dirty="0"/>
              <a:t>：</a:t>
            </a:r>
            <a:r>
              <a:rPr lang="en-US" altLang="zh-TW" sz="1000" dirty="0"/>
              <a:t>: </a:t>
            </a:r>
            <a:r>
              <a:rPr lang="zh-TW" altLang="en-US" sz="1000" dirty="0"/>
              <a:t>將工作任務合理分配給團隊成員，並控管工作進度，確保任務按時完成。 </a:t>
            </a:r>
            <a:endParaRPr lang="zh-TW" altLang="en-US" sz="1000" dirty="0">
              <a:effectLst/>
            </a:endParaRPr>
          </a:p>
          <a:p>
            <a:pPr>
              <a:buFont typeface="Arial" panose="020B0604020202020204" pitchFamily="34" charset="0"/>
              <a:buChar char="•"/>
            </a:pPr>
            <a:r>
              <a:rPr lang="zh-TW" altLang="en-US" sz="1000" b="1" dirty="0"/>
              <a:t>資源運用</a:t>
            </a:r>
            <a:r>
              <a:rPr lang="zh-TW" altLang="en-US" sz="1000" dirty="0"/>
              <a:t>：</a:t>
            </a:r>
            <a:r>
              <a:rPr lang="en-US" altLang="zh-TW" sz="1000" dirty="0"/>
              <a:t>: </a:t>
            </a:r>
            <a:r>
              <a:rPr lang="zh-TW" altLang="en-US" sz="1000" dirty="0"/>
              <a:t>善於運用有限的資源，提高工作效率。 </a:t>
            </a:r>
          </a:p>
          <a:p>
            <a:pPr>
              <a:buNone/>
            </a:pPr>
            <a:r>
              <a:rPr lang="zh-TW" altLang="en-US" sz="1000" dirty="0">
                <a:effectLst/>
              </a:rPr>
              <a:t> </a:t>
            </a:r>
          </a:p>
          <a:p>
            <a:pPr>
              <a:buNone/>
            </a:pPr>
            <a:r>
              <a:rPr lang="en-US" altLang="zh-TW" sz="1000" dirty="0"/>
              <a:t>4. </a:t>
            </a:r>
            <a:r>
              <a:rPr lang="zh-TW" altLang="en-US" sz="1000" dirty="0"/>
              <a:t>專案管理能力 </a:t>
            </a:r>
            <a:r>
              <a:rPr lang="en-US" altLang="zh-TW" sz="1000" dirty="0"/>
              <a:t>(Project Management)</a:t>
            </a:r>
          </a:p>
          <a:p>
            <a:pPr>
              <a:buFont typeface="Arial" panose="020B0604020202020204" pitchFamily="34" charset="0"/>
              <a:buChar char="•"/>
            </a:pPr>
            <a:r>
              <a:rPr lang="zh-TW" altLang="en-US" sz="1000" b="1" dirty="0"/>
              <a:t>團隊協作</a:t>
            </a:r>
            <a:r>
              <a:rPr lang="zh-TW" altLang="en-US" sz="1000" dirty="0"/>
              <a:t>：</a:t>
            </a:r>
            <a:r>
              <a:rPr lang="en-US" altLang="zh-TW" sz="1000" dirty="0"/>
              <a:t>: </a:t>
            </a:r>
            <a:r>
              <a:rPr lang="zh-TW" altLang="en-US" sz="1000" dirty="0"/>
              <a:t>帶領團隊合作，共同達成專案目標。 </a:t>
            </a:r>
            <a:endParaRPr lang="zh-TW" altLang="en-US" sz="1000" dirty="0">
              <a:effectLst/>
            </a:endParaRPr>
          </a:p>
          <a:p>
            <a:pPr>
              <a:buFont typeface="Arial" panose="020B0604020202020204" pitchFamily="34" charset="0"/>
              <a:buChar char="•"/>
            </a:pPr>
            <a:r>
              <a:rPr lang="zh-TW" altLang="en-US" sz="1000" b="1" dirty="0"/>
              <a:t>目標達成</a:t>
            </a:r>
            <a:r>
              <a:rPr lang="zh-TW" altLang="en-US" sz="1000" dirty="0"/>
              <a:t>：</a:t>
            </a:r>
            <a:r>
              <a:rPr lang="en-US" altLang="zh-TW" sz="1000" dirty="0"/>
              <a:t>: </a:t>
            </a:r>
            <a:r>
              <a:rPr lang="zh-TW" altLang="en-US" sz="1000" dirty="0"/>
              <a:t>確保團隊成員專注於共同的大目標，並將其轉化為可執行的行動，最終達成目標。 </a:t>
            </a:r>
          </a:p>
          <a:p>
            <a:pPr>
              <a:buNone/>
            </a:pPr>
            <a:r>
              <a:rPr lang="zh-TW" altLang="en-US" sz="1000" dirty="0">
                <a:effectLst/>
              </a:rPr>
              <a:t> </a:t>
            </a:r>
          </a:p>
          <a:p>
            <a:pPr>
              <a:buNone/>
            </a:pPr>
            <a:r>
              <a:rPr lang="en-US" altLang="zh-TW" sz="1000" dirty="0"/>
              <a:t>5. </a:t>
            </a:r>
            <a:r>
              <a:rPr lang="zh-TW" altLang="en-US" sz="1000" dirty="0"/>
              <a:t>問題解決能力 </a:t>
            </a:r>
            <a:r>
              <a:rPr lang="en-US" altLang="zh-TW" sz="1000" dirty="0"/>
              <a:t>(Problem-Solving)</a:t>
            </a:r>
          </a:p>
          <a:p>
            <a:pPr>
              <a:buNone/>
            </a:pPr>
            <a:r>
              <a:rPr lang="zh-TW" altLang="en-US" sz="1000" b="1" dirty="0"/>
              <a:t>策略性思考</a:t>
            </a:r>
            <a:r>
              <a:rPr lang="zh-TW" altLang="en-US" sz="1000" dirty="0"/>
              <a:t>：</a:t>
            </a:r>
          </a:p>
          <a:p>
            <a:pPr>
              <a:buNone/>
            </a:pPr>
            <a:r>
              <a:rPr lang="zh-TW" altLang="en-US" sz="1000" dirty="0"/>
              <a:t>能夠以長遠的眼光思考，找出問題的根本原因，並制定解決方案。 </a:t>
            </a:r>
            <a:endParaRPr lang="zh-TW" altLang="en-US" sz="1000" dirty="0">
              <a:effectLst/>
            </a:endParaRPr>
          </a:p>
          <a:p>
            <a:pPr>
              <a:buNone/>
            </a:pPr>
            <a:r>
              <a:rPr lang="zh-TW" altLang="en-US" sz="1000" b="1" dirty="0"/>
              <a:t>決策能力</a:t>
            </a:r>
            <a:r>
              <a:rPr lang="zh-TW" altLang="en-US" sz="1000" dirty="0"/>
              <a:t>：</a:t>
            </a:r>
          </a:p>
          <a:p>
            <a:pPr>
              <a:buNone/>
            </a:pPr>
            <a:r>
              <a:rPr lang="zh-TW" altLang="en-US" sz="1000" dirty="0"/>
              <a:t>在快速變化的環境中做出正確的決策，並承擔相應的責任。 </a:t>
            </a:r>
          </a:p>
          <a:p>
            <a:pPr>
              <a:buNone/>
            </a:pPr>
            <a:r>
              <a:rPr lang="zh-TW" altLang="en-US" sz="1000" dirty="0">
                <a:effectLst/>
              </a:rPr>
              <a:t> </a:t>
            </a:r>
          </a:p>
          <a:p>
            <a:pPr>
              <a:buNone/>
            </a:pPr>
            <a:r>
              <a:rPr lang="en-US" altLang="zh-TW" sz="1000" dirty="0"/>
              <a:t>6. </a:t>
            </a:r>
            <a:r>
              <a:rPr lang="zh-TW" altLang="en-US" sz="1000" dirty="0"/>
              <a:t>領導力 </a:t>
            </a:r>
            <a:r>
              <a:rPr lang="en-US" altLang="zh-TW" sz="1000" dirty="0"/>
              <a:t>(Leadership)</a:t>
            </a:r>
          </a:p>
          <a:p>
            <a:pPr>
              <a:buFont typeface="Arial" panose="020B0604020202020204" pitchFamily="34" charset="0"/>
              <a:buChar char="•"/>
            </a:pPr>
            <a:r>
              <a:rPr lang="zh-TW" altLang="en-US" sz="1000" b="1" dirty="0"/>
              <a:t>激勵與授權</a:t>
            </a:r>
            <a:r>
              <a:rPr lang="zh-TW" altLang="en-US" sz="1000" dirty="0"/>
              <a:t>：</a:t>
            </a:r>
            <a:r>
              <a:rPr lang="en-US" altLang="zh-TW" sz="1000" dirty="0"/>
              <a:t>: </a:t>
            </a:r>
            <a:r>
              <a:rPr lang="zh-TW" altLang="en-US" sz="1000" dirty="0"/>
              <a:t>激發團隊成員的潛力，並適時賦予任務和權力，培養接班人。 </a:t>
            </a:r>
            <a:endParaRPr lang="zh-TW" altLang="en-US" sz="1000" dirty="0">
              <a:effectLst/>
            </a:endParaRPr>
          </a:p>
          <a:p>
            <a:pPr>
              <a:buFont typeface="Arial" panose="020B0604020202020204" pitchFamily="34" charset="0"/>
              <a:buChar char="•"/>
            </a:pPr>
            <a:r>
              <a:rPr lang="zh-TW" altLang="en-US" sz="1000" b="1" dirty="0">
                <a:effectLst/>
              </a:rPr>
              <a:t>賦予團隊成員權能</a:t>
            </a:r>
            <a:r>
              <a:rPr lang="zh-TW" altLang="en-US" sz="1000" dirty="0">
                <a:effectLst/>
              </a:rPr>
              <a:t>：</a:t>
            </a:r>
            <a:r>
              <a:rPr lang="en-US" altLang="zh-TW" sz="1000" dirty="0">
                <a:effectLst/>
              </a:rPr>
              <a:t>: </a:t>
            </a:r>
            <a:r>
              <a:rPr lang="zh-TW" altLang="en-US" sz="1000" dirty="0">
                <a:effectLst/>
              </a:rPr>
              <a:t>將權力下放給團隊成員，讓他們有機會成長和發展。</a:t>
            </a:r>
            <a:r>
              <a:rPr lang="zh-TW" altLang="en-US" sz="1000" dirty="0"/>
              <a:t> </a:t>
            </a:r>
          </a:p>
        </p:txBody>
      </p:sp>
      <p:sp>
        <p:nvSpPr>
          <p:cNvPr id="18" name="文字方塊 17">
            <a:extLst>
              <a:ext uri="{FF2B5EF4-FFF2-40B4-BE49-F238E27FC236}">
                <a16:creationId xmlns:a16="http://schemas.microsoft.com/office/drawing/2014/main" id="{413E3680-5C47-CDED-5C60-43C4AF48E89C}"/>
              </a:ext>
            </a:extLst>
          </p:cNvPr>
          <p:cNvSpPr txBox="1"/>
          <p:nvPr/>
        </p:nvSpPr>
        <p:spPr>
          <a:xfrm>
            <a:off x="5680720" y="984537"/>
            <a:ext cx="5364889" cy="5786199"/>
          </a:xfrm>
          <a:prstGeom prst="rect">
            <a:avLst/>
          </a:prstGeom>
          <a:solidFill>
            <a:schemeClr val="lt1"/>
          </a:solidFill>
          <a:ln w="3175" cap="flat" cmpd="sng" algn="ctr">
            <a:solidFill>
              <a:schemeClr val="bg1">
                <a:lumMod val="50000"/>
              </a:schemeClr>
            </a:solidFill>
            <a:prstDash val="solid"/>
            <a:miter lim="800000"/>
          </a:ln>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TW" sz="1000" dirty="0" smtClean="0">
                <a:latin typeface="Arial" panose="020B0604020202020204" pitchFamily="34" charset="0"/>
                <a:cs typeface="Arial" panose="020B0604020202020204" pitchFamily="34" charset="0"/>
              </a:rPr>
              <a:t>1.</a:t>
            </a:r>
            <a:r>
              <a:rPr lang="vi-VN" altLang="zh-TW" sz="1000" dirty="0">
                <a:latin typeface="Arial" panose="020B0604020202020204" pitchFamily="34" charset="0"/>
                <a:cs typeface="Arial" panose="020B0604020202020204" pitchFamily="34" charset="0"/>
              </a:rPr>
              <a:t> Năng lực cá </a:t>
            </a:r>
            <a:r>
              <a:rPr lang="vi-VN" altLang="zh-TW" sz="1000" dirty="0" smtClean="0">
                <a:latin typeface="Arial" panose="020B0604020202020204" pitchFamily="34" charset="0"/>
                <a:cs typeface="Arial" panose="020B0604020202020204" pitchFamily="34" charset="0"/>
              </a:rPr>
              <a:t>nhân</a:t>
            </a:r>
            <a:r>
              <a:rPr lang="en-US" altLang="zh-TW" sz="1000" dirty="0">
                <a:latin typeface="Arial" panose="020B0604020202020204" pitchFamily="34" charset="0"/>
                <a:cs typeface="Arial" panose="020B0604020202020204" pitchFamily="34" charset="0"/>
              </a:rPr>
              <a:t>(Personal Competencies</a:t>
            </a:r>
            <a:r>
              <a:rPr lang="en-US" altLang="zh-TW" sz="1000" dirty="0" smtClean="0">
                <a:latin typeface="Arial" panose="020B0604020202020204" pitchFamily="34" charset="0"/>
                <a:cs typeface="Arial" panose="020B0604020202020204" pitchFamily="34" charset="0"/>
              </a:rPr>
              <a:t>)</a:t>
            </a:r>
            <a:endParaRPr lang="vi-VN" altLang="zh-TW" sz="10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vi-VN" altLang="zh-TW" sz="1000" b="1" dirty="0">
                <a:latin typeface="Arial" panose="020B0604020202020204" pitchFamily="34" charset="0"/>
                <a:cs typeface="Arial" panose="020B0604020202020204" pitchFamily="34" charset="0"/>
              </a:rPr>
              <a:t>Tư duy logic: </a:t>
            </a:r>
            <a:r>
              <a:rPr lang="vi-VN" altLang="zh-TW" sz="1000" dirty="0">
                <a:latin typeface="Arial" panose="020B0604020202020204" pitchFamily="34" charset="0"/>
                <a:cs typeface="Arial" panose="020B0604020202020204" pitchFamily="34" charset="0"/>
              </a:rPr>
              <a:t>Khả năng suy nghĩ rõ ràng, phân tích, phán đoán và giải quyết các vấn đề phức tạp.</a:t>
            </a:r>
          </a:p>
          <a:p>
            <a:pPr marL="171450" indent="-171450">
              <a:buFont typeface="Arial" panose="020B0604020202020204" pitchFamily="34" charset="0"/>
              <a:buChar char="•"/>
            </a:pPr>
            <a:r>
              <a:rPr lang="vi-VN" altLang="zh-TW" sz="1000" b="1" dirty="0">
                <a:latin typeface="Arial" panose="020B0604020202020204" pitchFamily="34" charset="0"/>
                <a:cs typeface="Arial" panose="020B0604020202020204" pitchFamily="34" charset="0"/>
              </a:rPr>
              <a:t>Kiểm soát cảm xúc và trí tuệ: </a:t>
            </a:r>
            <a:r>
              <a:rPr lang="vi-VN" altLang="zh-TW" sz="1000" dirty="0">
                <a:latin typeface="Arial" panose="020B0604020202020204" pitchFamily="34" charset="0"/>
                <a:cs typeface="Arial" panose="020B0604020202020204" pitchFamily="34" charset="0"/>
              </a:rPr>
              <a:t>Khả năng quản lý cảm xúc, giữ bình tĩnh dưới áp lực và thể hiện trí tuệ cảm xúc cao để tương tác tốt hơn với người khác.</a:t>
            </a:r>
            <a:r>
              <a:rPr lang="zh-TW" altLang="en-US" sz="1000" dirty="0" smtClean="0">
                <a:latin typeface="Arial" panose="020B0604020202020204" pitchFamily="34" charset="0"/>
                <a:cs typeface="Arial" panose="020B0604020202020204" pitchFamily="34" charset="0"/>
              </a:rPr>
              <a:t> </a:t>
            </a:r>
            <a:endParaRPr lang="en-US" altLang="zh-TW" sz="1000" dirty="0" smtClean="0">
              <a:latin typeface="Arial" panose="020B0604020202020204" pitchFamily="34" charset="0"/>
              <a:cs typeface="Arial" panose="020B0604020202020204" pitchFamily="34" charset="0"/>
            </a:endParaRPr>
          </a:p>
          <a:p>
            <a:pPr>
              <a:buNone/>
            </a:pPr>
            <a:endParaRPr lang="en-US" altLang="zh-TW" sz="1000" dirty="0">
              <a:latin typeface="Arial" panose="020B0604020202020204" pitchFamily="34" charset="0"/>
              <a:cs typeface="Arial" panose="020B0604020202020204" pitchFamily="34" charset="0"/>
            </a:endParaRPr>
          </a:p>
          <a:p>
            <a:r>
              <a:rPr lang="vi-VN" altLang="zh-TW" sz="1000" dirty="0">
                <a:latin typeface="Arial" panose="020B0604020202020204" pitchFamily="34" charset="0"/>
                <a:cs typeface="Arial" panose="020B0604020202020204" pitchFamily="34" charset="0"/>
              </a:rPr>
              <a:t>2. Kỹ năng giao </a:t>
            </a:r>
            <a:r>
              <a:rPr lang="vi-VN" altLang="zh-TW" sz="1000" dirty="0" smtClean="0">
                <a:latin typeface="Arial" panose="020B0604020202020204" pitchFamily="34" charset="0"/>
                <a:cs typeface="Arial" panose="020B0604020202020204" pitchFamily="34" charset="0"/>
              </a:rPr>
              <a:t>tiếp</a:t>
            </a:r>
            <a:r>
              <a:rPr lang="en-US" altLang="zh-TW" sz="1000" dirty="0">
                <a:latin typeface="Arial" panose="020B0604020202020204" pitchFamily="34" charset="0"/>
                <a:cs typeface="Arial" panose="020B0604020202020204" pitchFamily="34" charset="0"/>
              </a:rPr>
              <a:t>(Interpersonal Skills</a:t>
            </a:r>
            <a:r>
              <a:rPr lang="en-US" altLang="zh-TW" sz="1000" dirty="0" smtClean="0">
                <a:latin typeface="Arial" panose="020B0604020202020204" pitchFamily="34" charset="0"/>
                <a:cs typeface="Arial" panose="020B0604020202020204" pitchFamily="34" charset="0"/>
              </a:rPr>
              <a:t>)</a:t>
            </a:r>
            <a:endParaRPr lang="vi-VN" altLang="zh-TW" sz="10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vi-VN" altLang="zh-TW" sz="1000" b="1" dirty="0">
                <a:latin typeface="Arial" panose="020B0604020202020204" pitchFamily="34" charset="0"/>
                <a:cs typeface="Arial" panose="020B0604020202020204" pitchFamily="34" charset="0"/>
              </a:rPr>
              <a:t>Giao tiếp và Phối </a:t>
            </a:r>
            <a:r>
              <a:rPr lang="vi-VN" altLang="zh-TW" sz="1000" b="1" dirty="0" smtClean="0">
                <a:latin typeface="Arial" panose="020B0604020202020204" pitchFamily="34" charset="0"/>
                <a:cs typeface="Arial" panose="020B0604020202020204" pitchFamily="34" charset="0"/>
              </a:rPr>
              <a:t>hợp:</a:t>
            </a:r>
            <a:endParaRPr lang="en-US" altLang="zh-TW" sz="1000" b="1" dirty="0" smtClean="0">
              <a:latin typeface="Arial" panose="020B0604020202020204" pitchFamily="34" charset="0"/>
              <a:cs typeface="Arial" panose="020B0604020202020204" pitchFamily="34" charset="0"/>
            </a:endParaRPr>
          </a:p>
          <a:p>
            <a:r>
              <a:rPr lang="vi-VN" altLang="zh-TW" sz="1000" dirty="0" smtClean="0">
                <a:latin typeface="Arial" panose="020B0604020202020204" pitchFamily="34" charset="0"/>
                <a:cs typeface="Arial" panose="020B0604020202020204" pitchFamily="34" charset="0"/>
              </a:rPr>
              <a:t>Truyền </a:t>
            </a:r>
            <a:r>
              <a:rPr lang="vi-VN" altLang="zh-TW" sz="1000" dirty="0">
                <a:latin typeface="Arial" panose="020B0604020202020204" pitchFamily="34" charset="0"/>
                <a:cs typeface="Arial" panose="020B0604020202020204" pitchFamily="34" charset="0"/>
              </a:rPr>
              <a:t>đạt thông tin hiệu quả, lắng nghe ý kiến ​​của người khác và điều phối các mối quan hệ trong nhóm để đảm bảo hoạt động trơn tru.</a:t>
            </a:r>
          </a:p>
          <a:p>
            <a:pPr marL="171450" indent="-171450">
              <a:buFont typeface="Arial" panose="020B0604020202020204" pitchFamily="34" charset="0"/>
              <a:buChar char="•"/>
            </a:pPr>
            <a:r>
              <a:rPr lang="vi-VN" altLang="zh-TW" sz="1000" b="1" dirty="0">
                <a:latin typeface="Arial" panose="020B0604020202020204" pitchFamily="34" charset="0"/>
                <a:cs typeface="Arial" panose="020B0604020202020204" pitchFamily="34" charset="0"/>
              </a:rPr>
              <a:t>Đồng cảm và Tôn trọng:</a:t>
            </a:r>
          </a:p>
          <a:p>
            <a:pPr>
              <a:buNone/>
            </a:pPr>
            <a:r>
              <a:rPr lang="vi-VN" altLang="zh-TW" sz="1000" dirty="0">
                <a:latin typeface="Arial" panose="020B0604020202020204" pitchFamily="34" charset="0"/>
                <a:cs typeface="Arial" panose="020B0604020202020204" pitchFamily="34" charset="0"/>
              </a:rPr>
              <a:t>Hiểu được cảm xúc của người khác, tôn trọng các thành viên trong nhóm, có khả năng động viên người khác và tạo ra bầu không khí làm việc nhóm tích cực</a:t>
            </a:r>
            <a:r>
              <a:rPr lang="vi-VN" altLang="zh-TW" sz="1000" dirty="0" smtClean="0">
                <a:latin typeface="Arial" panose="020B0604020202020204" pitchFamily="34" charset="0"/>
                <a:cs typeface="Arial" panose="020B0604020202020204" pitchFamily="34" charset="0"/>
              </a:rPr>
              <a:t>.</a:t>
            </a:r>
            <a:endParaRPr lang="en-US" altLang="zh-TW" sz="1000" dirty="0" smtClean="0">
              <a:latin typeface="Arial" panose="020B0604020202020204" pitchFamily="34" charset="0"/>
              <a:cs typeface="Arial" panose="020B0604020202020204" pitchFamily="34" charset="0"/>
            </a:endParaRPr>
          </a:p>
          <a:p>
            <a:pPr>
              <a:buNone/>
            </a:pPr>
            <a:endParaRPr lang="en-US" altLang="zh-TW" sz="1000" dirty="0">
              <a:latin typeface="Arial" panose="020B0604020202020204" pitchFamily="34" charset="0"/>
              <a:cs typeface="Arial" panose="020B0604020202020204" pitchFamily="34" charset="0"/>
            </a:endParaRPr>
          </a:p>
          <a:p>
            <a:r>
              <a:rPr lang="en-US" altLang="zh-TW" sz="1000" dirty="0">
                <a:latin typeface="Arial" panose="020B0604020202020204" pitchFamily="34" charset="0"/>
                <a:cs typeface="Arial" panose="020B0604020202020204" pitchFamily="34" charset="0"/>
              </a:rPr>
              <a:t>3. </a:t>
            </a:r>
            <a:r>
              <a:rPr lang="en-US" altLang="zh-TW" sz="1000" dirty="0" err="1">
                <a:latin typeface="Arial" panose="020B0604020202020204" pitchFamily="34" charset="0"/>
                <a:cs typeface="Arial" panose="020B0604020202020204" pitchFamily="34" charset="0"/>
              </a:rPr>
              <a:t>Quản</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lý</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công</a:t>
            </a:r>
            <a:r>
              <a:rPr lang="en-US" altLang="zh-TW" sz="1000" dirty="0">
                <a:latin typeface="Arial" panose="020B0604020202020204" pitchFamily="34" charset="0"/>
                <a:cs typeface="Arial" panose="020B0604020202020204" pitchFamily="34" charset="0"/>
              </a:rPr>
              <a:t> </a:t>
            </a:r>
            <a:r>
              <a:rPr lang="en-US" altLang="zh-TW" sz="1000" dirty="0" err="1" smtClean="0">
                <a:latin typeface="Arial" panose="020B0604020202020204" pitchFamily="34" charset="0"/>
                <a:cs typeface="Arial" panose="020B0604020202020204" pitchFamily="34" charset="0"/>
              </a:rPr>
              <a:t>việc</a:t>
            </a:r>
            <a:r>
              <a:rPr lang="en-US" altLang="zh-TW" sz="1000" dirty="0">
                <a:latin typeface="Arial" panose="020B0604020202020204" pitchFamily="34" charset="0"/>
                <a:cs typeface="Arial" panose="020B0604020202020204" pitchFamily="34" charset="0"/>
              </a:rPr>
              <a:t>(Work Management</a:t>
            </a:r>
            <a:r>
              <a:rPr lang="en-US" altLang="zh-TW" sz="1000" dirty="0" smtClean="0">
                <a:latin typeface="Arial" panose="020B0604020202020204" pitchFamily="34" charset="0"/>
                <a:cs typeface="Arial" panose="020B0604020202020204" pitchFamily="34" charset="0"/>
              </a:rPr>
              <a:t>)</a:t>
            </a:r>
            <a:endParaRPr lang="en-US" altLang="zh-TW" sz="10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altLang="zh-TW" sz="1000" b="1" dirty="0" err="1">
                <a:latin typeface="Arial" panose="020B0604020202020204" pitchFamily="34" charset="0"/>
                <a:cs typeface="Arial" panose="020B0604020202020204" pitchFamily="34" charset="0"/>
              </a:rPr>
              <a:t>Phân</a:t>
            </a:r>
            <a:r>
              <a:rPr lang="en-US" altLang="zh-TW" sz="1000" b="1" dirty="0">
                <a:latin typeface="Arial" panose="020B0604020202020204" pitchFamily="34" charset="0"/>
                <a:cs typeface="Arial" panose="020B0604020202020204" pitchFamily="34" charset="0"/>
              </a:rPr>
              <a:t> </a:t>
            </a:r>
            <a:r>
              <a:rPr lang="en-US" altLang="zh-TW" sz="1000" b="1" dirty="0" err="1">
                <a:latin typeface="Arial" panose="020B0604020202020204" pitchFamily="34" charset="0"/>
                <a:cs typeface="Arial" panose="020B0604020202020204" pitchFamily="34" charset="0"/>
              </a:rPr>
              <a:t>bổ</a:t>
            </a:r>
            <a:r>
              <a:rPr lang="en-US" altLang="zh-TW" sz="1000" b="1" dirty="0">
                <a:latin typeface="Arial" panose="020B0604020202020204" pitchFamily="34" charset="0"/>
                <a:cs typeface="Arial" panose="020B0604020202020204" pitchFamily="34" charset="0"/>
              </a:rPr>
              <a:t> </a:t>
            </a:r>
            <a:r>
              <a:rPr lang="en-US" altLang="zh-TW" sz="1000" b="1" dirty="0" err="1">
                <a:latin typeface="Arial" panose="020B0604020202020204" pitchFamily="34" charset="0"/>
                <a:cs typeface="Arial" panose="020B0604020202020204" pitchFamily="34" charset="0"/>
              </a:rPr>
              <a:t>và</a:t>
            </a:r>
            <a:r>
              <a:rPr lang="en-US" altLang="zh-TW" sz="1000" b="1" dirty="0">
                <a:latin typeface="Arial" panose="020B0604020202020204" pitchFamily="34" charset="0"/>
                <a:cs typeface="Arial" panose="020B0604020202020204" pitchFamily="34" charset="0"/>
              </a:rPr>
              <a:t> </a:t>
            </a:r>
            <a:r>
              <a:rPr lang="en-US" altLang="zh-TW" sz="1000" b="1" dirty="0" err="1">
                <a:latin typeface="Arial" panose="020B0604020202020204" pitchFamily="34" charset="0"/>
                <a:cs typeface="Arial" panose="020B0604020202020204" pitchFamily="34" charset="0"/>
              </a:rPr>
              <a:t>kiểm</a:t>
            </a:r>
            <a:r>
              <a:rPr lang="en-US" altLang="zh-TW" sz="1000" b="1" dirty="0">
                <a:latin typeface="Arial" panose="020B0604020202020204" pitchFamily="34" charset="0"/>
                <a:cs typeface="Arial" panose="020B0604020202020204" pitchFamily="34" charset="0"/>
              </a:rPr>
              <a:t> </a:t>
            </a:r>
            <a:r>
              <a:rPr lang="en-US" altLang="zh-TW" sz="1000" b="1" dirty="0" err="1">
                <a:latin typeface="Arial" panose="020B0604020202020204" pitchFamily="34" charset="0"/>
                <a:cs typeface="Arial" panose="020B0604020202020204" pitchFamily="34" charset="0"/>
              </a:rPr>
              <a:t>soát</a:t>
            </a:r>
            <a:r>
              <a:rPr lang="en-US" altLang="zh-TW" sz="1000" b="1" dirty="0">
                <a:latin typeface="Arial" panose="020B0604020202020204" pitchFamily="34" charset="0"/>
                <a:cs typeface="Arial" panose="020B0604020202020204" pitchFamily="34" charset="0"/>
              </a:rPr>
              <a:t> </a:t>
            </a:r>
            <a:r>
              <a:rPr lang="en-US" altLang="zh-TW" sz="1000" b="1" dirty="0" err="1">
                <a:latin typeface="Arial" panose="020B0604020202020204" pitchFamily="34" charset="0"/>
                <a:cs typeface="Arial" panose="020B0604020202020204" pitchFamily="34" charset="0"/>
              </a:rPr>
              <a:t>nhiệm</a:t>
            </a:r>
            <a:r>
              <a:rPr lang="en-US" altLang="zh-TW" sz="1000" b="1" dirty="0">
                <a:latin typeface="Arial" panose="020B0604020202020204" pitchFamily="34" charset="0"/>
                <a:cs typeface="Arial" panose="020B0604020202020204" pitchFamily="34" charset="0"/>
              </a:rPr>
              <a:t> </a:t>
            </a:r>
            <a:r>
              <a:rPr lang="en-US" altLang="zh-TW" sz="1000" b="1" dirty="0" err="1">
                <a:latin typeface="Arial" panose="020B0604020202020204" pitchFamily="34" charset="0"/>
                <a:cs typeface="Arial" panose="020B0604020202020204" pitchFamily="34" charset="0"/>
              </a:rPr>
              <a:t>vụ</a:t>
            </a:r>
            <a:r>
              <a:rPr lang="en-US" altLang="zh-TW" sz="1000" b="1"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Phân</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bổ</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nhiệm</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vụ</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phù</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hợp</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cho</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các</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thành</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viên</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trong</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nhóm</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và</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theo</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dõi</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tiến</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độ</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để</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đảm</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bảo</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hoàn</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thành</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đúng</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hạn</a:t>
            </a:r>
            <a:r>
              <a:rPr lang="en-US" altLang="zh-TW" sz="1000" dirty="0">
                <a:latin typeface="Arial" panose="020B0604020202020204" pitchFamily="34" charset="0"/>
                <a:cs typeface="Arial" panose="020B0604020202020204" pitchFamily="34" charset="0"/>
              </a:rPr>
              <a:t>.</a:t>
            </a:r>
          </a:p>
          <a:p>
            <a:pPr marL="171450" indent="-171450">
              <a:buFont typeface="Arial" panose="020B0604020202020204" pitchFamily="34" charset="0"/>
              <a:buChar char="•"/>
            </a:pPr>
            <a:r>
              <a:rPr lang="en-US" altLang="zh-TW" sz="1000" b="1" dirty="0" err="1">
                <a:latin typeface="Arial" panose="020B0604020202020204" pitchFamily="34" charset="0"/>
                <a:cs typeface="Arial" panose="020B0604020202020204" pitchFamily="34" charset="0"/>
              </a:rPr>
              <a:t>Sử</a:t>
            </a:r>
            <a:r>
              <a:rPr lang="en-US" altLang="zh-TW" sz="1000" b="1" dirty="0">
                <a:latin typeface="Arial" panose="020B0604020202020204" pitchFamily="34" charset="0"/>
                <a:cs typeface="Arial" panose="020B0604020202020204" pitchFamily="34" charset="0"/>
              </a:rPr>
              <a:t> </a:t>
            </a:r>
            <a:r>
              <a:rPr lang="en-US" altLang="zh-TW" sz="1000" b="1" dirty="0" err="1">
                <a:latin typeface="Arial" panose="020B0604020202020204" pitchFamily="34" charset="0"/>
                <a:cs typeface="Arial" panose="020B0604020202020204" pitchFamily="34" charset="0"/>
              </a:rPr>
              <a:t>dụng</a:t>
            </a:r>
            <a:r>
              <a:rPr lang="en-US" altLang="zh-TW" sz="1000" b="1" dirty="0">
                <a:latin typeface="Arial" panose="020B0604020202020204" pitchFamily="34" charset="0"/>
                <a:cs typeface="Arial" panose="020B0604020202020204" pitchFamily="34" charset="0"/>
              </a:rPr>
              <a:t> </a:t>
            </a:r>
            <a:r>
              <a:rPr lang="en-US" altLang="zh-TW" sz="1000" b="1" dirty="0" err="1">
                <a:latin typeface="Arial" panose="020B0604020202020204" pitchFamily="34" charset="0"/>
                <a:cs typeface="Arial" panose="020B0604020202020204" pitchFamily="34" charset="0"/>
              </a:rPr>
              <a:t>nguồn</a:t>
            </a:r>
            <a:r>
              <a:rPr lang="en-US" altLang="zh-TW" sz="1000" b="1" dirty="0">
                <a:latin typeface="Arial" panose="020B0604020202020204" pitchFamily="34" charset="0"/>
                <a:cs typeface="Arial" panose="020B0604020202020204" pitchFamily="34" charset="0"/>
              </a:rPr>
              <a:t> </a:t>
            </a:r>
            <a:r>
              <a:rPr lang="en-US" altLang="zh-TW" sz="1000" b="1" dirty="0" err="1">
                <a:latin typeface="Arial" panose="020B0604020202020204" pitchFamily="34" charset="0"/>
                <a:cs typeface="Arial" panose="020B0604020202020204" pitchFamily="34" charset="0"/>
              </a:rPr>
              <a:t>lực</a:t>
            </a:r>
            <a:r>
              <a:rPr lang="en-US" altLang="zh-TW" sz="1000" b="1"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Sử</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dụng</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hiệu</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quả</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các</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nguồn</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lực</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hạn</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chế</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để</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nâng</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cao</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hiệu</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quả</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công</a:t>
            </a:r>
            <a:r>
              <a:rPr lang="en-US" altLang="zh-TW" sz="1000" dirty="0">
                <a:latin typeface="Arial" panose="020B0604020202020204" pitchFamily="34" charset="0"/>
                <a:cs typeface="Arial" panose="020B0604020202020204" pitchFamily="34" charset="0"/>
              </a:rPr>
              <a:t> </a:t>
            </a:r>
            <a:r>
              <a:rPr lang="en-US" altLang="zh-TW" sz="1000" dirty="0" err="1">
                <a:latin typeface="Arial" panose="020B0604020202020204" pitchFamily="34" charset="0"/>
                <a:cs typeface="Arial" panose="020B0604020202020204" pitchFamily="34" charset="0"/>
              </a:rPr>
              <a:t>việc</a:t>
            </a:r>
            <a:r>
              <a:rPr lang="en-US" altLang="zh-TW" sz="1000" dirty="0" smtClean="0">
                <a:latin typeface="Arial" panose="020B0604020202020204" pitchFamily="34" charset="0"/>
                <a:cs typeface="Arial" panose="020B0604020202020204" pitchFamily="34" charset="0"/>
              </a:rPr>
              <a:t>.</a:t>
            </a:r>
          </a:p>
          <a:p>
            <a:pPr>
              <a:buNone/>
            </a:pPr>
            <a:endParaRPr lang="en-US" altLang="zh-TW" sz="1000" dirty="0">
              <a:latin typeface="Arial" panose="020B0604020202020204" pitchFamily="34" charset="0"/>
              <a:cs typeface="Arial" panose="020B0604020202020204" pitchFamily="34" charset="0"/>
            </a:endParaRPr>
          </a:p>
          <a:p>
            <a:r>
              <a:rPr lang="vi-VN" altLang="zh-TW" sz="1000" dirty="0">
                <a:latin typeface="Arial" panose="020B0604020202020204" pitchFamily="34" charset="0"/>
                <a:cs typeface="Arial" panose="020B0604020202020204" pitchFamily="34" charset="0"/>
              </a:rPr>
              <a:t>4. Kỹ năng Quản lý Dự </a:t>
            </a:r>
            <a:r>
              <a:rPr lang="vi-VN" altLang="zh-TW" sz="1000" dirty="0" smtClean="0">
                <a:latin typeface="Arial" panose="020B0604020202020204" pitchFamily="34" charset="0"/>
                <a:cs typeface="Arial" panose="020B0604020202020204" pitchFamily="34" charset="0"/>
              </a:rPr>
              <a:t>án</a:t>
            </a:r>
            <a:r>
              <a:rPr lang="en-US" altLang="zh-TW" sz="1000" dirty="0">
                <a:latin typeface="Arial" panose="020B0604020202020204" pitchFamily="34" charset="0"/>
                <a:cs typeface="Arial" panose="020B0604020202020204" pitchFamily="34" charset="0"/>
              </a:rPr>
              <a:t>(Project Management</a:t>
            </a:r>
            <a:r>
              <a:rPr lang="en-US" altLang="zh-TW" sz="1000" dirty="0" smtClean="0">
                <a:latin typeface="Arial" panose="020B0604020202020204" pitchFamily="34" charset="0"/>
                <a:cs typeface="Arial" panose="020B0604020202020204" pitchFamily="34" charset="0"/>
              </a:rPr>
              <a:t>)</a:t>
            </a:r>
            <a:endParaRPr lang="vi-VN" altLang="zh-TW" sz="10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vi-VN" altLang="zh-TW" sz="1000" b="1" dirty="0">
                <a:latin typeface="Arial" panose="020B0604020202020204" pitchFamily="34" charset="0"/>
                <a:cs typeface="Arial" panose="020B0604020202020204" pitchFamily="34" charset="0"/>
              </a:rPr>
              <a:t>Làm việc nhóm: </a:t>
            </a:r>
            <a:r>
              <a:rPr lang="vi-VN" altLang="zh-TW" sz="1000" dirty="0">
                <a:latin typeface="Arial" panose="020B0604020202020204" pitchFamily="34" charset="0"/>
                <a:cs typeface="Arial" panose="020B0604020202020204" pitchFamily="34" charset="0"/>
              </a:rPr>
              <a:t>Dẫn dắt nhóm đạt được mục tiêu dự án.</a:t>
            </a:r>
          </a:p>
          <a:p>
            <a:pPr marL="171450" indent="-171450">
              <a:buFont typeface="Arial" panose="020B0604020202020204" pitchFamily="34" charset="0"/>
              <a:buChar char="•"/>
            </a:pPr>
            <a:r>
              <a:rPr lang="vi-VN" altLang="zh-TW" sz="1000" b="1" dirty="0">
                <a:latin typeface="Arial" panose="020B0604020202020204" pitchFamily="34" charset="0"/>
                <a:cs typeface="Arial" panose="020B0604020202020204" pitchFamily="34" charset="0"/>
              </a:rPr>
              <a:t>Đạt được Mục tiêu: </a:t>
            </a:r>
            <a:r>
              <a:rPr lang="vi-VN" altLang="zh-TW" sz="1000" dirty="0">
                <a:latin typeface="Arial" panose="020B0604020202020204" pitchFamily="34" charset="0"/>
                <a:cs typeface="Arial" panose="020B0604020202020204" pitchFamily="34" charset="0"/>
              </a:rPr>
              <a:t>Đảm bảo các thành viên trong nhóm tập trung vào các mục tiêu chung và biến chúng thành hành động thực tế để đạt được mục tiêu cuối cùng</a:t>
            </a:r>
            <a:r>
              <a:rPr lang="vi-VN" altLang="zh-TW" sz="1000" dirty="0" smtClean="0">
                <a:latin typeface="Arial" panose="020B0604020202020204" pitchFamily="34" charset="0"/>
                <a:cs typeface="Arial" panose="020B0604020202020204" pitchFamily="34" charset="0"/>
              </a:rPr>
              <a:t>.</a:t>
            </a:r>
            <a:endParaRPr lang="en-US" altLang="zh-TW" sz="1000" dirty="0" smtClean="0">
              <a:latin typeface="Arial" panose="020B0604020202020204" pitchFamily="34" charset="0"/>
              <a:cs typeface="Arial" panose="020B0604020202020204" pitchFamily="34" charset="0"/>
            </a:endParaRPr>
          </a:p>
          <a:p>
            <a:pPr>
              <a:buNone/>
            </a:pPr>
            <a:endParaRPr lang="en-US" altLang="zh-TW" sz="1000" dirty="0">
              <a:latin typeface="Arial" panose="020B0604020202020204" pitchFamily="34" charset="0"/>
              <a:cs typeface="Arial" panose="020B0604020202020204" pitchFamily="34" charset="0"/>
            </a:endParaRPr>
          </a:p>
          <a:p>
            <a:pPr>
              <a:buNone/>
            </a:pPr>
            <a:r>
              <a:rPr lang="vi-VN" altLang="zh-TW" sz="1000" dirty="0">
                <a:latin typeface="Arial" panose="020B0604020202020204" pitchFamily="34" charset="0"/>
                <a:cs typeface="Arial" panose="020B0604020202020204" pitchFamily="34" charset="0"/>
              </a:rPr>
              <a:t>5. Kỹ năng Giải quyết Vấn </a:t>
            </a:r>
            <a:r>
              <a:rPr lang="vi-VN" altLang="zh-TW" sz="1000" dirty="0" smtClean="0">
                <a:latin typeface="Arial" panose="020B0604020202020204" pitchFamily="34" charset="0"/>
                <a:cs typeface="Arial" panose="020B0604020202020204" pitchFamily="34" charset="0"/>
              </a:rPr>
              <a:t>đề</a:t>
            </a:r>
            <a:r>
              <a:rPr lang="en-US" altLang="zh-TW" sz="1000" dirty="0">
                <a:latin typeface="Arial" panose="020B0604020202020204" pitchFamily="34" charset="0"/>
                <a:cs typeface="Arial" panose="020B0604020202020204" pitchFamily="34" charset="0"/>
              </a:rPr>
              <a:t> (Problem-Solving)</a:t>
            </a:r>
            <a:endParaRPr lang="vi-VN" altLang="zh-TW" sz="10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vi-VN" altLang="zh-TW" sz="1000" b="1" dirty="0">
                <a:latin typeface="Arial" panose="020B0604020202020204" pitchFamily="34" charset="0"/>
                <a:cs typeface="Arial" panose="020B0604020202020204" pitchFamily="34" charset="0"/>
              </a:rPr>
              <a:t>Tư duy Chiến lược:</a:t>
            </a:r>
          </a:p>
          <a:p>
            <a:pPr>
              <a:buNone/>
            </a:pPr>
            <a:r>
              <a:rPr lang="vi-VN" altLang="zh-TW" sz="1000" dirty="0">
                <a:latin typeface="Arial" panose="020B0604020202020204" pitchFamily="34" charset="0"/>
                <a:cs typeface="Arial" panose="020B0604020202020204" pitchFamily="34" charset="0"/>
              </a:rPr>
              <a:t>Khả năng suy nghĩ dài hạn, xác định nguyên nhân gốc rễ của vấn đề và đưa ra giải pháp.</a:t>
            </a:r>
          </a:p>
          <a:p>
            <a:pPr marL="171450" indent="-171450">
              <a:buFont typeface="Arial" panose="020B0604020202020204" pitchFamily="34" charset="0"/>
              <a:buChar char="•"/>
            </a:pPr>
            <a:r>
              <a:rPr lang="vi-VN" altLang="zh-TW" sz="1000" b="1" dirty="0">
                <a:latin typeface="Arial" panose="020B0604020202020204" pitchFamily="34" charset="0"/>
                <a:cs typeface="Arial" panose="020B0604020202020204" pitchFamily="34" charset="0"/>
              </a:rPr>
              <a:t>Ra Quyết định:</a:t>
            </a:r>
          </a:p>
          <a:p>
            <a:pPr>
              <a:buNone/>
            </a:pPr>
            <a:r>
              <a:rPr lang="vi-VN" altLang="zh-TW" sz="1000" dirty="0">
                <a:latin typeface="Arial" panose="020B0604020202020204" pitchFamily="34" charset="0"/>
                <a:cs typeface="Arial" panose="020B0604020202020204" pitchFamily="34" charset="0"/>
              </a:rPr>
              <a:t>Đưa ra quyết định sáng suốt trong môi trường thay đổi nhanh chóng và chịu trách nhiệm về hậu quả</a:t>
            </a:r>
            <a:r>
              <a:rPr lang="vi-VN" altLang="zh-TW" sz="1000" dirty="0" smtClean="0">
                <a:latin typeface="Arial" panose="020B0604020202020204" pitchFamily="34" charset="0"/>
                <a:cs typeface="Arial" panose="020B0604020202020204" pitchFamily="34" charset="0"/>
              </a:rPr>
              <a:t>.</a:t>
            </a:r>
            <a:endParaRPr lang="en-US" altLang="zh-TW" sz="1000" dirty="0" smtClean="0">
              <a:latin typeface="Arial" panose="020B0604020202020204" pitchFamily="34" charset="0"/>
              <a:cs typeface="Arial" panose="020B0604020202020204" pitchFamily="34" charset="0"/>
            </a:endParaRPr>
          </a:p>
          <a:p>
            <a:pPr>
              <a:buNone/>
            </a:pPr>
            <a:endParaRPr lang="en-US" altLang="zh-TW" sz="1000" dirty="0">
              <a:latin typeface="Arial" panose="020B0604020202020204" pitchFamily="34" charset="0"/>
              <a:cs typeface="Arial" panose="020B0604020202020204" pitchFamily="34" charset="0"/>
            </a:endParaRPr>
          </a:p>
          <a:p>
            <a:r>
              <a:rPr lang="vi-VN" altLang="zh-TW" sz="1000" dirty="0">
                <a:latin typeface="Arial" panose="020B0604020202020204" pitchFamily="34" charset="0"/>
                <a:cs typeface="Arial" panose="020B0604020202020204" pitchFamily="34" charset="0"/>
              </a:rPr>
              <a:t>6. Lãnh </a:t>
            </a:r>
            <a:r>
              <a:rPr lang="vi-VN" altLang="zh-TW" sz="1000" dirty="0" smtClean="0">
                <a:latin typeface="Arial" panose="020B0604020202020204" pitchFamily="34" charset="0"/>
                <a:cs typeface="Arial" panose="020B0604020202020204" pitchFamily="34" charset="0"/>
              </a:rPr>
              <a:t>đạo</a:t>
            </a:r>
            <a:r>
              <a:rPr lang="en-US" altLang="zh-TW" sz="1000" dirty="0">
                <a:latin typeface="Arial" panose="020B0604020202020204" pitchFamily="34" charset="0"/>
                <a:cs typeface="Arial" panose="020B0604020202020204" pitchFamily="34" charset="0"/>
              </a:rPr>
              <a:t>(Leadership</a:t>
            </a:r>
            <a:r>
              <a:rPr lang="en-US" altLang="zh-TW" sz="1000" dirty="0" smtClean="0">
                <a:latin typeface="Arial" panose="020B0604020202020204" pitchFamily="34" charset="0"/>
                <a:cs typeface="Arial" panose="020B0604020202020204" pitchFamily="34" charset="0"/>
              </a:rPr>
              <a:t>)</a:t>
            </a:r>
            <a:endParaRPr lang="vi-VN" altLang="zh-TW" sz="10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vi-VN" altLang="zh-TW" sz="1000" b="1" dirty="0">
                <a:latin typeface="Arial" panose="020B0604020202020204" pitchFamily="34" charset="0"/>
                <a:cs typeface="Arial" panose="020B0604020202020204" pitchFamily="34" charset="0"/>
              </a:rPr>
              <a:t>Động lực và Trao quyền: </a:t>
            </a:r>
            <a:r>
              <a:rPr lang="vi-VN" altLang="zh-TW" sz="1000" dirty="0">
                <a:latin typeface="Arial" panose="020B0604020202020204" pitchFamily="34" charset="0"/>
                <a:cs typeface="Arial" panose="020B0604020202020204" pitchFamily="34" charset="0"/>
              </a:rPr>
              <a:t>Giải phóng tiềm năng của các thành viên trong nhóm, giao cho họ nhiệm vụ và quyền hạn phù hợp, đồng thời đào tạo người kế nhiệm.</a:t>
            </a:r>
          </a:p>
          <a:p>
            <a:pPr marL="171450" indent="-171450">
              <a:buFont typeface="Arial" panose="020B0604020202020204" pitchFamily="34" charset="0"/>
              <a:buChar char="•"/>
            </a:pPr>
            <a:r>
              <a:rPr lang="vi-VN" altLang="zh-TW" sz="1000" b="1" dirty="0">
                <a:latin typeface="Arial" panose="020B0604020202020204" pitchFamily="34" charset="0"/>
                <a:cs typeface="Arial" panose="020B0604020202020204" pitchFamily="34" charset="0"/>
              </a:rPr>
              <a:t>Trao quyền cho các thành viên trong nhóm: </a:t>
            </a:r>
            <a:r>
              <a:rPr lang="vi-VN" altLang="zh-TW" sz="1000" dirty="0">
                <a:latin typeface="Arial" panose="020B0604020202020204" pitchFamily="34" charset="0"/>
                <a:cs typeface="Arial" panose="020B0604020202020204" pitchFamily="34" charset="0"/>
              </a:rPr>
              <a:t>Ủy quyền cho các thành viên trong nhóm, tạo cơ hội cho họ phát triển và thăng tiến.</a:t>
            </a:r>
            <a:endParaRPr lang="zh-TW" altLang="en-US" sz="1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85066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9B0E2-8E69-E1BD-9336-B78BAB3FA415}"/>
            </a:ext>
          </a:extLst>
        </p:cNvPr>
        <p:cNvGrpSpPr/>
        <p:nvPr/>
      </p:nvGrpSpPr>
      <p:grpSpPr>
        <a:xfrm>
          <a:off x="0" y="0"/>
          <a:ext cx="0" cy="0"/>
          <a:chOff x="0" y="0"/>
          <a:chExt cx="0" cy="0"/>
        </a:xfrm>
      </p:grpSpPr>
      <p:grpSp>
        <p:nvGrpSpPr>
          <p:cNvPr id="43" name="群組 42">
            <a:extLst>
              <a:ext uri="{FF2B5EF4-FFF2-40B4-BE49-F238E27FC236}">
                <a16:creationId xmlns:a16="http://schemas.microsoft.com/office/drawing/2014/main" id="{67E3056B-0C34-F5AA-D5AC-645FF6B9D475}"/>
              </a:ext>
            </a:extLst>
          </p:cNvPr>
          <p:cNvGrpSpPr/>
          <p:nvPr/>
        </p:nvGrpSpPr>
        <p:grpSpPr>
          <a:xfrm>
            <a:off x="195262" y="178409"/>
            <a:ext cx="11801476" cy="588751"/>
            <a:chOff x="195262" y="163202"/>
            <a:chExt cx="11801476" cy="588751"/>
          </a:xfrm>
        </p:grpSpPr>
        <p:sp>
          <p:nvSpPr>
            <p:cNvPr id="44" name="矩形: 圓角 43">
              <a:extLst>
                <a:ext uri="{FF2B5EF4-FFF2-40B4-BE49-F238E27FC236}">
                  <a16:creationId xmlns:a16="http://schemas.microsoft.com/office/drawing/2014/main" id="{6ECFB01E-0847-1F20-5B72-6FCE918E76B7}"/>
                </a:ext>
              </a:extLst>
            </p:cNvPr>
            <p:cNvSpPr/>
            <p:nvPr/>
          </p:nvSpPr>
          <p:spPr>
            <a:xfrm>
              <a:off x="195262" y="247970"/>
              <a:ext cx="11801476" cy="419217"/>
            </a:xfrm>
            <a:prstGeom prst="roundRect">
              <a:avLst>
                <a:gd name="adj" fmla="val 40804"/>
              </a:avLst>
            </a:prstGeom>
            <a:gradFill flip="none" rotWithShape="1">
              <a:gsLst>
                <a:gs pos="0">
                  <a:schemeClr val="bg1">
                    <a:lumMod val="95000"/>
                  </a:schemeClr>
                </a:gs>
                <a:gs pos="18000">
                  <a:schemeClr val="tx1">
                    <a:lumMod val="50000"/>
                    <a:lumOff val="50000"/>
                  </a:schemeClr>
                </a:gs>
                <a:gs pos="83000">
                  <a:schemeClr val="tx1">
                    <a:lumMod val="75000"/>
                    <a:lumOff val="25000"/>
                  </a:schemeClr>
                </a:gs>
                <a:gs pos="100000">
                  <a:schemeClr val="tx1">
                    <a:lumMod val="75000"/>
                    <a:lumOff val="25000"/>
                  </a:schemeClr>
                </a:gs>
              </a:gsLst>
              <a:lin ang="0" scaled="1"/>
              <a:tileRect/>
            </a:gra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ysClr val="windowText" lastClr="000000"/>
                </a:solidFill>
                <a:latin typeface="微軟正黑體" panose="020B0604030504040204" pitchFamily="34" charset="-120"/>
                <a:ea typeface="微軟正黑體" panose="020B0604030504040204" pitchFamily="34" charset="-120"/>
              </a:endParaRPr>
            </a:p>
          </p:txBody>
        </p:sp>
        <p:grpSp>
          <p:nvGrpSpPr>
            <p:cNvPr id="45" name="群組 44">
              <a:extLst>
                <a:ext uri="{FF2B5EF4-FFF2-40B4-BE49-F238E27FC236}">
                  <a16:creationId xmlns:a16="http://schemas.microsoft.com/office/drawing/2014/main" id="{14DA2F2F-3B38-EE29-F54A-0376DE27857A}"/>
                </a:ext>
              </a:extLst>
            </p:cNvPr>
            <p:cNvGrpSpPr/>
            <p:nvPr/>
          </p:nvGrpSpPr>
          <p:grpSpPr>
            <a:xfrm>
              <a:off x="600729" y="163202"/>
              <a:ext cx="1038687" cy="588751"/>
              <a:chOff x="1782913" y="2529000"/>
              <a:chExt cx="3121572" cy="1800001"/>
            </a:xfrm>
          </p:grpSpPr>
          <p:sp>
            <p:nvSpPr>
              <p:cNvPr id="48" name="圆角矩形 15">
                <a:extLst>
                  <a:ext uri="{FF2B5EF4-FFF2-40B4-BE49-F238E27FC236}">
                    <a16:creationId xmlns:a16="http://schemas.microsoft.com/office/drawing/2014/main" id="{3D69DB24-AB2A-E919-8374-CC22304BA8C1}"/>
                  </a:ext>
                </a:extLst>
              </p:cNvPr>
              <p:cNvSpPr/>
              <p:nvPr/>
            </p:nvSpPr>
            <p:spPr>
              <a:xfrm rot="2700000">
                <a:off x="1857839" y="2529000"/>
                <a:ext cx="1800000" cy="1800001"/>
              </a:xfrm>
              <a:prstGeom prst="roundRect">
                <a:avLst/>
              </a:prstGeom>
              <a:solidFill>
                <a:srgbClr val="34B2E4"/>
              </a:solidFill>
              <a:ln>
                <a:noFill/>
              </a:ln>
              <a:effectLst>
                <a:outerShdw blurRad="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ea"/>
                  <a:sym typeface="+mn-lt"/>
                </a:endParaRPr>
              </a:p>
            </p:txBody>
          </p:sp>
          <p:sp>
            <p:nvSpPr>
              <p:cNvPr id="49" name="圆角矩形 16">
                <a:extLst>
                  <a:ext uri="{FF2B5EF4-FFF2-40B4-BE49-F238E27FC236}">
                    <a16:creationId xmlns:a16="http://schemas.microsoft.com/office/drawing/2014/main" id="{BE5C1B1F-8C15-B349-C902-05DA6D179072}"/>
                  </a:ext>
                </a:extLst>
              </p:cNvPr>
              <p:cNvSpPr/>
              <p:nvPr/>
            </p:nvSpPr>
            <p:spPr>
              <a:xfrm rot="2700000">
                <a:off x="1782913" y="2529000"/>
                <a:ext cx="1800000" cy="1800000"/>
              </a:xfrm>
              <a:prstGeom prst="roundRect">
                <a:avLst/>
              </a:prstGeom>
              <a:solidFill>
                <a:schemeClr val="bg1"/>
              </a:solidFill>
              <a:ln>
                <a:noFill/>
              </a:ln>
              <a:effectLst>
                <a:outerShdw blurRad="1905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ea"/>
                  <a:sym typeface="+mn-lt"/>
                </a:endParaRPr>
              </a:p>
            </p:txBody>
          </p:sp>
          <p:pic>
            <p:nvPicPr>
              <p:cNvPr id="50" name="圖片 49" descr="一張含有 文字, 輪子, 美工圖案, 齒輪 的圖片&#10;&#10;自動產生的描述">
                <a:extLst>
                  <a:ext uri="{FF2B5EF4-FFF2-40B4-BE49-F238E27FC236}">
                    <a16:creationId xmlns:a16="http://schemas.microsoft.com/office/drawing/2014/main" id="{8AB291CE-74BE-FFF6-E56E-B0BA60BA8BCC}"/>
                  </a:ext>
                </a:extLst>
              </p:cNvPr>
              <p:cNvPicPr>
                <a:picLocks noChangeAspect="1"/>
              </p:cNvPicPr>
              <p:nvPr/>
            </p:nvPicPr>
            <p:blipFill rotWithShape="1">
              <a:blip r:embed="rId2" cstate="print">
                <a:grayscl/>
                <a:extLst>
                  <a:ext uri="{28A0092B-C50C-407E-A947-70E740481C1C}">
                    <a14:useLocalDpi xmlns:a14="http://schemas.microsoft.com/office/drawing/2010/main" val="0"/>
                  </a:ext>
                </a:extLst>
              </a:blip>
              <a:srcRect l="73898"/>
              <a:stretch>
                <a:fillRect/>
              </a:stretch>
            </p:blipFill>
            <p:spPr>
              <a:xfrm rot="5400000">
                <a:off x="3709805" y="2875160"/>
                <a:ext cx="1281680" cy="1107681"/>
              </a:xfrm>
              <a:prstGeom prst="rect">
                <a:avLst/>
              </a:prstGeom>
              <a:noFill/>
              <a:ln>
                <a:noFill/>
              </a:ln>
            </p:spPr>
          </p:pic>
          <p:sp>
            <p:nvSpPr>
              <p:cNvPr id="51" name="矩形 50">
                <a:extLst>
                  <a:ext uri="{FF2B5EF4-FFF2-40B4-BE49-F238E27FC236}">
                    <a16:creationId xmlns:a16="http://schemas.microsoft.com/office/drawing/2014/main" id="{AE425BF9-EA9F-E928-7304-A7A5A6FDE150}"/>
                  </a:ext>
                </a:extLst>
              </p:cNvPr>
              <p:cNvSpPr/>
              <p:nvPr/>
            </p:nvSpPr>
            <p:spPr>
              <a:xfrm>
                <a:off x="1831379" y="2819459"/>
                <a:ext cx="1703069" cy="1337528"/>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1100" b="1" i="0" u="none" strike="noStrike" kern="1200" cap="none" spc="0" normalizeH="0" baseline="0" noProof="0" dirty="0">
                    <a:ln>
                      <a:noFill/>
                    </a:ln>
                    <a:solidFill>
                      <a:srgbClr val="A4A4A4"/>
                    </a:solidFill>
                    <a:effectLst/>
                    <a:uLnTx/>
                    <a:uFillTx/>
                    <a:latin typeface="DengXian" panose="02010600030101010101" pitchFamily="2" charset="-122"/>
                    <a:ea typeface="DengXian" panose="02010600030101010101" pitchFamily="2" charset="-122"/>
                  </a:rPr>
                  <a:t>BG6</a:t>
                </a:r>
              </a:p>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100" b="1" dirty="0">
                    <a:solidFill>
                      <a:srgbClr val="A4A4A4"/>
                    </a:solidFill>
                    <a:latin typeface="DengXian" panose="02010600030101010101" pitchFamily="2" charset="-122"/>
                    <a:ea typeface="DengXian" panose="02010600030101010101" pitchFamily="2" charset="-122"/>
                  </a:rPr>
                  <a:t>PVN</a:t>
                </a:r>
                <a:endParaRPr kumimoji="0" lang="en-US" altLang="zh-TW" sz="1100" b="1" i="0" u="none" strike="noStrike" kern="1200" cap="none" spc="0" normalizeH="0" baseline="0" noProof="0" dirty="0">
                  <a:ln>
                    <a:noFill/>
                  </a:ln>
                  <a:solidFill>
                    <a:srgbClr val="A4A4A4"/>
                  </a:solidFill>
                  <a:effectLst/>
                  <a:uLnTx/>
                  <a:uFillTx/>
                  <a:latin typeface="DengXian" panose="02010600030101010101" pitchFamily="2" charset="-122"/>
                  <a:ea typeface="DengXian" panose="02010600030101010101" pitchFamily="2" charset="-122"/>
                </a:endParaRPr>
              </a:p>
            </p:txBody>
          </p:sp>
        </p:grpSp>
        <p:sp>
          <p:nvSpPr>
            <p:cNvPr id="46" name="文字方塊 45">
              <a:extLst>
                <a:ext uri="{FF2B5EF4-FFF2-40B4-BE49-F238E27FC236}">
                  <a16:creationId xmlns:a16="http://schemas.microsoft.com/office/drawing/2014/main" id="{0996ADB0-C166-5F26-40D4-A2DF33541778}"/>
                </a:ext>
              </a:extLst>
            </p:cNvPr>
            <p:cNvSpPr txBox="1"/>
            <p:nvPr/>
          </p:nvSpPr>
          <p:spPr>
            <a:xfrm>
              <a:off x="1604962" y="196222"/>
              <a:ext cx="5431155" cy="521970"/>
            </a:xfrm>
            <a:prstGeom prst="rect">
              <a:avLst/>
            </a:prstGeom>
            <a:noFill/>
          </p:spPr>
          <p:txBody>
            <a:bodyPr wrap="square" rtlCol="0">
              <a:spAutoFit/>
            </a:bodyPr>
            <a:lstStyle>
              <a:defPPr>
                <a:defRPr lang="zh-TW"/>
              </a:defPPr>
              <a:lvl1pPr defTabSz="837565">
                <a:defRPr sz="3200" b="1">
                  <a:solidFill>
                    <a:srgbClr val="2E9CC8"/>
                  </a:solidFill>
                  <a:latin typeface="DengXian" panose="02010600030101010101" pitchFamily="2" charset="-122"/>
                  <a:ea typeface="DengXian" panose="02010600030101010101" pitchFamily="2" charset="-122"/>
                </a:defRPr>
              </a:lvl1pPr>
            </a:lstStyle>
            <a:p>
              <a:r>
                <a:rPr lang="en-US" altLang="zh-TW" sz="2800" dirty="0">
                  <a:solidFill>
                    <a:schemeClr val="bg1"/>
                  </a:solidFill>
                  <a:latin typeface="微軟正黑體" panose="020B0604030504040204" pitchFamily="34" charset="-120"/>
                  <a:ea typeface="微軟正黑體" panose="020B0604030504040204" pitchFamily="34" charset="-120"/>
                  <a:sym typeface="+mn-ea"/>
                </a:rPr>
                <a:t>29</a:t>
              </a:r>
              <a:r>
                <a:rPr lang="zh-TW" altLang="en-US" sz="2800" dirty="0">
                  <a:solidFill>
                    <a:schemeClr val="bg1"/>
                  </a:solidFill>
                  <a:latin typeface="微軟正黑體" panose="020B0604030504040204" pitchFamily="34" charset="-120"/>
                  <a:ea typeface="微軟正黑體" panose="020B0604030504040204" pitchFamily="34" charset="-120"/>
                  <a:sym typeface="+mn-ea"/>
                </a:rPr>
                <a:t>職等以上自我能力加強計畫</a:t>
              </a:r>
              <a:endParaRPr lang="en-US" altLang="zh-TW" sz="2800" dirty="0">
                <a:solidFill>
                  <a:schemeClr val="bg1"/>
                </a:solidFill>
                <a:latin typeface="微軟正黑體" panose="020B0604030504040204" pitchFamily="34" charset="-120"/>
                <a:ea typeface="微軟正黑體" panose="020B0604030504040204" pitchFamily="34" charset="-120"/>
                <a:sym typeface="+mn-ea"/>
              </a:endParaRPr>
            </a:p>
          </p:txBody>
        </p:sp>
      </p:grpSp>
      <p:sp>
        <p:nvSpPr>
          <p:cNvPr id="2" name="文字方塊 1">
            <a:extLst>
              <a:ext uri="{FF2B5EF4-FFF2-40B4-BE49-F238E27FC236}">
                <a16:creationId xmlns:a16="http://schemas.microsoft.com/office/drawing/2014/main" id="{1E111F10-E4C1-8CF3-0F16-00589DE626A5}"/>
              </a:ext>
            </a:extLst>
          </p:cNvPr>
          <p:cNvSpPr txBox="1"/>
          <p:nvPr/>
        </p:nvSpPr>
        <p:spPr>
          <a:xfrm>
            <a:off x="2829560" y="3685862"/>
            <a:ext cx="6532880" cy="923330"/>
          </a:xfrm>
          <a:prstGeom prst="rect">
            <a:avLst/>
          </a:prstGeom>
          <a:solidFill>
            <a:schemeClr val="lt1"/>
          </a:solidFill>
          <a:ln w="3175" cap="flat" cmpd="sng" algn="ctr">
            <a:solidFill>
              <a:schemeClr val="bg1">
                <a:lumMod val="50000"/>
              </a:schemeClr>
            </a:solidFill>
            <a:prstDash val="solid"/>
            <a:miter lim="800000"/>
          </a:ln>
          <a:effectLst/>
        </p:spPr>
        <p:style>
          <a:lnRef idx="2">
            <a:schemeClr val="accent1"/>
          </a:lnRef>
          <a:fillRef idx="1">
            <a:schemeClr val="lt1"/>
          </a:fillRef>
          <a:effectRef idx="0">
            <a:schemeClr val="accent1"/>
          </a:effectRef>
          <a:fontRef idx="minor">
            <a:schemeClr val="dk1"/>
          </a:fontRef>
        </p:style>
        <p:txBody>
          <a:bodyPr wrap="square">
            <a:spAutoFit/>
          </a:bodyPr>
          <a:lstStyle/>
          <a:p>
            <a:r>
              <a:rPr lang="zh-TW" altLang="en-US" sz="1800" dirty="0">
                <a:solidFill>
                  <a:schemeClr val="tx1"/>
                </a:solidFill>
                <a:latin typeface="微軟正黑體" panose="020B0604030504040204" pitchFamily="34" charset="-120"/>
                <a:ea typeface="微軟正黑體" panose="020B0604030504040204" pitchFamily="34" charset="-120"/>
                <a:sym typeface="+mn-ea"/>
              </a:rPr>
              <a:t>請根據上頁六項低於</a:t>
            </a:r>
            <a:r>
              <a:rPr lang="en-US" altLang="zh-TW" sz="1800" dirty="0">
                <a:solidFill>
                  <a:schemeClr val="tx1"/>
                </a:solidFill>
                <a:latin typeface="微軟正黑體" panose="020B0604030504040204" pitchFamily="34" charset="-120"/>
                <a:ea typeface="微軟正黑體" panose="020B0604030504040204" pitchFamily="34" charset="-120"/>
                <a:sym typeface="+mn-ea"/>
              </a:rPr>
              <a:t>9</a:t>
            </a:r>
            <a:r>
              <a:rPr lang="zh-TW" altLang="en-US" sz="1800" dirty="0">
                <a:solidFill>
                  <a:schemeClr val="tx1"/>
                </a:solidFill>
                <a:latin typeface="微軟正黑體" panose="020B0604030504040204" pitchFamily="34" charset="-120"/>
                <a:ea typeface="微軟正黑體" panose="020B0604030504040204" pitchFamily="34" charset="-120"/>
                <a:sym typeface="+mn-ea"/>
              </a:rPr>
              <a:t>分的能力寫下如何加強的計畫</a:t>
            </a:r>
            <a:r>
              <a:rPr lang="en-US" altLang="zh-TW" sz="1800" dirty="0">
                <a:solidFill>
                  <a:schemeClr val="tx1"/>
                </a:solidFill>
                <a:latin typeface="微軟正黑體" panose="020B0604030504040204" pitchFamily="34" charset="-120"/>
                <a:ea typeface="微軟正黑體" panose="020B0604030504040204" pitchFamily="34" charset="-120"/>
                <a:sym typeface="+mn-ea"/>
              </a:rPr>
              <a:t>(29</a:t>
            </a:r>
            <a:r>
              <a:rPr lang="zh-TW" altLang="en-US" sz="1800" dirty="0">
                <a:solidFill>
                  <a:schemeClr val="tx1"/>
                </a:solidFill>
                <a:latin typeface="微軟正黑體" panose="020B0604030504040204" pitchFamily="34" charset="-120"/>
                <a:ea typeface="微軟正黑體" panose="020B0604030504040204" pitchFamily="34" charset="-120"/>
                <a:sym typeface="+mn-ea"/>
              </a:rPr>
              <a:t>職以上</a:t>
            </a:r>
            <a:r>
              <a:rPr lang="en-US" altLang="zh-TW" sz="1800" dirty="0" smtClean="0">
                <a:solidFill>
                  <a:schemeClr val="tx1"/>
                </a:solidFill>
                <a:latin typeface="微軟正黑體" panose="020B0604030504040204" pitchFamily="34" charset="-120"/>
                <a:ea typeface="微軟正黑體" panose="020B0604030504040204" pitchFamily="34" charset="-120"/>
                <a:sym typeface="+mn-ea"/>
              </a:rPr>
              <a:t>)</a:t>
            </a:r>
            <a:r>
              <a:rPr lang="en-US" altLang="zh-TW" dirty="0" smtClean="0">
                <a:solidFill>
                  <a:schemeClr val="tx1"/>
                </a:solidFill>
                <a:latin typeface="微軟正黑體" panose="020B0604030504040204" pitchFamily="34" charset="-120"/>
                <a:ea typeface="微軟正黑體" panose="020B0604030504040204" pitchFamily="34" charset="-120"/>
                <a:sym typeface="+mn-ea"/>
              </a:rPr>
              <a:t>.</a:t>
            </a:r>
          </a:p>
          <a:p>
            <a:r>
              <a:rPr lang="vi-VN" altLang="zh-TW" dirty="0">
                <a:solidFill>
                  <a:schemeClr val="tx1"/>
                </a:solidFill>
              </a:rPr>
              <a:t>Vui lòng viết ra kế hoạch của bạn để củng cố sáu năng lực có điểm dưới 9 ở trang trước (29 trở lên).</a:t>
            </a:r>
            <a:endParaRPr lang="zh-TW" altLang="en-US" dirty="0">
              <a:solidFill>
                <a:schemeClr val="tx1"/>
              </a:solidFill>
            </a:endParaRPr>
          </a:p>
        </p:txBody>
      </p:sp>
      <p:grpSp>
        <p:nvGrpSpPr>
          <p:cNvPr id="3" name="群組 2">
            <a:extLst>
              <a:ext uri="{FF2B5EF4-FFF2-40B4-BE49-F238E27FC236}">
                <a16:creationId xmlns:a16="http://schemas.microsoft.com/office/drawing/2014/main" id="{61B33F0F-B8A0-FD49-B368-367755151AC6}"/>
              </a:ext>
            </a:extLst>
          </p:cNvPr>
          <p:cNvGrpSpPr/>
          <p:nvPr/>
        </p:nvGrpSpPr>
        <p:grpSpPr>
          <a:xfrm>
            <a:off x="11145334" y="6021230"/>
            <a:ext cx="1058632" cy="775686"/>
            <a:chOff x="1633100" y="4132365"/>
            <a:chExt cx="419208" cy="307164"/>
          </a:xfrm>
        </p:grpSpPr>
        <p:sp>
          <p:nvSpPr>
            <p:cNvPr id="4" name="Oval 21">
              <a:extLst>
                <a:ext uri="{FF2B5EF4-FFF2-40B4-BE49-F238E27FC236}">
                  <a16:creationId xmlns:a16="http://schemas.microsoft.com/office/drawing/2014/main" id="{1D7490C4-F05D-6F9A-4ADC-E72A5711590F}"/>
                </a:ext>
              </a:extLst>
            </p:cNvPr>
            <p:cNvSpPr/>
            <p:nvPr/>
          </p:nvSpPr>
          <p:spPr>
            <a:xfrm rot="20111049">
              <a:off x="1633100" y="4132365"/>
              <a:ext cx="301450" cy="254502"/>
            </a:xfrm>
            <a:custGeom>
              <a:avLst/>
              <a:gdLst/>
              <a:ahLst/>
              <a:cxnLst/>
              <a:rect l="l" t="t" r="r" b="b"/>
              <a:pathLst>
                <a:path w="4088377" h="3321003">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bg1"/>
            </a:solidFill>
            <a:ln w="3175">
              <a:solidFill>
                <a:schemeClr val="bg2">
                  <a:lumMod val="75000"/>
                </a:schemeClr>
              </a:solidFill>
            </a:ln>
            <a:effectLst>
              <a:outerShdw blurRad="50800" dist="38100" dir="8100000" sx="97000" sy="97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bg1"/>
                </a:solidFill>
              </a:endParaRPr>
            </a:p>
          </p:txBody>
        </p:sp>
        <p:grpSp>
          <p:nvGrpSpPr>
            <p:cNvPr id="6" name="群組 5">
              <a:extLst>
                <a:ext uri="{FF2B5EF4-FFF2-40B4-BE49-F238E27FC236}">
                  <a16:creationId xmlns:a16="http://schemas.microsoft.com/office/drawing/2014/main" id="{36BC1C68-9199-D4FB-51D1-8FE59FD9201A}"/>
                </a:ext>
              </a:extLst>
            </p:cNvPr>
            <p:cNvGrpSpPr/>
            <p:nvPr/>
          </p:nvGrpSpPr>
          <p:grpSpPr>
            <a:xfrm>
              <a:off x="1727685" y="4270681"/>
              <a:ext cx="324623" cy="168848"/>
              <a:chOff x="2114400" y="4249726"/>
              <a:chExt cx="324623" cy="168848"/>
            </a:xfrm>
          </p:grpSpPr>
          <p:sp>
            <p:nvSpPr>
              <p:cNvPr id="7" name="文字方塊 6">
                <a:extLst>
                  <a:ext uri="{FF2B5EF4-FFF2-40B4-BE49-F238E27FC236}">
                    <a16:creationId xmlns:a16="http://schemas.microsoft.com/office/drawing/2014/main" id="{A7D55158-ECC8-C72A-F456-39E06108F039}"/>
                  </a:ext>
                </a:extLst>
              </p:cNvPr>
              <p:cNvSpPr txBox="1"/>
              <p:nvPr/>
            </p:nvSpPr>
            <p:spPr>
              <a:xfrm>
                <a:off x="2114400" y="4249726"/>
                <a:ext cx="280467" cy="146252"/>
              </a:xfrm>
              <a:prstGeom prst="rect">
                <a:avLst/>
              </a:prstGeom>
              <a:noFill/>
            </p:spPr>
            <p:txBody>
              <a:bodyPr wrap="square" rtlCol="0">
                <a:spAutoFit/>
              </a:bodyPr>
              <a:lstStyle/>
              <a:p>
                <a:r>
                  <a:rPr lang="en-US" altLang="zh-TW" b="1" dirty="0">
                    <a:ln w="3175">
                      <a:solidFill>
                        <a:schemeClr val="bg2">
                          <a:lumMod val="50000"/>
                        </a:schemeClr>
                      </a:solidFill>
                    </a:ln>
                    <a:solidFill>
                      <a:schemeClr val="bg1"/>
                    </a:solidFill>
                    <a:effectLst>
                      <a:innerShdw blurRad="63500" dist="50800" dir="18900000">
                        <a:prstClr val="black">
                          <a:alpha val="50000"/>
                        </a:prstClr>
                      </a:innerShdw>
                    </a:effectLst>
                    <a:latin typeface="Amasis MT Pro Black" panose="020F0502020204030204" pitchFamily="18" charset="0"/>
                    <a:cs typeface="Arial" panose="020B0604020202020204" pitchFamily="34" charset="0"/>
                  </a:rPr>
                  <a:t>FME</a:t>
                </a:r>
                <a:endParaRPr lang="zh-TW" altLang="en-US" b="1" dirty="0">
                  <a:ln w="3175">
                    <a:solidFill>
                      <a:schemeClr val="bg2">
                        <a:lumMod val="50000"/>
                      </a:schemeClr>
                    </a:solidFill>
                  </a:ln>
                  <a:solidFill>
                    <a:schemeClr val="bg1"/>
                  </a:solidFill>
                  <a:effectLst>
                    <a:innerShdw blurRad="63500" dist="50800" dir="18900000">
                      <a:prstClr val="black">
                        <a:alpha val="50000"/>
                      </a:prstClr>
                    </a:innerShdw>
                  </a:effectLst>
                  <a:latin typeface="Amasis MT Pro Black" panose="020F0502020204030204" pitchFamily="18" charset="0"/>
                  <a:cs typeface="Arial" panose="020B0604020202020204" pitchFamily="34" charset="0"/>
                </a:endParaRPr>
              </a:p>
            </p:txBody>
          </p:sp>
          <p:sp>
            <p:nvSpPr>
              <p:cNvPr id="8" name="文字方塊 7">
                <a:extLst>
                  <a:ext uri="{FF2B5EF4-FFF2-40B4-BE49-F238E27FC236}">
                    <a16:creationId xmlns:a16="http://schemas.microsoft.com/office/drawing/2014/main" id="{061FC696-72AB-7B5F-E199-7B4A42384968}"/>
                  </a:ext>
                </a:extLst>
              </p:cNvPr>
              <p:cNvSpPr txBox="1"/>
              <p:nvPr/>
            </p:nvSpPr>
            <p:spPr>
              <a:xfrm>
                <a:off x="2131213" y="4333260"/>
                <a:ext cx="307810" cy="85314"/>
              </a:xfrm>
              <a:prstGeom prst="rect">
                <a:avLst/>
              </a:prstGeom>
              <a:noFill/>
            </p:spPr>
            <p:txBody>
              <a:bodyPr wrap="square" rtlCol="0">
                <a:spAutoFit/>
              </a:bodyPr>
              <a:lstStyle/>
              <a:p>
                <a:r>
                  <a:rPr lang="en-US" altLang="zh-TW" sz="800" b="1" dirty="0">
                    <a:ln w="3175">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BG6</a:t>
                </a:r>
                <a:r>
                  <a:rPr lang="zh-TW" altLang="en-US" sz="800" b="1" dirty="0">
                    <a:ln w="3175">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 </a:t>
                </a:r>
                <a:r>
                  <a:rPr lang="en-US" altLang="zh-TW" sz="800" b="1" dirty="0">
                    <a:ln w="0">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PVN</a:t>
                </a:r>
                <a:endParaRPr lang="zh-TW" altLang="en-US" sz="800" b="1" dirty="0">
                  <a:ln w="0">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endParaRPr>
              </a:p>
            </p:txBody>
          </p:sp>
        </p:grpSp>
      </p:grpSp>
    </p:spTree>
    <p:extLst>
      <p:ext uri="{BB962C8B-B14F-4D97-AF65-F5344CB8AC3E}">
        <p14:creationId xmlns:p14="http://schemas.microsoft.com/office/powerpoint/2010/main" val="105251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8AC40-EB88-336E-7C79-335E3B8611D0}"/>
            </a:ext>
          </a:extLst>
        </p:cNvPr>
        <p:cNvGrpSpPr/>
        <p:nvPr/>
      </p:nvGrpSpPr>
      <p:grpSpPr>
        <a:xfrm>
          <a:off x="0" y="0"/>
          <a:ext cx="0" cy="0"/>
          <a:chOff x="0" y="0"/>
          <a:chExt cx="0" cy="0"/>
        </a:xfrm>
      </p:grpSpPr>
      <p:grpSp>
        <p:nvGrpSpPr>
          <p:cNvPr id="3" name="群組 2">
            <a:extLst>
              <a:ext uri="{FF2B5EF4-FFF2-40B4-BE49-F238E27FC236}">
                <a16:creationId xmlns:a16="http://schemas.microsoft.com/office/drawing/2014/main" id="{21AF07A1-A614-4A32-1047-A11B0DE5B6DF}"/>
              </a:ext>
            </a:extLst>
          </p:cNvPr>
          <p:cNvGrpSpPr/>
          <p:nvPr/>
        </p:nvGrpSpPr>
        <p:grpSpPr>
          <a:xfrm>
            <a:off x="11145334" y="6021230"/>
            <a:ext cx="1058632" cy="775686"/>
            <a:chOff x="1633100" y="4132365"/>
            <a:chExt cx="419208" cy="307164"/>
          </a:xfrm>
        </p:grpSpPr>
        <p:sp>
          <p:nvSpPr>
            <p:cNvPr id="4" name="Oval 21">
              <a:extLst>
                <a:ext uri="{FF2B5EF4-FFF2-40B4-BE49-F238E27FC236}">
                  <a16:creationId xmlns:a16="http://schemas.microsoft.com/office/drawing/2014/main" id="{20D2B2AE-8C09-99F1-D701-D3ABC4EEFAE7}"/>
                </a:ext>
              </a:extLst>
            </p:cNvPr>
            <p:cNvSpPr/>
            <p:nvPr/>
          </p:nvSpPr>
          <p:spPr>
            <a:xfrm rot="20111049">
              <a:off x="1633100" y="4132365"/>
              <a:ext cx="301450" cy="254502"/>
            </a:xfrm>
            <a:custGeom>
              <a:avLst/>
              <a:gdLst/>
              <a:ahLst/>
              <a:cxnLst/>
              <a:rect l="l" t="t" r="r" b="b"/>
              <a:pathLst>
                <a:path w="4088377" h="3321003">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bg1"/>
            </a:solidFill>
            <a:ln w="3175">
              <a:solidFill>
                <a:schemeClr val="bg2">
                  <a:lumMod val="75000"/>
                </a:schemeClr>
              </a:solidFill>
            </a:ln>
            <a:effectLst>
              <a:outerShdw blurRad="50800" dist="38100" dir="8100000" sx="97000" sy="97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bg1"/>
                </a:solidFill>
              </a:endParaRPr>
            </a:p>
          </p:txBody>
        </p:sp>
        <p:grpSp>
          <p:nvGrpSpPr>
            <p:cNvPr id="6" name="群組 5">
              <a:extLst>
                <a:ext uri="{FF2B5EF4-FFF2-40B4-BE49-F238E27FC236}">
                  <a16:creationId xmlns:a16="http://schemas.microsoft.com/office/drawing/2014/main" id="{9CF5DA9F-6812-D73D-266F-4E067D92C51B}"/>
                </a:ext>
              </a:extLst>
            </p:cNvPr>
            <p:cNvGrpSpPr/>
            <p:nvPr/>
          </p:nvGrpSpPr>
          <p:grpSpPr>
            <a:xfrm>
              <a:off x="1727685" y="4270681"/>
              <a:ext cx="324623" cy="168848"/>
              <a:chOff x="2114400" y="4249726"/>
              <a:chExt cx="324623" cy="168848"/>
            </a:xfrm>
          </p:grpSpPr>
          <p:sp>
            <p:nvSpPr>
              <p:cNvPr id="7" name="文字方塊 6">
                <a:extLst>
                  <a:ext uri="{FF2B5EF4-FFF2-40B4-BE49-F238E27FC236}">
                    <a16:creationId xmlns:a16="http://schemas.microsoft.com/office/drawing/2014/main" id="{82DCFDDF-37F4-7BEF-4375-810C6DB92D93}"/>
                  </a:ext>
                </a:extLst>
              </p:cNvPr>
              <p:cNvSpPr txBox="1"/>
              <p:nvPr/>
            </p:nvSpPr>
            <p:spPr>
              <a:xfrm>
                <a:off x="2114400" y="4249726"/>
                <a:ext cx="280467" cy="146252"/>
              </a:xfrm>
              <a:prstGeom prst="rect">
                <a:avLst/>
              </a:prstGeom>
              <a:noFill/>
            </p:spPr>
            <p:txBody>
              <a:bodyPr wrap="square" rtlCol="0">
                <a:spAutoFit/>
              </a:bodyPr>
              <a:lstStyle/>
              <a:p>
                <a:r>
                  <a:rPr lang="en-US" altLang="zh-TW" b="1" dirty="0">
                    <a:ln w="3175">
                      <a:solidFill>
                        <a:schemeClr val="bg2">
                          <a:lumMod val="50000"/>
                        </a:schemeClr>
                      </a:solidFill>
                    </a:ln>
                    <a:solidFill>
                      <a:schemeClr val="bg1"/>
                    </a:solidFill>
                    <a:effectLst>
                      <a:innerShdw blurRad="63500" dist="50800" dir="18900000">
                        <a:prstClr val="black">
                          <a:alpha val="50000"/>
                        </a:prstClr>
                      </a:innerShdw>
                    </a:effectLst>
                    <a:latin typeface="Amasis MT Pro Black" panose="020F0502020204030204" pitchFamily="18" charset="0"/>
                    <a:cs typeface="Arial" panose="020B0604020202020204" pitchFamily="34" charset="0"/>
                  </a:rPr>
                  <a:t>FME</a:t>
                </a:r>
                <a:endParaRPr lang="zh-TW" altLang="en-US" b="1" dirty="0">
                  <a:ln w="3175">
                    <a:solidFill>
                      <a:schemeClr val="bg2">
                        <a:lumMod val="50000"/>
                      </a:schemeClr>
                    </a:solidFill>
                  </a:ln>
                  <a:solidFill>
                    <a:schemeClr val="bg1"/>
                  </a:solidFill>
                  <a:effectLst>
                    <a:innerShdw blurRad="63500" dist="50800" dir="18900000">
                      <a:prstClr val="black">
                        <a:alpha val="50000"/>
                      </a:prstClr>
                    </a:innerShdw>
                  </a:effectLst>
                  <a:latin typeface="Amasis MT Pro Black" panose="020F0502020204030204" pitchFamily="18" charset="0"/>
                  <a:cs typeface="Arial" panose="020B0604020202020204" pitchFamily="34" charset="0"/>
                </a:endParaRPr>
              </a:p>
            </p:txBody>
          </p:sp>
          <p:sp>
            <p:nvSpPr>
              <p:cNvPr id="8" name="文字方塊 7">
                <a:extLst>
                  <a:ext uri="{FF2B5EF4-FFF2-40B4-BE49-F238E27FC236}">
                    <a16:creationId xmlns:a16="http://schemas.microsoft.com/office/drawing/2014/main" id="{C683ABCE-D903-0758-3DF8-BF60678F8C0B}"/>
                  </a:ext>
                </a:extLst>
              </p:cNvPr>
              <p:cNvSpPr txBox="1"/>
              <p:nvPr/>
            </p:nvSpPr>
            <p:spPr>
              <a:xfrm>
                <a:off x="2131213" y="4333260"/>
                <a:ext cx="307810" cy="85314"/>
              </a:xfrm>
              <a:prstGeom prst="rect">
                <a:avLst/>
              </a:prstGeom>
              <a:noFill/>
            </p:spPr>
            <p:txBody>
              <a:bodyPr wrap="square" rtlCol="0">
                <a:spAutoFit/>
              </a:bodyPr>
              <a:lstStyle/>
              <a:p>
                <a:r>
                  <a:rPr lang="en-US" altLang="zh-TW" sz="800" b="1" dirty="0">
                    <a:ln w="3175">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BG6</a:t>
                </a:r>
                <a:r>
                  <a:rPr lang="zh-TW" altLang="en-US" sz="800" b="1" dirty="0">
                    <a:ln w="3175">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 </a:t>
                </a:r>
                <a:r>
                  <a:rPr lang="en-US" altLang="zh-TW" sz="800" b="1" dirty="0">
                    <a:ln w="0">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PVN</a:t>
                </a:r>
                <a:endParaRPr lang="zh-TW" altLang="en-US" sz="800" b="1" dirty="0">
                  <a:ln w="0">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endParaRPr>
              </a:p>
            </p:txBody>
          </p:sp>
        </p:grpSp>
      </p:grpSp>
      <p:graphicFrame>
        <p:nvGraphicFramePr>
          <p:cNvPr id="5" name="表格 4">
            <a:extLst>
              <a:ext uri="{FF2B5EF4-FFF2-40B4-BE49-F238E27FC236}">
                <a16:creationId xmlns:a16="http://schemas.microsoft.com/office/drawing/2014/main" id="{2452EDA3-6F86-8511-9D06-A874AED1E8E9}"/>
              </a:ext>
            </a:extLst>
          </p:cNvPr>
          <p:cNvGraphicFramePr>
            <a:graphicFrameLocks noGrp="1"/>
          </p:cNvGraphicFramePr>
          <p:nvPr>
            <p:extLst>
              <p:ext uri="{D42A27DB-BD31-4B8C-83A1-F6EECF244321}">
                <p14:modId xmlns:p14="http://schemas.microsoft.com/office/powerpoint/2010/main" val="157164519"/>
              </p:ext>
            </p:extLst>
          </p:nvPr>
        </p:nvGraphicFramePr>
        <p:xfrm>
          <a:off x="195262" y="1147085"/>
          <a:ext cx="11801476" cy="5328912"/>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2311576">
                  <a:extLst>
                    <a:ext uri="{9D8B030D-6E8A-4147-A177-3AD203B41FA5}">
                      <a16:colId xmlns:a16="http://schemas.microsoft.com/office/drawing/2014/main" val="3861677689"/>
                    </a:ext>
                  </a:extLst>
                </a:gridCol>
                <a:gridCol w="2283290">
                  <a:extLst>
                    <a:ext uri="{9D8B030D-6E8A-4147-A177-3AD203B41FA5}">
                      <a16:colId xmlns:a16="http://schemas.microsoft.com/office/drawing/2014/main" val="1269423716"/>
                    </a:ext>
                  </a:extLst>
                </a:gridCol>
                <a:gridCol w="7206610">
                  <a:extLst>
                    <a:ext uri="{9D8B030D-6E8A-4147-A177-3AD203B41FA5}">
                      <a16:colId xmlns:a16="http://schemas.microsoft.com/office/drawing/2014/main" val="1578931625"/>
                    </a:ext>
                  </a:extLst>
                </a:gridCol>
              </a:tblGrid>
              <a:tr h="578484">
                <a:tc>
                  <a:txBody>
                    <a:bodyPr/>
                    <a:lstStyle/>
                    <a:p>
                      <a:pPr algn="ctr"/>
                      <a:r>
                        <a:rPr lang="en-US" altLang="zh-TW" sz="2000" dirty="0" smtClean="0">
                          <a:latin typeface="微軟正黑體" panose="020B0604030504040204" pitchFamily="34" charset="-120"/>
                          <a:ea typeface="微軟正黑體" panose="020B0604030504040204" pitchFamily="34" charset="-120"/>
                        </a:rPr>
                        <a:t>2025</a:t>
                      </a:r>
                      <a:r>
                        <a:rPr lang="zh-TW" altLang="en-US" sz="2000" dirty="0" smtClean="0">
                          <a:latin typeface="微軟正黑體" panose="020B0604030504040204" pitchFamily="34" charset="-120"/>
                          <a:ea typeface="微軟正黑體" panose="020B0604030504040204" pitchFamily="34" charset="-120"/>
                        </a:rPr>
                        <a:t> </a:t>
                      </a:r>
                      <a:r>
                        <a:rPr lang="en-US" altLang="zh-TW" sz="2000" dirty="0" smtClean="0">
                          <a:latin typeface="微軟正黑體" panose="020B0604030504040204" pitchFamily="34" charset="-120"/>
                          <a:ea typeface="微軟正黑體" panose="020B0604030504040204" pitchFamily="34" charset="-120"/>
                        </a:rPr>
                        <a:t>Q3</a:t>
                      </a:r>
                      <a:r>
                        <a:rPr lang="zh-TW" altLang="en-US" sz="2000" dirty="0" smtClean="0">
                          <a:latin typeface="微軟正黑體" panose="020B0604030504040204" pitchFamily="34" charset="-120"/>
                          <a:ea typeface="微軟正黑體" panose="020B0604030504040204" pitchFamily="34" charset="-120"/>
                        </a:rPr>
                        <a:t>工作</a:t>
                      </a:r>
                      <a:r>
                        <a:rPr lang="zh-TW" altLang="en-US" sz="2000" dirty="0">
                          <a:latin typeface="微軟正黑體" panose="020B0604030504040204" pitchFamily="34" charset="-120"/>
                          <a:ea typeface="微軟正黑體" panose="020B0604030504040204" pitchFamily="34" charset="-120"/>
                        </a:rPr>
                        <a:t>及自我發展計畫</a:t>
                      </a:r>
                    </a:p>
                  </a:txBody>
                  <a:tcPr anchor="ctr">
                    <a:solidFill>
                      <a:srgbClr val="BA996E">
                        <a:alpha val="70000"/>
                      </a:srgbClr>
                    </a:solidFill>
                  </a:tcPr>
                </a:tc>
                <a:tc>
                  <a:txBody>
                    <a:bodyPr/>
                    <a:lstStyle/>
                    <a:p>
                      <a:pPr algn="ctr"/>
                      <a:r>
                        <a:rPr lang="zh-TW" altLang="en-US" sz="2000" dirty="0">
                          <a:latin typeface="微軟正黑體" panose="020B0604030504040204" pitchFamily="34" charset="-120"/>
                          <a:ea typeface="微軟正黑體" panose="020B0604030504040204" pitchFamily="34" charset="-120"/>
                        </a:rPr>
                        <a:t>達成率</a:t>
                      </a:r>
                    </a:p>
                  </a:txBody>
                  <a:tcPr anchor="ctr">
                    <a:solidFill>
                      <a:srgbClr val="BA996E">
                        <a:alpha val="70000"/>
                      </a:srgbClr>
                    </a:solidFill>
                  </a:tcPr>
                </a:tc>
                <a:tc>
                  <a:txBody>
                    <a:bodyPr/>
                    <a:lstStyle/>
                    <a:p>
                      <a:pPr algn="ctr"/>
                      <a:r>
                        <a:rPr lang="zh-TW" altLang="en-US" sz="2000" dirty="0">
                          <a:latin typeface="微軟正黑體" panose="020B0604030504040204" pitchFamily="34" charset="-120"/>
                          <a:ea typeface="微軟正黑體" panose="020B0604030504040204" pitchFamily="34" charset="-120"/>
                        </a:rPr>
                        <a:t>未達</a:t>
                      </a:r>
                      <a:r>
                        <a:rPr lang="en-US" altLang="zh-TW" sz="2000" dirty="0">
                          <a:latin typeface="微軟正黑體" panose="020B0604030504040204" pitchFamily="34" charset="-120"/>
                          <a:ea typeface="微軟正黑體" panose="020B0604030504040204" pitchFamily="34" charset="-120"/>
                        </a:rPr>
                        <a:t>90%</a:t>
                      </a:r>
                      <a:r>
                        <a:rPr lang="zh-TW" altLang="en-US" sz="2000" dirty="0">
                          <a:latin typeface="微軟正黑體" panose="020B0604030504040204" pitchFamily="34" charset="-120"/>
                          <a:ea typeface="微軟正黑體" panose="020B0604030504040204" pitchFamily="34" charset="-120"/>
                        </a:rPr>
                        <a:t>以上請寫原因說明及補完計畫</a:t>
                      </a:r>
                      <a:r>
                        <a:rPr lang="en-US" altLang="zh-TW" sz="2000" dirty="0">
                          <a:latin typeface="微軟正黑體" panose="020B0604030504040204" pitchFamily="34" charset="-120"/>
                          <a:ea typeface="微軟正黑體" panose="020B0604030504040204" pitchFamily="34" charset="-120"/>
                        </a:rPr>
                        <a:t>(</a:t>
                      </a:r>
                      <a:r>
                        <a:rPr lang="zh-TW" altLang="en-US" sz="2000" dirty="0">
                          <a:latin typeface="微軟正黑體" panose="020B0604030504040204" pitchFamily="34" charset="-120"/>
                          <a:ea typeface="微軟正黑體" panose="020B0604030504040204" pitchFamily="34" charset="-120"/>
                        </a:rPr>
                        <a:t>主管要抽測</a:t>
                      </a:r>
                      <a:r>
                        <a:rPr lang="en-US" altLang="zh-TW" sz="2000" dirty="0">
                          <a:latin typeface="微軟正黑體" panose="020B0604030504040204" pitchFamily="34" charset="-120"/>
                          <a:ea typeface="微軟正黑體" panose="020B0604030504040204" pitchFamily="34" charset="-120"/>
                        </a:rPr>
                        <a:t>, </a:t>
                      </a:r>
                      <a:r>
                        <a:rPr lang="zh-TW" altLang="en-US" sz="2000" dirty="0">
                          <a:latin typeface="微軟正黑體" panose="020B0604030504040204" pitchFamily="34" charset="-120"/>
                          <a:ea typeface="微軟正黑體" panose="020B0604030504040204" pitchFamily="34" charset="-120"/>
                        </a:rPr>
                        <a:t>請勿亂寫</a:t>
                      </a:r>
                      <a:r>
                        <a:rPr lang="en-US" altLang="zh-TW" sz="2000" dirty="0">
                          <a:latin typeface="微軟正黑體" panose="020B0604030504040204" pitchFamily="34" charset="-120"/>
                          <a:ea typeface="微軟正黑體" panose="020B0604030504040204" pitchFamily="34" charset="-120"/>
                        </a:rPr>
                        <a:t>)</a:t>
                      </a:r>
                      <a:endParaRPr lang="zh-TW" altLang="en-US" sz="2000" dirty="0">
                        <a:latin typeface="微軟正黑體" panose="020B0604030504040204" pitchFamily="34" charset="-120"/>
                        <a:ea typeface="微軟正黑體" panose="020B0604030504040204" pitchFamily="34" charset="-120"/>
                      </a:endParaRPr>
                    </a:p>
                  </a:txBody>
                  <a:tcPr anchor="ctr">
                    <a:solidFill>
                      <a:srgbClr val="BA996E">
                        <a:alpha val="70000"/>
                      </a:srgbClr>
                    </a:solidFill>
                  </a:tcPr>
                </a:tc>
                <a:extLst>
                  <a:ext uri="{0D108BD9-81ED-4DB2-BD59-A6C34878D82A}">
                    <a16:rowId xmlns:a16="http://schemas.microsoft.com/office/drawing/2014/main" val="266302271"/>
                  </a:ext>
                </a:extLst>
              </a:tr>
              <a:tr h="578484">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extLst>
                  <a:ext uri="{0D108BD9-81ED-4DB2-BD59-A6C34878D82A}">
                    <a16:rowId xmlns:a16="http://schemas.microsoft.com/office/drawing/2014/main" val="2426463552"/>
                  </a:ext>
                </a:extLst>
              </a:tr>
              <a:tr h="578484">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extLst>
                  <a:ext uri="{0D108BD9-81ED-4DB2-BD59-A6C34878D82A}">
                    <a16:rowId xmlns:a16="http://schemas.microsoft.com/office/drawing/2014/main" val="3977970917"/>
                  </a:ext>
                </a:extLst>
              </a:tr>
              <a:tr h="578484">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extLst>
                  <a:ext uri="{0D108BD9-81ED-4DB2-BD59-A6C34878D82A}">
                    <a16:rowId xmlns:a16="http://schemas.microsoft.com/office/drawing/2014/main" val="4092448663"/>
                  </a:ext>
                </a:extLst>
              </a:tr>
              <a:tr h="578484">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extLst>
                  <a:ext uri="{0D108BD9-81ED-4DB2-BD59-A6C34878D82A}">
                    <a16:rowId xmlns:a16="http://schemas.microsoft.com/office/drawing/2014/main" val="338032022"/>
                  </a:ext>
                </a:extLst>
              </a:tr>
              <a:tr h="578484">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extLst>
                  <a:ext uri="{0D108BD9-81ED-4DB2-BD59-A6C34878D82A}">
                    <a16:rowId xmlns:a16="http://schemas.microsoft.com/office/drawing/2014/main" val="2965768060"/>
                  </a:ext>
                </a:extLst>
              </a:tr>
              <a:tr h="578484">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extLst>
                  <a:ext uri="{0D108BD9-81ED-4DB2-BD59-A6C34878D82A}">
                    <a16:rowId xmlns:a16="http://schemas.microsoft.com/office/drawing/2014/main" val="1061757831"/>
                  </a:ext>
                </a:extLst>
              </a:tr>
              <a:tr h="578484">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extLst>
                  <a:ext uri="{0D108BD9-81ED-4DB2-BD59-A6C34878D82A}">
                    <a16:rowId xmlns:a16="http://schemas.microsoft.com/office/drawing/2014/main" val="2236067214"/>
                  </a:ext>
                </a:extLst>
              </a:tr>
              <a:tr h="578484">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extLst>
                  <a:ext uri="{0D108BD9-81ED-4DB2-BD59-A6C34878D82A}">
                    <a16:rowId xmlns:a16="http://schemas.microsoft.com/office/drawing/2014/main" val="676521946"/>
                  </a:ext>
                </a:extLst>
              </a:tr>
            </a:tbl>
          </a:graphicData>
        </a:graphic>
      </p:graphicFrame>
      <p:grpSp>
        <p:nvGrpSpPr>
          <p:cNvPr id="43" name="群組 42">
            <a:extLst>
              <a:ext uri="{FF2B5EF4-FFF2-40B4-BE49-F238E27FC236}">
                <a16:creationId xmlns:a16="http://schemas.microsoft.com/office/drawing/2014/main" id="{D08B3026-FC58-3EBA-1097-199AFEA35AFB}"/>
              </a:ext>
            </a:extLst>
          </p:cNvPr>
          <p:cNvGrpSpPr/>
          <p:nvPr/>
        </p:nvGrpSpPr>
        <p:grpSpPr>
          <a:xfrm>
            <a:off x="195262" y="178409"/>
            <a:ext cx="11801476" cy="588751"/>
            <a:chOff x="195262" y="163202"/>
            <a:chExt cx="11801476" cy="588751"/>
          </a:xfrm>
        </p:grpSpPr>
        <p:sp>
          <p:nvSpPr>
            <p:cNvPr id="44" name="矩形: 圓角 43">
              <a:extLst>
                <a:ext uri="{FF2B5EF4-FFF2-40B4-BE49-F238E27FC236}">
                  <a16:creationId xmlns:a16="http://schemas.microsoft.com/office/drawing/2014/main" id="{22C07996-C0F5-351D-35F1-34C297084CAC}"/>
                </a:ext>
              </a:extLst>
            </p:cNvPr>
            <p:cNvSpPr/>
            <p:nvPr/>
          </p:nvSpPr>
          <p:spPr>
            <a:xfrm>
              <a:off x="195262" y="247970"/>
              <a:ext cx="11801476" cy="419217"/>
            </a:xfrm>
            <a:prstGeom prst="roundRect">
              <a:avLst>
                <a:gd name="adj" fmla="val 40804"/>
              </a:avLst>
            </a:prstGeom>
            <a:gradFill flip="none" rotWithShape="1">
              <a:gsLst>
                <a:gs pos="0">
                  <a:schemeClr val="bg1">
                    <a:lumMod val="95000"/>
                  </a:schemeClr>
                </a:gs>
                <a:gs pos="18000">
                  <a:schemeClr val="tx1">
                    <a:lumMod val="50000"/>
                    <a:lumOff val="50000"/>
                  </a:schemeClr>
                </a:gs>
                <a:gs pos="83000">
                  <a:schemeClr val="tx1">
                    <a:lumMod val="75000"/>
                    <a:lumOff val="25000"/>
                  </a:schemeClr>
                </a:gs>
                <a:gs pos="100000">
                  <a:schemeClr val="tx1">
                    <a:lumMod val="75000"/>
                    <a:lumOff val="25000"/>
                  </a:schemeClr>
                </a:gs>
              </a:gsLst>
              <a:lin ang="0" scaled="1"/>
              <a:tileRect/>
            </a:gra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ysClr val="windowText" lastClr="000000"/>
                </a:solidFill>
                <a:latin typeface="微軟正黑體" panose="020B0604030504040204" pitchFamily="34" charset="-120"/>
                <a:ea typeface="微軟正黑體" panose="020B0604030504040204" pitchFamily="34" charset="-120"/>
              </a:endParaRPr>
            </a:p>
          </p:txBody>
        </p:sp>
        <p:grpSp>
          <p:nvGrpSpPr>
            <p:cNvPr id="45" name="群組 44">
              <a:extLst>
                <a:ext uri="{FF2B5EF4-FFF2-40B4-BE49-F238E27FC236}">
                  <a16:creationId xmlns:a16="http://schemas.microsoft.com/office/drawing/2014/main" id="{4BBD2854-1603-187A-C922-DF4106140DB8}"/>
                </a:ext>
              </a:extLst>
            </p:cNvPr>
            <p:cNvGrpSpPr/>
            <p:nvPr/>
          </p:nvGrpSpPr>
          <p:grpSpPr>
            <a:xfrm>
              <a:off x="600729" y="163202"/>
              <a:ext cx="1038687" cy="588751"/>
              <a:chOff x="1782913" y="2529000"/>
              <a:chExt cx="3121572" cy="1800001"/>
            </a:xfrm>
          </p:grpSpPr>
          <p:sp>
            <p:nvSpPr>
              <p:cNvPr id="48" name="圆角矩形 15">
                <a:extLst>
                  <a:ext uri="{FF2B5EF4-FFF2-40B4-BE49-F238E27FC236}">
                    <a16:creationId xmlns:a16="http://schemas.microsoft.com/office/drawing/2014/main" id="{7ACA31C9-71D0-9A39-8098-2A944E93EE3B}"/>
                  </a:ext>
                </a:extLst>
              </p:cNvPr>
              <p:cNvSpPr/>
              <p:nvPr/>
            </p:nvSpPr>
            <p:spPr>
              <a:xfrm rot="2700000">
                <a:off x="1857839" y="2529000"/>
                <a:ext cx="1800000" cy="1800001"/>
              </a:xfrm>
              <a:prstGeom prst="roundRect">
                <a:avLst/>
              </a:prstGeom>
              <a:solidFill>
                <a:srgbClr val="34B2E4"/>
              </a:solidFill>
              <a:ln>
                <a:noFill/>
              </a:ln>
              <a:effectLst>
                <a:outerShdw blurRad="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ea"/>
                  <a:sym typeface="+mn-lt"/>
                </a:endParaRPr>
              </a:p>
            </p:txBody>
          </p:sp>
          <p:sp>
            <p:nvSpPr>
              <p:cNvPr id="49" name="圆角矩形 16">
                <a:extLst>
                  <a:ext uri="{FF2B5EF4-FFF2-40B4-BE49-F238E27FC236}">
                    <a16:creationId xmlns:a16="http://schemas.microsoft.com/office/drawing/2014/main" id="{485483A0-CFED-B508-6A22-7C9C4770D477}"/>
                  </a:ext>
                </a:extLst>
              </p:cNvPr>
              <p:cNvSpPr/>
              <p:nvPr/>
            </p:nvSpPr>
            <p:spPr>
              <a:xfrm rot="2700000">
                <a:off x="1782913" y="2529000"/>
                <a:ext cx="1800000" cy="1800000"/>
              </a:xfrm>
              <a:prstGeom prst="roundRect">
                <a:avLst/>
              </a:prstGeom>
              <a:solidFill>
                <a:schemeClr val="bg1"/>
              </a:solidFill>
              <a:ln>
                <a:noFill/>
              </a:ln>
              <a:effectLst>
                <a:outerShdw blurRad="1905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ea"/>
                  <a:sym typeface="+mn-lt"/>
                </a:endParaRPr>
              </a:p>
            </p:txBody>
          </p:sp>
          <p:pic>
            <p:nvPicPr>
              <p:cNvPr id="50" name="圖片 49" descr="一張含有 文字, 輪子, 美工圖案, 齒輪 的圖片&#10;&#10;自動產生的描述">
                <a:extLst>
                  <a:ext uri="{FF2B5EF4-FFF2-40B4-BE49-F238E27FC236}">
                    <a16:creationId xmlns:a16="http://schemas.microsoft.com/office/drawing/2014/main" id="{BC4F7128-A604-DE6A-8A12-F024F005C9B9}"/>
                  </a:ext>
                </a:extLst>
              </p:cNvPr>
              <p:cNvPicPr>
                <a:picLocks noChangeAspect="1"/>
              </p:cNvPicPr>
              <p:nvPr/>
            </p:nvPicPr>
            <p:blipFill rotWithShape="1">
              <a:blip r:embed="rId2" cstate="print">
                <a:grayscl/>
                <a:extLst>
                  <a:ext uri="{28A0092B-C50C-407E-A947-70E740481C1C}">
                    <a14:useLocalDpi xmlns:a14="http://schemas.microsoft.com/office/drawing/2010/main" val="0"/>
                  </a:ext>
                </a:extLst>
              </a:blip>
              <a:srcRect l="73898"/>
              <a:stretch>
                <a:fillRect/>
              </a:stretch>
            </p:blipFill>
            <p:spPr>
              <a:xfrm rot="5400000">
                <a:off x="3709805" y="2875160"/>
                <a:ext cx="1281680" cy="1107681"/>
              </a:xfrm>
              <a:prstGeom prst="rect">
                <a:avLst/>
              </a:prstGeom>
              <a:noFill/>
              <a:ln>
                <a:noFill/>
              </a:ln>
            </p:spPr>
          </p:pic>
          <p:sp>
            <p:nvSpPr>
              <p:cNvPr id="51" name="矩形 50">
                <a:extLst>
                  <a:ext uri="{FF2B5EF4-FFF2-40B4-BE49-F238E27FC236}">
                    <a16:creationId xmlns:a16="http://schemas.microsoft.com/office/drawing/2014/main" id="{32A753EB-F610-F4D6-52F6-64EC7ACEAC8C}"/>
                  </a:ext>
                </a:extLst>
              </p:cNvPr>
              <p:cNvSpPr/>
              <p:nvPr/>
            </p:nvSpPr>
            <p:spPr>
              <a:xfrm>
                <a:off x="1831379" y="2819459"/>
                <a:ext cx="1703069" cy="1337528"/>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1100" b="1" i="0" u="none" strike="noStrike" kern="1200" cap="none" spc="0" normalizeH="0" baseline="0" noProof="0" dirty="0">
                    <a:ln>
                      <a:noFill/>
                    </a:ln>
                    <a:solidFill>
                      <a:srgbClr val="A4A4A4"/>
                    </a:solidFill>
                    <a:effectLst/>
                    <a:uLnTx/>
                    <a:uFillTx/>
                    <a:latin typeface="DengXian" panose="02010600030101010101" pitchFamily="2" charset="-122"/>
                    <a:ea typeface="DengXian" panose="02010600030101010101" pitchFamily="2" charset="-122"/>
                  </a:rPr>
                  <a:t>BG6</a:t>
                </a:r>
              </a:p>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100" b="1" dirty="0">
                    <a:solidFill>
                      <a:srgbClr val="A4A4A4"/>
                    </a:solidFill>
                    <a:latin typeface="DengXian" panose="02010600030101010101" pitchFamily="2" charset="-122"/>
                    <a:ea typeface="DengXian" panose="02010600030101010101" pitchFamily="2" charset="-122"/>
                  </a:rPr>
                  <a:t>PVN</a:t>
                </a:r>
                <a:endParaRPr kumimoji="0" lang="en-US" altLang="zh-TW" sz="1100" b="1" i="0" u="none" strike="noStrike" kern="1200" cap="none" spc="0" normalizeH="0" baseline="0" noProof="0" dirty="0">
                  <a:ln>
                    <a:noFill/>
                  </a:ln>
                  <a:solidFill>
                    <a:srgbClr val="A4A4A4"/>
                  </a:solidFill>
                  <a:effectLst/>
                  <a:uLnTx/>
                  <a:uFillTx/>
                  <a:latin typeface="DengXian" panose="02010600030101010101" pitchFamily="2" charset="-122"/>
                  <a:ea typeface="DengXian" panose="02010600030101010101" pitchFamily="2" charset="-122"/>
                </a:endParaRPr>
              </a:p>
            </p:txBody>
          </p:sp>
        </p:grpSp>
        <p:sp>
          <p:nvSpPr>
            <p:cNvPr id="46" name="文字方塊 45">
              <a:extLst>
                <a:ext uri="{FF2B5EF4-FFF2-40B4-BE49-F238E27FC236}">
                  <a16:creationId xmlns:a16="http://schemas.microsoft.com/office/drawing/2014/main" id="{63D96DF1-28D8-F4AD-5287-7F680B63FE2F}"/>
                </a:ext>
              </a:extLst>
            </p:cNvPr>
            <p:cNvSpPr txBox="1"/>
            <p:nvPr/>
          </p:nvSpPr>
          <p:spPr>
            <a:xfrm>
              <a:off x="1604962" y="196222"/>
              <a:ext cx="6272946" cy="523220"/>
            </a:xfrm>
            <a:prstGeom prst="rect">
              <a:avLst/>
            </a:prstGeom>
            <a:noFill/>
          </p:spPr>
          <p:txBody>
            <a:bodyPr wrap="square" rtlCol="0">
              <a:spAutoFit/>
            </a:bodyPr>
            <a:lstStyle>
              <a:defPPr>
                <a:defRPr lang="zh-TW"/>
              </a:defPPr>
              <a:lvl1pPr defTabSz="837565">
                <a:defRPr sz="3200" b="1">
                  <a:solidFill>
                    <a:srgbClr val="2E9CC8"/>
                  </a:solidFill>
                  <a:latin typeface="DengXian" panose="02010600030101010101" pitchFamily="2" charset="-122"/>
                  <a:ea typeface="DengXian" panose="02010600030101010101" pitchFamily="2" charset="-122"/>
                </a:defRPr>
              </a:lvl1pPr>
            </a:lstStyle>
            <a:p>
              <a:r>
                <a:rPr lang="en-US" altLang="zh-TW" sz="2800" dirty="0" smtClean="0">
                  <a:solidFill>
                    <a:schemeClr val="bg1"/>
                  </a:solidFill>
                  <a:latin typeface="微軟正黑體" panose="020B0604030504040204" pitchFamily="34" charset="-120"/>
                  <a:ea typeface="微軟正黑體" panose="020B0604030504040204" pitchFamily="34" charset="-120"/>
                  <a:sym typeface="+mn-ea"/>
                </a:rPr>
                <a:t>2025</a:t>
              </a:r>
              <a:r>
                <a:rPr lang="zh-TW" altLang="en-US" sz="2800" dirty="0" smtClean="0">
                  <a:solidFill>
                    <a:schemeClr val="bg1"/>
                  </a:solidFill>
                  <a:latin typeface="微軟正黑體" panose="020B0604030504040204" pitchFamily="34" charset="-120"/>
                  <a:ea typeface="微軟正黑體" panose="020B0604030504040204" pitchFamily="34" charset="-120"/>
                  <a:sym typeface="+mn-ea"/>
                </a:rPr>
                <a:t> </a:t>
              </a:r>
              <a:r>
                <a:rPr lang="en-US" altLang="zh-TW" sz="2800" dirty="0" smtClean="0">
                  <a:solidFill>
                    <a:schemeClr val="bg1"/>
                  </a:solidFill>
                  <a:latin typeface="微軟正黑體" panose="020B0604030504040204" pitchFamily="34" charset="-120"/>
                  <a:ea typeface="微軟正黑體" panose="020B0604030504040204" pitchFamily="34" charset="-120"/>
                  <a:sym typeface="+mn-ea"/>
                </a:rPr>
                <a:t>Q3</a:t>
              </a:r>
              <a:r>
                <a:rPr lang="zh-TW" altLang="en-US" sz="2800" dirty="0" smtClean="0">
                  <a:solidFill>
                    <a:schemeClr val="bg1"/>
                  </a:solidFill>
                  <a:latin typeface="微軟正黑體" panose="020B0604030504040204" pitchFamily="34" charset="-120"/>
                  <a:ea typeface="微軟正黑體" panose="020B0604030504040204" pitchFamily="34" charset="-120"/>
                  <a:sym typeface="+mn-ea"/>
                </a:rPr>
                <a:t>工作</a:t>
              </a:r>
              <a:r>
                <a:rPr lang="zh-TW" altLang="en-US" sz="2800" dirty="0">
                  <a:solidFill>
                    <a:schemeClr val="bg1"/>
                  </a:solidFill>
                  <a:latin typeface="微軟正黑體" panose="020B0604030504040204" pitchFamily="34" charset="-120"/>
                  <a:ea typeface="微軟正黑體" panose="020B0604030504040204" pitchFamily="34" charset="-120"/>
                  <a:sym typeface="+mn-ea"/>
                </a:rPr>
                <a:t>及自我發展計畫達成率</a:t>
              </a:r>
              <a:endParaRPr lang="en-US" altLang="zh-TW" sz="2800" dirty="0">
                <a:solidFill>
                  <a:schemeClr val="bg1"/>
                </a:solidFill>
                <a:latin typeface="微軟正黑體" panose="020B0604030504040204" pitchFamily="34" charset="-120"/>
                <a:ea typeface="微軟正黑體" panose="020B0604030504040204" pitchFamily="34" charset="-120"/>
                <a:sym typeface="+mn-ea"/>
              </a:endParaRPr>
            </a:p>
          </p:txBody>
        </p:sp>
      </p:grpSp>
      <p:sp>
        <p:nvSpPr>
          <p:cNvPr id="2" name="文字方塊 1">
            <a:extLst>
              <a:ext uri="{FF2B5EF4-FFF2-40B4-BE49-F238E27FC236}">
                <a16:creationId xmlns:a16="http://schemas.microsoft.com/office/drawing/2014/main" id="{0085E2F4-1537-1585-F989-4A887175C15C}"/>
              </a:ext>
            </a:extLst>
          </p:cNvPr>
          <p:cNvSpPr txBox="1"/>
          <p:nvPr/>
        </p:nvSpPr>
        <p:spPr>
          <a:xfrm>
            <a:off x="1907933" y="3811541"/>
            <a:ext cx="8546548" cy="1754326"/>
          </a:xfrm>
          <a:prstGeom prst="rect">
            <a:avLst/>
          </a:prstGeom>
          <a:solidFill>
            <a:schemeClr val="lt1"/>
          </a:solidFill>
          <a:ln w="3175" cap="flat" cmpd="sng" algn="ctr">
            <a:solidFill>
              <a:schemeClr val="bg1">
                <a:lumMod val="50000"/>
              </a:schemeClr>
            </a:solidFill>
            <a:prstDash val="solid"/>
            <a:miter lim="800000"/>
          </a:ln>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TW" sz="1800" dirty="0" smtClean="0">
                <a:solidFill>
                  <a:schemeClr val="tx1"/>
                </a:solidFill>
                <a:latin typeface="微軟正黑體" panose="020B0604030504040204" pitchFamily="34" charset="-120"/>
                <a:ea typeface="微軟正黑體" panose="020B0604030504040204" pitchFamily="34" charset="-120"/>
                <a:sym typeface="+mn-ea"/>
              </a:rPr>
              <a:t>2025</a:t>
            </a:r>
            <a:r>
              <a:rPr lang="zh-TW" altLang="en-US" sz="1800" dirty="0" smtClean="0">
                <a:solidFill>
                  <a:schemeClr val="tx1"/>
                </a:solidFill>
                <a:latin typeface="微軟正黑體" panose="020B0604030504040204" pitchFamily="34" charset="-120"/>
                <a:ea typeface="微軟正黑體" panose="020B0604030504040204" pitchFamily="34" charset="-120"/>
                <a:sym typeface="+mn-ea"/>
              </a:rPr>
              <a:t> </a:t>
            </a:r>
            <a:r>
              <a:rPr lang="en-US" altLang="zh-TW" sz="1800" dirty="0" smtClean="0">
                <a:solidFill>
                  <a:schemeClr val="tx1"/>
                </a:solidFill>
                <a:latin typeface="微軟正黑體" panose="020B0604030504040204" pitchFamily="34" charset="-120"/>
                <a:ea typeface="微軟正黑體" panose="020B0604030504040204" pitchFamily="34" charset="-120"/>
                <a:sym typeface="+mn-ea"/>
              </a:rPr>
              <a:t>Q3</a:t>
            </a:r>
            <a:r>
              <a:rPr lang="zh-TW" altLang="en-US" sz="1800" dirty="0" smtClean="0">
                <a:solidFill>
                  <a:schemeClr val="tx1"/>
                </a:solidFill>
                <a:latin typeface="微軟正黑體" panose="020B0604030504040204" pitchFamily="34" charset="-120"/>
                <a:ea typeface="微軟正黑體" panose="020B0604030504040204" pitchFamily="34" charset="-120"/>
                <a:sym typeface="+mn-ea"/>
              </a:rPr>
              <a:t>自我</a:t>
            </a:r>
            <a:r>
              <a:rPr lang="zh-TW" altLang="en-US" sz="1800" dirty="0">
                <a:solidFill>
                  <a:schemeClr val="tx1"/>
                </a:solidFill>
                <a:latin typeface="微軟正黑體" panose="020B0604030504040204" pitchFamily="34" charset="-120"/>
                <a:ea typeface="微軟正黑體" panose="020B0604030504040204" pitchFamily="34" charset="-120"/>
                <a:sym typeface="+mn-ea"/>
              </a:rPr>
              <a:t>發展計畫</a:t>
            </a:r>
            <a:r>
              <a:rPr lang="zh-TW" altLang="en-US" dirty="0">
                <a:solidFill>
                  <a:schemeClr val="tx1"/>
                </a:solidFill>
                <a:latin typeface="微軟正黑體" panose="020B0604030504040204" pitchFamily="34" charset="-120"/>
                <a:ea typeface="微軟正黑體" panose="020B0604030504040204" pitchFamily="34" charset="-120"/>
                <a:sym typeface="+mn-ea"/>
              </a:rPr>
              <a:t>達成率</a:t>
            </a:r>
            <a:r>
              <a:rPr lang="en-US" altLang="zh-TW" sz="1800" dirty="0">
                <a:solidFill>
                  <a:schemeClr val="tx1"/>
                </a:solidFill>
                <a:latin typeface="微軟正黑體" panose="020B0604030504040204" pitchFamily="34" charset="-120"/>
                <a:ea typeface="微軟正黑體" panose="020B0604030504040204" pitchFamily="34" charset="-120"/>
                <a:sym typeface="+mn-ea"/>
              </a:rPr>
              <a:t>, </a:t>
            </a:r>
            <a:r>
              <a:rPr lang="zh-TW" altLang="en-US" dirty="0">
                <a:solidFill>
                  <a:srgbClr val="FF0000"/>
                </a:solidFill>
                <a:latin typeface="微軟正黑體" panose="020B0604030504040204" pitchFamily="34" charset="-120"/>
                <a:ea typeface="微軟正黑體" panose="020B0604030504040204" pitchFamily="34" charset="-120"/>
                <a:sym typeface="+mn-ea"/>
              </a:rPr>
              <a:t>未達</a:t>
            </a:r>
            <a:r>
              <a:rPr lang="en-US" altLang="zh-TW" dirty="0">
                <a:solidFill>
                  <a:srgbClr val="FF0000"/>
                </a:solidFill>
                <a:latin typeface="微軟正黑體" panose="020B0604030504040204" pitchFamily="34" charset="-120"/>
                <a:ea typeface="微軟正黑體" panose="020B0604030504040204" pitchFamily="34" charset="-120"/>
                <a:sym typeface="+mn-ea"/>
              </a:rPr>
              <a:t>90%</a:t>
            </a:r>
            <a:r>
              <a:rPr lang="zh-TW" altLang="en-US" dirty="0">
                <a:solidFill>
                  <a:srgbClr val="FF0000"/>
                </a:solidFill>
                <a:latin typeface="微軟正黑體" panose="020B0604030504040204" pitchFamily="34" charset="-120"/>
                <a:ea typeface="微軟正黑體" panose="020B0604030504040204" pitchFamily="34" charset="-120"/>
                <a:sym typeface="+mn-ea"/>
              </a:rPr>
              <a:t>請寫原因及補完計畫</a:t>
            </a:r>
            <a:r>
              <a:rPr lang="en-US" altLang="zh-TW" dirty="0">
                <a:solidFill>
                  <a:srgbClr val="FF0000"/>
                </a:solidFill>
                <a:latin typeface="微軟正黑體" panose="020B0604030504040204" pitchFamily="34" charset="-120"/>
                <a:ea typeface="微軟正黑體" panose="020B0604030504040204" pitchFamily="34" charset="-120"/>
                <a:sym typeface="+mn-ea"/>
              </a:rPr>
              <a:t>,</a:t>
            </a:r>
            <a:r>
              <a:rPr lang="zh-TW" altLang="en-US" dirty="0">
                <a:solidFill>
                  <a:srgbClr val="FF0000"/>
                </a:solidFill>
                <a:latin typeface="微軟正黑體" panose="020B0604030504040204" pitchFamily="34" charset="-120"/>
                <a:ea typeface="微軟正黑體" panose="020B0604030504040204" pitchFamily="34" charset="-120"/>
                <a:sym typeface="+mn-ea"/>
              </a:rPr>
              <a:t>文員含助理選填</a:t>
            </a:r>
            <a:r>
              <a:rPr lang="en-US" altLang="zh-TW" dirty="0">
                <a:solidFill>
                  <a:srgbClr val="FF0000"/>
                </a:solidFill>
                <a:latin typeface="微軟正黑體" panose="020B0604030504040204" pitchFamily="34" charset="-120"/>
                <a:ea typeface="微軟正黑體" panose="020B0604030504040204" pitchFamily="34" charset="-120"/>
                <a:sym typeface="+mn-ea"/>
              </a:rPr>
              <a:t>(</a:t>
            </a:r>
            <a:r>
              <a:rPr lang="zh-TW" altLang="en-US" dirty="0">
                <a:solidFill>
                  <a:srgbClr val="FF0000"/>
                </a:solidFill>
                <a:latin typeface="微軟正黑體" panose="020B0604030504040204" pitchFamily="34" charset="-120"/>
                <a:ea typeface="微軟正黑體" panose="020B0604030504040204" pitchFamily="34" charset="-120"/>
                <a:sym typeface="+mn-ea"/>
              </a:rPr>
              <a:t>專案要寫</a:t>
            </a:r>
            <a:r>
              <a:rPr lang="en-US" altLang="zh-TW" dirty="0">
                <a:solidFill>
                  <a:srgbClr val="FF0000"/>
                </a:solidFill>
                <a:latin typeface="微軟正黑體" panose="020B0604030504040204" pitchFamily="34" charset="-120"/>
                <a:ea typeface="微軟正黑體" panose="020B0604030504040204" pitchFamily="34" charset="-120"/>
                <a:sym typeface="+mn-ea"/>
              </a:rPr>
              <a:t>), </a:t>
            </a:r>
            <a:r>
              <a:rPr lang="zh-TW" altLang="en-US" dirty="0">
                <a:solidFill>
                  <a:srgbClr val="FF0000"/>
                </a:solidFill>
                <a:latin typeface="微軟正黑體" panose="020B0604030504040204" pitchFamily="34" charset="-120"/>
                <a:ea typeface="微軟正黑體" panose="020B0604030504040204" pitchFamily="34" charset="-120"/>
                <a:sym typeface="+mn-ea"/>
              </a:rPr>
              <a:t>全項都</a:t>
            </a:r>
            <a:r>
              <a:rPr lang="en-US" altLang="zh-TW" dirty="0">
                <a:solidFill>
                  <a:srgbClr val="FF0000"/>
                </a:solidFill>
                <a:latin typeface="微軟正黑體" panose="020B0604030504040204" pitchFamily="34" charset="-120"/>
                <a:ea typeface="微軟正黑體" panose="020B0604030504040204" pitchFamily="34" charset="-120"/>
                <a:sym typeface="+mn-ea"/>
              </a:rPr>
              <a:t>100%</a:t>
            </a:r>
            <a:r>
              <a:rPr lang="zh-TW" altLang="en-US" dirty="0">
                <a:solidFill>
                  <a:srgbClr val="FF0000"/>
                </a:solidFill>
                <a:latin typeface="微軟正黑體" panose="020B0604030504040204" pitchFamily="34" charset="-120"/>
                <a:ea typeface="微軟正黑體" panose="020B0604030504040204" pitchFamily="34" charset="-120"/>
                <a:sym typeface="+mn-ea"/>
              </a:rPr>
              <a:t>達成率的我會喊來考試</a:t>
            </a:r>
            <a:r>
              <a:rPr lang="en-US" altLang="zh-TW" dirty="0" smtClean="0">
                <a:solidFill>
                  <a:srgbClr val="FF0000"/>
                </a:solidFill>
                <a:latin typeface="微軟正黑體" panose="020B0604030504040204" pitchFamily="34" charset="-120"/>
                <a:ea typeface="微軟正黑體" panose="020B0604030504040204" pitchFamily="34" charset="-120"/>
                <a:sym typeface="+mn-ea"/>
              </a:rPr>
              <a:t>.</a:t>
            </a:r>
          </a:p>
          <a:p>
            <a:r>
              <a:rPr lang="en-US" altLang="zh-TW" dirty="0" smtClean="0">
                <a:solidFill>
                  <a:schemeClr val="tx1"/>
                </a:solidFill>
              </a:rPr>
              <a:t>2025</a:t>
            </a:r>
            <a:r>
              <a:rPr lang="zh-TW" altLang="en-US" dirty="0" smtClean="0">
                <a:solidFill>
                  <a:schemeClr val="tx1"/>
                </a:solidFill>
              </a:rPr>
              <a:t> </a:t>
            </a:r>
            <a:r>
              <a:rPr lang="vi-VN" altLang="zh-TW" dirty="0" smtClean="0">
                <a:solidFill>
                  <a:schemeClr val="tx1"/>
                </a:solidFill>
              </a:rPr>
              <a:t>Q</a:t>
            </a:r>
            <a:r>
              <a:rPr lang="en-US" altLang="zh-TW" dirty="0" smtClean="0">
                <a:solidFill>
                  <a:schemeClr val="tx1"/>
                </a:solidFill>
              </a:rPr>
              <a:t>3</a:t>
            </a:r>
            <a:r>
              <a:rPr lang="vi-VN" altLang="zh-TW" dirty="0" smtClean="0">
                <a:solidFill>
                  <a:schemeClr val="tx1"/>
                </a:solidFill>
              </a:rPr>
              <a:t> </a:t>
            </a:r>
            <a:r>
              <a:rPr lang="vi-VN" altLang="zh-TW" dirty="0">
                <a:solidFill>
                  <a:schemeClr val="tx1"/>
                </a:solidFill>
              </a:rPr>
              <a:t>Tỷ lệ hoàn thành kế hoạch phát triển bản thân. </a:t>
            </a:r>
            <a:r>
              <a:rPr lang="vi-VN" altLang="zh-TW" dirty="0">
                <a:solidFill>
                  <a:srgbClr val="FF0000"/>
                </a:solidFill>
              </a:rPr>
              <a:t>Nếu tỷ lệ hoàn thành dưới 90%, vui lòng nêu rõ lý do và kế hoạch theo dõi. Điều này là tùy chọn đối với nhân viên văn phòng và trợ lý (bắt buộc phải có APM). Andy sẽ làm bài kiểm tra nếu tất cả các mục được hoàn thành 100%.</a:t>
            </a:r>
            <a:endParaRPr lang="zh-TW" altLang="en-US" dirty="0">
              <a:solidFill>
                <a:srgbClr val="FF0000"/>
              </a:solidFill>
            </a:endParaRPr>
          </a:p>
        </p:txBody>
      </p:sp>
    </p:spTree>
    <p:extLst>
      <p:ext uri="{BB962C8B-B14F-4D97-AF65-F5344CB8AC3E}">
        <p14:creationId xmlns:p14="http://schemas.microsoft.com/office/powerpoint/2010/main" val="1794502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B22DC-41D9-9039-1E50-1DCC667B97F8}"/>
            </a:ext>
          </a:extLst>
        </p:cNvPr>
        <p:cNvGrpSpPr/>
        <p:nvPr/>
      </p:nvGrpSpPr>
      <p:grpSpPr>
        <a:xfrm>
          <a:off x="0" y="0"/>
          <a:ext cx="0" cy="0"/>
          <a:chOff x="0" y="0"/>
          <a:chExt cx="0" cy="0"/>
        </a:xfrm>
      </p:grpSpPr>
      <p:grpSp>
        <p:nvGrpSpPr>
          <p:cNvPr id="19" name="群組 18">
            <a:extLst>
              <a:ext uri="{FF2B5EF4-FFF2-40B4-BE49-F238E27FC236}">
                <a16:creationId xmlns:a16="http://schemas.microsoft.com/office/drawing/2014/main" id="{0428501F-31AB-0DD5-93DE-5E7D2BFF6F7B}"/>
              </a:ext>
            </a:extLst>
          </p:cNvPr>
          <p:cNvGrpSpPr/>
          <p:nvPr/>
        </p:nvGrpSpPr>
        <p:grpSpPr>
          <a:xfrm>
            <a:off x="11145334" y="6021230"/>
            <a:ext cx="1058632" cy="775686"/>
            <a:chOff x="1633100" y="4132365"/>
            <a:chExt cx="419208" cy="307164"/>
          </a:xfrm>
        </p:grpSpPr>
        <p:sp>
          <p:nvSpPr>
            <p:cNvPr id="20" name="Oval 21">
              <a:extLst>
                <a:ext uri="{FF2B5EF4-FFF2-40B4-BE49-F238E27FC236}">
                  <a16:creationId xmlns:a16="http://schemas.microsoft.com/office/drawing/2014/main" id="{A9881145-5EAD-7464-9FEB-B3DCD1046003}"/>
                </a:ext>
              </a:extLst>
            </p:cNvPr>
            <p:cNvSpPr/>
            <p:nvPr/>
          </p:nvSpPr>
          <p:spPr>
            <a:xfrm rot="20111049">
              <a:off x="1633100" y="4132365"/>
              <a:ext cx="301450" cy="254502"/>
            </a:xfrm>
            <a:custGeom>
              <a:avLst/>
              <a:gdLst/>
              <a:ahLst/>
              <a:cxnLst/>
              <a:rect l="l" t="t" r="r" b="b"/>
              <a:pathLst>
                <a:path w="4088377" h="3321003">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bg1"/>
            </a:solidFill>
            <a:ln w="3175">
              <a:solidFill>
                <a:schemeClr val="bg2">
                  <a:lumMod val="75000"/>
                </a:schemeClr>
              </a:solidFill>
            </a:ln>
            <a:effectLst>
              <a:outerShdw blurRad="50800" dist="38100" dir="8100000" sx="97000" sy="97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bg1"/>
                </a:solidFill>
              </a:endParaRPr>
            </a:p>
          </p:txBody>
        </p:sp>
        <p:grpSp>
          <p:nvGrpSpPr>
            <p:cNvPr id="21" name="群組 20">
              <a:extLst>
                <a:ext uri="{FF2B5EF4-FFF2-40B4-BE49-F238E27FC236}">
                  <a16:creationId xmlns:a16="http://schemas.microsoft.com/office/drawing/2014/main" id="{B3D96D5F-05B0-311A-4C20-757990B84251}"/>
                </a:ext>
              </a:extLst>
            </p:cNvPr>
            <p:cNvGrpSpPr/>
            <p:nvPr/>
          </p:nvGrpSpPr>
          <p:grpSpPr>
            <a:xfrm>
              <a:off x="1727685" y="4270681"/>
              <a:ext cx="324623" cy="168848"/>
              <a:chOff x="2114400" y="4249726"/>
              <a:chExt cx="324623" cy="168848"/>
            </a:xfrm>
          </p:grpSpPr>
          <p:sp>
            <p:nvSpPr>
              <p:cNvPr id="22" name="文字方塊 21">
                <a:extLst>
                  <a:ext uri="{FF2B5EF4-FFF2-40B4-BE49-F238E27FC236}">
                    <a16:creationId xmlns:a16="http://schemas.microsoft.com/office/drawing/2014/main" id="{7374A306-13D2-599F-6839-42540F4C4012}"/>
                  </a:ext>
                </a:extLst>
              </p:cNvPr>
              <p:cNvSpPr txBox="1"/>
              <p:nvPr/>
            </p:nvSpPr>
            <p:spPr>
              <a:xfrm>
                <a:off x="2114400" y="4249726"/>
                <a:ext cx="280467" cy="146252"/>
              </a:xfrm>
              <a:prstGeom prst="rect">
                <a:avLst/>
              </a:prstGeom>
              <a:noFill/>
            </p:spPr>
            <p:txBody>
              <a:bodyPr wrap="square" rtlCol="0">
                <a:spAutoFit/>
              </a:bodyPr>
              <a:lstStyle/>
              <a:p>
                <a:r>
                  <a:rPr lang="en-US" altLang="zh-TW" b="1" dirty="0">
                    <a:ln w="3175">
                      <a:solidFill>
                        <a:schemeClr val="bg2">
                          <a:lumMod val="50000"/>
                        </a:schemeClr>
                      </a:solidFill>
                    </a:ln>
                    <a:solidFill>
                      <a:schemeClr val="bg1"/>
                    </a:solidFill>
                    <a:effectLst>
                      <a:innerShdw blurRad="63500" dist="50800" dir="18900000">
                        <a:prstClr val="black">
                          <a:alpha val="50000"/>
                        </a:prstClr>
                      </a:innerShdw>
                    </a:effectLst>
                    <a:latin typeface="Amasis MT Pro Black" panose="020F0502020204030204" pitchFamily="18" charset="0"/>
                    <a:cs typeface="Arial" panose="020B0604020202020204" pitchFamily="34" charset="0"/>
                  </a:rPr>
                  <a:t>FME</a:t>
                </a:r>
                <a:endParaRPr lang="zh-TW" altLang="en-US" b="1" dirty="0">
                  <a:ln w="3175">
                    <a:solidFill>
                      <a:schemeClr val="bg2">
                        <a:lumMod val="50000"/>
                      </a:schemeClr>
                    </a:solidFill>
                  </a:ln>
                  <a:solidFill>
                    <a:schemeClr val="bg1"/>
                  </a:solidFill>
                  <a:effectLst>
                    <a:innerShdw blurRad="63500" dist="50800" dir="18900000">
                      <a:prstClr val="black">
                        <a:alpha val="50000"/>
                      </a:prstClr>
                    </a:innerShdw>
                  </a:effectLst>
                  <a:latin typeface="Amasis MT Pro Black" panose="020F0502020204030204" pitchFamily="18" charset="0"/>
                  <a:cs typeface="Arial" panose="020B0604020202020204" pitchFamily="34" charset="0"/>
                </a:endParaRPr>
              </a:p>
            </p:txBody>
          </p:sp>
          <p:sp>
            <p:nvSpPr>
              <p:cNvPr id="23" name="文字方塊 22">
                <a:extLst>
                  <a:ext uri="{FF2B5EF4-FFF2-40B4-BE49-F238E27FC236}">
                    <a16:creationId xmlns:a16="http://schemas.microsoft.com/office/drawing/2014/main" id="{C53B6089-68C3-C7E1-E768-FA5D4836C129}"/>
                  </a:ext>
                </a:extLst>
              </p:cNvPr>
              <p:cNvSpPr txBox="1"/>
              <p:nvPr/>
            </p:nvSpPr>
            <p:spPr>
              <a:xfrm>
                <a:off x="2131213" y="4333260"/>
                <a:ext cx="307810" cy="85314"/>
              </a:xfrm>
              <a:prstGeom prst="rect">
                <a:avLst/>
              </a:prstGeom>
              <a:noFill/>
            </p:spPr>
            <p:txBody>
              <a:bodyPr wrap="square" rtlCol="0">
                <a:spAutoFit/>
              </a:bodyPr>
              <a:lstStyle/>
              <a:p>
                <a:r>
                  <a:rPr lang="en-US" altLang="zh-TW" sz="800" b="1" dirty="0">
                    <a:ln w="3175">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BG6</a:t>
                </a:r>
                <a:r>
                  <a:rPr lang="zh-TW" altLang="en-US" sz="800" b="1" dirty="0">
                    <a:ln w="3175">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 </a:t>
                </a:r>
                <a:r>
                  <a:rPr lang="en-US" altLang="zh-TW" sz="800" b="1" dirty="0">
                    <a:ln w="0">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PVN</a:t>
                </a:r>
                <a:endParaRPr lang="zh-TW" altLang="en-US" sz="800" b="1" dirty="0">
                  <a:ln w="0">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endParaRPr>
              </a:p>
            </p:txBody>
          </p:sp>
        </p:grpSp>
      </p:grpSp>
      <p:grpSp>
        <p:nvGrpSpPr>
          <p:cNvPr id="9" name="群組 8">
            <a:extLst>
              <a:ext uri="{FF2B5EF4-FFF2-40B4-BE49-F238E27FC236}">
                <a16:creationId xmlns:a16="http://schemas.microsoft.com/office/drawing/2014/main" id="{9D36CF88-B0B1-AEDD-CCE7-2DB039E7DE48}"/>
              </a:ext>
            </a:extLst>
          </p:cNvPr>
          <p:cNvGrpSpPr/>
          <p:nvPr/>
        </p:nvGrpSpPr>
        <p:grpSpPr>
          <a:xfrm>
            <a:off x="195262" y="178409"/>
            <a:ext cx="11801476" cy="588751"/>
            <a:chOff x="195262" y="163202"/>
            <a:chExt cx="11801476" cy="588751"/>
          </a:xfrm>
        </p:grpSpPr>
        <p:sp>
          <p:nvSpPr>
            <p:cNvPr id="10" name="矩形: 圓角 9">
              <a:extLst>
                <a:ext uri="{FF2B5EF4-FFF2-40B4-BE49-F238E27FC236}">
                  <a16:creationId xmlns:a16="http://schemas.microsoft.com/office/drawing/2014/main" id="{03390BDD-9B72-9F37-E922-D9100757E467}"/>
                </a:ext>
              </a:extLst>
            </p:cNvPr>
            <p:cNvSpPr/>
            <p:nvPr/>
          </p:nvSpPr>
          <p:spPr>
            <a:xfrm>
              <a:off x="195262" y="247970"/>
              <a:ext cx="11801476" cy="419217"/>
            </a:xfrm>
            <a:prstGeom prst="roundRect">
              <a:avLst>
                <a:gd name="adj" fmla="val 40804"/>
              </a:avLst>
            </a:prstGeom>
            <a:gradFill flip="none" rotWithShape="1">
              <a:gsLst>
                <a:gs pos="0">
                  <a:schemeClr val="bg1">
                    <a:lumMod val="95000"/>
                  </a:schemeClr>
                </a:gs>
                <a:gs pos="18000">
                  <a:schemeClr val="tx1">
                    <a:lumMod val="50000"/>
                    <a:lumOff val="50000"/>
                  </a:schemeClr>
                </a:gs>
                <a:gs pos="83000">
                  <a:schemeClr val="tx1">
                    <a:lumMod val="75000"/>
                    <a:lumOff val="25000"/>
                  </a:schemeClr>
                </a:gs>
                <a:gs pos="100000">
                  <a:schemeClr val="tx1">
                    <a:lumMod val="75000"/>
                    <a:lumOff val="25000"/>
                  </a:schemeClr>
                </a:gs>
              </a:gsLst>
              <a:lin ang="0" scaled="1"/>
              <a:tileRect/>
            </a:gra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ysClr val="windowText" lastClr="000000"/>
                </a:solidFill>
                <a:latin typeface="微軟正黑體" panose="020B0604030504040204" pitchFamily="34" charset="-120"/>
                <a:ea typeface="微軟正黑體" panose="020B0604030504040204" pitchFamily="34" charset="-120"/>
              </a:endParaRPr>
            </a:p>
          </p:txBody>
        </p:sp>
        <p:grpSp>
          <p:nvGrpSpPr>
            <p:cNvPr id="11" name="群組 10">
              <a:extLst>
                <a:ext uri="{FF2B5EF4-FFF2-40B4-BE49-F238E27FC236}">
                  <a16:creationId xmlns:a16="http://schemas.microsoft.com/office/drawing/2014/main" id="{44951AEC-5F2B-0185-C8AD-C0C05C088C0F}"/>
                </a:ext>
              </a:extLst>
            </p:cNvPr>
            <p:cNvGrpSpPr/>
            <p:nvPr/>
          </p:nvGrpSpPr>
          <p:grpSpPr>
            <a:xfrm>
              <a:off x="600729" y="163202"/>
              <a:ext cx="1038687" cy="588751"/>
              <a:chOff x="1782913" y="2529000"/>
              <a:chExt cx="3121572" cy="1800001"/>
            </a:xfrm>
          </p:grpSpPr>
          <p:sp>
            <p:nvSpPr>
              <p:cNvPr id="13" name="圆角矩形 15">
                <a:extLst>
                  <a:ext uri="{FF2B5EF4-FFF2-40B4-BE49-F238E27FC236}">
                    <a16:creationId xmlns:a16="http://schemas.microsoft.com/office/drawing/2014/main" id="{CF7C8B5F-9966-9D3E-0393-58969A95E0E9}"/>
                  </a:ext>
                </a:extLst>
              </p:cNvPr>
              <p:cNvSpPr/>
              <p:nvPr/>
            </p:nvSpPr>
            <p:spPr>
              <a:xfrm rot="2700000">
                <a:off x="1857839" y="2529000"/>
                <a:ext cx="1800000" cy="1800001"/>
              </a:xfrm>
              <a:prstGeom prst="roundRect">
                <a:avLst/>
              </a:prstGeom>
              <a:solidFill>
                <a:srgbClr val="34B2E4"/>
              </a:solidFill>
              <a:ln>
                <a:noFill/>
              </a:ln>
              <a:effectLst>
                <a:outerShdw blurRad="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ea"/>
                  <a:sym typeface="+mn-lt"/>
                </a:endParaRPr>
              </a:p>
            </p:txBody>
          </p:sp>
          <p:sp>
            <p:nvSpPr>
              <p:cNvPr id="14" name="圆角矩形 16">
                <a:extLst>
                  <a:ext uri="{FF2B5EF4-FFF2-40B4-BE49-F238E27FC236}">
                    <a16:creationId xmlns:a16="http://schemas.microsoft.com/office/drawing/2014/main" id="{6F4CC479-26D5-ACBA-DD0A-33933707F842}"/>
                  </a:ext>
                </a:extLst>
              </p:cNvPr>
              <p:cNvSpPr/>
              <p:nvPr/>
            </p:nvSpPr>
            <p:spPr>
              <a:xfrm rot="2700000">
                <a:off x="1782913" y="2529000"/>
                <a:ext cx="1800000" cy="1800000"/>
              </a:xfrm>
              <a:prstGeom prst="roundRect">
                <a:avLst/>
              </a:prstGeom>
              <a:solidFill>
                <a:schemeClr val="bg1"/>
              </a:solidFill>
              <a:ln>
                <a:noFill/>
              </a:ln>
              <a:effectLst>
                <a:outerShdw blurRad="1905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ea"/>
                  <a:sym typeface="+mn-lt"/>
                </a:endParaRPr>
              </a:p>
            </p:txBody>
          </p:sp>
          <p:pic>
            <p:nvPicPr>
              <p:cNvPr id="15" name="圖片 14" descr="一張含有 文字, 輪子, 美工圖案, 齒輪 的圖片&#10;&#10;自動產生的描述">
                <a:extLst>
                  <a:ext uri="{FF2B5EF4-FFF2-40B4-BE49-F238E27FC236}">
                    <a16:creationId xmlns:a16="http://schemas.microsoft.com/office/drawing/2014/main" id="{CE63274E-24D9-99BB-E77C-8928F98DBB67}"/>
                  </a:ext>
                </a:extLst>
              </p:cNvPr>
              <p:cNvPicPr>
                <a:picLocks noChangeAspect="1"/>
              </p:cNvPicPr>
              <p:nvPr/>
            </p:nvPicPr>
            <p:blipFill rotWithShape="1">
              <a:blip r:embed="rId2" cstate="print">
                <a:grayscl/>
                <a:extLst>
                  <a:ext uri="{28A0092B-C50C-407E-A947-70E740481C1C}">
                    <a14:useLocalDpi xmlns:a14="http://schemas.microsoft.com/office/drawing/2010/main" val="0"/>
                  </a:ext>
                </a:extLst>
              </a:blip>
              <a:srcRect l="73898"/>
              <a:stretch>
                <a:fillRect/>
              </a:stretch>
            </p:blipFill>
            <p:spPr>
              <a:xfrm rot="5400000">
                <a:off x="3709805" y="2875160"/>
                <a:ext cx="1281680" cy="1107681"/>
              </a:xfrm>
              <a:prstGeom prst="rect">
                <a:avLst/>
              </a:prstGeom>
              <a:noFill/>
              <a:ln>
                <a:noFill/>
              </a:ln>
            </p:spPr>
          </p:pic>
          <p:sp>
            <p:nvSpPr>
              <p:cNvPr id="16" name="矩形 15">
                <a:extLst>
                  <a:ext uri="{FF2B5EF4-FFF2-40B4-BE49-F238E27FC236}">
                    <a16:creationId xmlns:a16="http://schemas.microsoft.com/office/drawing/2014/main" id="{CA60C1F1-782A-F0A6-F805-F04B8E6DE854}"/>
                  </a:ext>
                </a:extLst>
              </p:cNvPr>
              <p:cNvSpPr/>
              <p:nvPr/>
            </p:nvSpPr>
            <p:spPr>
              <a:xfrm>
                <a:off x="1831379" y="2819459"/>
                <a:ext cx="1703069" cy="1337528"/>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1100" b="1" i="0" u="none" strike="noStrike" kern="1200" cap="none" spc="0" normalizeH="0" baseline="0" noProof="0" dirty="0">
                    <a:ln>
                      <a:noFill/>
                    </a:ln>
                    <a:solidFill>
                      <a:srgbClr val="A4A4A4"/>
                    </a:solidFill>
                    <a:effectLst/>
                    <a:uLnTx/>
                    <a:uFillTx/>
                    <a:latin typeface="DengXian" panose="02010600030101010101" pitchFamily="2" charset="-122"/>
                    <a:ea typeface="DengXian" panose="02010600030101010101" pitchFamily="2" charset="-122"/>
                  </a:rPr>
                  <a:t>BG6</a:t>
                </a:r>
              </a:p>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100" b="1" dirty="0">
                    <a:solidFill>
                      <a:srgbClr val="A4A4A4"/>
                    </a:solidFill>
                    <a:latin typeface="DengXian" panose="02010600030101010101" pitchFamily="2" charset="-122"/>
                    <a:ea typeface="DengXian" panose="02010600030101010101" pitchFamily="2" charset="-122"/>
                  </a:rPr>
                  <a:t>PVN</a:t>
                </a:r>
                <a:endParaRPr kumimoji="0" lang="en-US" altLang="zh-TW" sz="1100" b="1" i="0" u="none" strike="noStrike" kern="1200" cap="none" spc="0" normalizeH="0" baseline="0" noProof="0" dirty="0">
                  <a:ln>
                    <a:noFill/>
                  </a:ln>
                  <a:solidFill>
                    <a:srgbClr val="A4A4A4"/>
                  </a:solidFill>
                  <a:effectLst/>
                  <a:uLnTx/>
                  <a:uFillTx/>
                  <a:latin typeface="DengXian" panose="02010600030101010101" pitchFamily="2" charset="-122"/>
                  <a:ea typeface="DengXian" panose="02010600030101010101" pitchFamily="2" charset="-122"/>
                </a:endParaRPr>
              </a:p>
            </p:txBody>
          </p:sp>
        </p:grpSp>
        <p:sp>
          <p:nvSpPr>
            <p:cNvPr id="12" name="文字方塊 11">
              <a:extLst>
                <a:ext uri="{FF2B5EF4-FFF2-40B4-BE49-F238E27FC236}">
                  <a16:creationId xmlns:a16="http://schemas.microsoft.com/office/drawing/2014/main" id="{4DBF3AE9-E665-42AB-D033-8DC0E2173BAE}"/>
                </a:ext>
              </a:extLst>
            </p:cNvPr>
            <p:cNvSpPr txBox="1"/>
            <p:nvPr/>
          </p:nvSpPr>
          <p:spPr>
            <a:xfrm>
              <a:off x="1604962" y="196222"/>
              <a:ext cx="5431155" cy="521970"/>
            </a:xfrm>
            <a:prstGeom prst="rect">
              <a:avLst/>
            </a:prstGeom>
            <a:noFill/>
          </p:spPr>
          <p:txBody>
            <a:bodyPr wrap="square" rtlCol="0">
              <a:spAutoFit/>
            </a:bodyPr>
            <a:lstStyle>
              <a:defPPr>
                <a:defRPr lang="zh-TW"/>
              </a:defPPr>
              <a:lvl1pPr defTabSz="837565">
                <a:defRPr sz="3200" b="1">
                  <a:solidFill>
                    <a:srgbClr val="2E9CC8"/>
                  </a:solidFill>
                  <a:latin typeface="DengXian" panose="02010600030101010101" pitchFamily="2" charset="-122"/>
                  <a:ea typeface="DengXian" panose="02010600030101010101" pitchFamily="2" charset="-122"/>
                </a:defRPr>
              </a:lvl1pPr>
            </a:lstStyle>
            <a:p>
              <a:r>
                <a:rPr lang="zh-TW" altLang="en-US" sz="2800" dirty="0" smtClean="0">
                  <a:solidFill>
                    <a:schemeClr val="bg1"/>
                  </a:solidFill>
                  <a:latin typeface="微軟正黑體" panose="020B0604030504040204" pitchFamily="34" charset="-120"/>
                  <a:ea typeface="微軟正黑體" panose="020B0604030504040204" pitchFamily="34" charset="-120"/>
                  <a:sym typeface="+mn-ea"/>
                </a:rPr>
                <a:t>工作</a:t>
              </a:r>
              <a:r>
                <a:rPr lang="zh-TW" altLang="en-US" sz="2800" dirty="0">
                  <a:solidFill>
                    <a:schemeClr val="bg1"/>
                  </a:solidFill>
                  <a:latin typeface="微軟正黑體" panose="020B0604030504040204" pitchFamily="34" charset="-120"/>
                  <a:ea typeface="微軟正黑體" panose="020B0604030504040204" pitchFamily="34" charset="-120"/>
                  <a:sym typeface="+mn-ea"/>
                </a:rPr>
                <a:t>及自我發展計畫</a:t>
              </a:r>
              <a:endParaRPr lang="en-US" altLang="zh-TW" sz="2800" dirty="0">
                <a:solidFill>
                  <a:schemeClr val="bg1"/>
                </a:solidFill>
                <a:latin typeface="微軟正黑體" panose="020B0604030504040204" pitchFamily="34" charset="-120"/>
                <a:ea typeface="微軟正黑體" panose="020B0604030504040204" pitchFamily="34" charset="-120"/>
                <a:sym typeface="+mn-ea"/>
              </a:endParaRPr>
            </a:p>
          </p:txBody>
        </p:sp>
      </p:grpSp>
      <p:graphicFrame>
        <p:nvGraphicFramePr>
          <p:cNvPr id="17" name="表格 16">
            <a:extLst>
              <a:ext uri="{FF2B5EF4-FFF2-40B4-BE49-F238E27FC236}">
                <a16:creationId xmlns:a16="http://schemas.microsoft.com/office/drawing/2014/main" id="{568DE87F-4023-97E8-BB9F-ED4DA1338CCA}"/>
              </a:ext>
            </a:extLst>
          </p:cNvPr>
          <p:cNvGraphicFramePr>
            <a:graphicFrameLocks noGrp="1"/>
          </p:cNvGraphicFramePr>
          <p:nvPr>
            <p:extLst>
              <p:ext uri="{D42A27DB-BD31-4B8C-83A1-F6EECF244321}">
                <p14:modId xmlns:p14="http://schemas.microsoft.com/office/powerpoint/2010/main" val="3064243895"/>
              </p:ext>
            </p:extLst>
          </p:nvPr>
        </p:nvGraphicFramePr>
        <p:xfrm>
          <a:off x="616856" y="1103004"/>
          <a:ext cx="11077303" cy="5206356"/>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2903630">
                  <a:extLst>
                    <a:ext uri="{9D8B030D-6E8A-4147-A177-3AD203B41FA5}">
                      <a16:colId xmlns:a16="http://schemas.microsoft.com/office/drawing/2014/main" val="3546184672"/>
                    </a:ext>
                  </a:extLst>
                </a:gridCol>
                <a:gridCol w="8173673">
                  <a:extLst>
                    <a:ext uri="{9D8B030D-6E8A-4147-A177-3AD203B41FA5}">
                      <a16:colId xmlns:a16="http://schemas.microsoft.com/office/drawing/2014/main" val="3861677689"/>
                    </a:ext>
                  </a:extLst>
                </a:gridCol>
              </a:tblGrid>
              <a:tr h="578484">
                <a:tc>
                  <a:txBody>
                    <a:bodyPr/>
                    <a:lstStyle/>
                    <a:p>
                      <a:pPr algn="l"/>
                      <a:r>
                        <a:rPr lang="zh-TW" altLang="en-US" sz="2000" dirty="0">
                          <a:latin typeface="微軟正黑體" panose="020B0604030504040204" pitchFamily="34" charset="-120"/>
                          <a:ea typeface="微軟正黑體" panose="020B0604030504040204" pitchFamily="34" charset="-120"/>
                        </a:rPr>
                        <a:t>時間</a:t>
                      </a:r>
                    </a:p>
                  </a:txBody>
                  <a:tcPr anchor="ctr">
                    <a:solidFill>
                      <a:srgbClr val="BA996E">
                        <a:alpha val="70000"/>
                      </a:srgbClr>
                    </a:solidFill>
                  </a:tcPr>
                </a:tc>
                <a:tc>
                  <a:txBody>
                    <a:bodyPr/>
                    <a:lstStyle/>
                    <a:p>
                      <a:pPr algn="l"/>
                      <a:r>
                        <a:rPr lang="zh-TW" altLang="en-US" sz="2000" dirty="0">
                          <a:latin typeface="微軟正黑體" panose="020B0604030504040204" pitchFamily="34" charset="-120"/>
                          <a:ea typeface="微軟正黑體" panose="020B0604030504040204" pitchFamily="34" charset="-120"/>
                        </a:rPr>
                        <a:t>工作及自我發展計畫</a:t>
                      </a:r>
                    </a:p>
                  </a:txBody>
                  <a:tcPr anchor="ctr">
                    <a:solidFill>
                      <a:srgbClr val="BA996E">
                        <a:alpha val="70000"/>
                      </a:srgbClr>
                    </a:solidFill>
                  </a:tcPr>
                </a:tc>
                <a:extLst>
                  <a:ext uri="{0D108BD9-81ED-4DB2-BD59-A6C34878D82A}">
                    <a16:rowId xmlns:a16="http://schemas.microsoft.com/office/drawing/2014/main" val="266302271"/>
                  </a:ext>
                </a:extLst>
              </a:tr>
              <a:tr h="578484">
                <a:tc rowSpan="8">
                  <a:txBody>
                    <a:bodyPr/>
                    <a:lstStyle/>
                    <a:p>
                      <a:pPr algn="ctr"/>
                      <a:r>
                        <a:rPr lang="en-US" altLang="zh-TW" sz="1800" dirty="0" smtClean="0">
                          <a:latin typeface="Arial" panose="020B0604020202020204" pitchFamily="34" charset="0"/>
                          <a:cs typeface="Arial" panose="020B0604020202020204" pitchFamily="34" charset="0"/>
                        </a:rPr>
                        <a:t>2026</a:t>
                      </a:r>
                      <a:r>
                        <a:rPr lang="zh-TW" altLang="en-US" sz="1800" dirty="0" smtClean="0">
                          <a:latin typeface="Arial" panose="020B0604020202020204" pitchFamily="34" charset="0"/>
                          <a:cs typeface="Arial" panose="020B0604020202020204" pitchFamily="34" charset="0"/>
                        </a:rPr>
                        <a:t> </a:t>
                      </a:r>
                      <a:r>
                        <a:rPr lang="en-US" altLang="zh-TW" sz="1800" dirty="0" smtClean="0">
                          <a:latin typeface="Arial" panose="020B0604020202020204" pitchFamily="34" charset="0"/>
                          <a:cs typeface="Arial" panose="020B0604020202020204" pitchFamily="34" charset="0"/>
                        </a:rPr>
                        <a:t>Q2~</a:t>
                      </a:r>
                      <a:endParaRPr lang="zh-TW" altLang="en-US" sz="1800" dirty="0">
                        <a:latin typeface="Arial" panose="020B0604020202020204" pitchFamily="34" charset="0"/>
                        <a:cs typeface="Arial" panose="020B0604020202020204" pitchFamily="34" charset="0"/>
                      </a:endParaRPr>
                    </a:p>
                  </a:txBody>
                  <a:tcPr anchor="ctr">
                    <a:solidFill>
                      <a:schemeClr val="bg1">
                        <a:lumMod val="85000"/>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extLst>
                  <a:ext uri="{0D108BD9-81ED-4DB2-BD59-A6C34878D82A}">
                    <a16:rowId xmlns:a16="http://schemas.microsoft.com/office/drawing/2014/main" val="2426463552"/>
                  </a:ext>
                </a:extLst>
              </a:tr>
              <a:tr h="578484">
                <a:tc vMerge="1">
                  <a:txBody>
                    <a:bodyPr/>
                    <a:lstStyle/>
                    <a:p>
                      <a:pPr algn="ctr"/>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extLst>
                  <a:ext uri="{0D108BD9-81ED-4DB2-BD59-A6C34878D82A}">
                    <a16:rowId xmlns:a16="http://schemas.microsoft.com/office/drawing/2014/main" val="3977970917"/>
                  </a:ext>
                </a:extLst>
              </a:tr>
              <a:tr h="578484">
                <a:tc vMerge="1">
                  <a:txBody>
                    <a:bodyPr/>
                    <a:lstStyle/>
                    <a:p>
                      <a:pPr algn="ctr"/>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extLst>
                  <a:ext uri="{0D108BD9-81ED-4DB2-BD59-A6C34878D82A}">
                    <a16:rowId xmlns:a16="http://schemas.microsoft.com/office/drawing/2014/main" val="4092448663"/>
                  </a:ext>
                </a:extLst>
              </a:tr>
              <a:tr h="578484">
                <a:tc vMerge="1">
                  <a:txBody>
                    <a:bodyPr/>
                    <a:lstStyle/>
                    <a:p>
                      <a:pPr algn="ctr"/>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extLst>
                  <a:ext uri="{0D108BD9-81ED-4DB2-BD59-A6C34878D82A}">
                    <a16:rowId xmlns:a16="http://schemas.microsoft.com/office/drawing/2014/main" val="338032022"/>
                  </a:ext>
                </a:extLst>
              </a:tr>
              <a:tr h="578484">
                <a:tc vMerge="1">
                  <a:txBody>
                    <a:bodyPr/>
                    <a:lstStyle/>
                    <a:p>
                      <a:pPr algn="ctr"/>
                      <a:endParaRPr lang="zh-TW" altLang="en-US" sz="1800" dirty="0">
                        <a:latin typeface="Arial" panose="020B0604020202020204" pitchFamily="34" charset="0"/>
                        <a:cs typeface="Arial" panose="020B0604020202020204" pitchFamily="34" charset="0"/>
                      </a:endParaRPr>
                    </a:p>
                  </a:txBody>
                  <a:tcPr anchor="ctr">
                    <a:solidFill>
                      <a:schemeClr val="bg1">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extLst>
                  <a:ext uri="{0D108BD9-81ED-4DB2-BD59-A6C34878D82A}">
                    <a16:rowId xmlns:a16="http://schemas.microsoft.com/office/drawing/2014/main" val="2965768060"/>
                  </a:ext>
                </a:extLst>
              </a:tr>
              <a:tr h="578484">
                <a:tc vMerge="1">
                  <a:txBody>
                    <a:bodyPr/>
                    <a:lstStyle/>
                    <a:p>
                      <a:pPr algn="ctr"/>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extLst>
                  <a:ext uri="{0D108BD9-81ED-4DB2-BD59-A6C34878D82A}">
                    <a16:rowId xmlns:a16="http://schemas.microsoft.com/office/drawing/2014/main" val="1061757831"/>
                  </a:ext>
                </a:extLst>
              </a:tr>
              <a:tr h="578484">
                <a:tc vMerge="1">
                  <a:txBody>
                    <a:bodyPr/>
                    <a:lstStyle/>
                    <a:p>
                      <a:pPr algn="ctr"/>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extLst>
                  <a:ext uri="{0D108BD9-81ED-4DB2-BD59-A6C34878D82A}">
                    <a16:rowId xmlns:a16="http://schemas.microsoft.com/office/drawing/2014/main" val="2236067214"/>
                  </a:ext>
                </a:extLst>
              </a:tr>
              <a:tr h="578484">
                <a:tc vMerge="1">
                  <a:txBody>
                    <a:bodyPr/>
                    <a:lstStyle/>
                    <a:p>
                      <a:pPr algn="ctr"/>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extLst>
                  <a:ext uri="{0D108BD9-81ED-4DB2-BD59-A6C34878D82A}">
                    <a16:rowId xmlns:a16="http://schemas.microsoft.com/office/drawing/2014/main" val="676521946"/>
                  </a:ext>
                </a:extLst>
              </a:tr>
            </a:tbl>
          </a:graphicData>
        </a:graphic>
      </p:graphicFrame>
      <p:sp>
        <p:nvSpPr>
          <p:cNvPr id="18" name="文字方塊 17">
            <a:extLst>
              <a:ext uri="{FF2B5EF4-FFF2-40B4-BE49-F238E27FC236}">
                <a16:creationId xmlns:a16="http://schemas.microsoft.com/office/drawing/2014/main" id="{26B6EA7F-0814-A59C-B805-9096175D2963}"/>
              </a:ext>
            </a:extLst>
          </p:cNvPr>
          <p:cNvSpPr txBox="1"/>
          <p:nvPr/>
        </p:nvSpPr>
        <p:spPr>
          <a:xfrm>
            <a:off x="2817144" y="3618259"/>
            <a:ext cx="8041178" cy="1754326"/>
          </a:xfrm>
          <a:prstGeom prst="rect">
            <a:avLst/>
          </a:prstGeom>
          <a:solidFill>
            <a:schemeClr val="lt1"/>
          </a:solidFill>
          <a:ln w="3175" cap="flat" cmpd="sng" algn="ctr">
            <a:solidFill>
              <a:schemeClr val="bg1">
                <a:lumMod val="50000"/>
              </a:schemeClr>
            </a:solidFill>
            <a:prstDash val="solid"/>
            <a:miter lim="800000"/>
          </a:ln>
          <a:effectLst/>
        </p:spPr>
        <p:style>
          <a:lnRef idx="2">
            <a:schemeClr val="accent1"/>
          </a:lnRef>
          <a:fillRef idx="1">
            <a:schemeClr val="lt1"/>
          </a:fillRef>
          <a:effectRef idx="0">
            <a:schemeClr val="accent1"/>
          </a:effectRef>
          <a:fontRef idx="minor">
            <a:schemeClr val="dk1"/>
          </a:fontRef>
        </p:style>
        <p:txBody>
          <a:bodyPr wrap="square">
            <a:spAutoFit/>
          </a:bodyPr>
          <a:lstStyle/>
          <a:p>
            <a:r>
              <a:rPr lang="zh-TW" altLang="en-US" sz="1800" dirty="0">
                <a:solidFill>
                  <a:schemeClr val="tx1"/>
                </a:solidFill>
                <a:latin typeface="微軟正黑體" panose="020B0604030504040204" pitchFamily="34" charset="-120"/>
                <a:ea typeface="微軟正黑體" panose="020B0604030504040204" pitchFamily="34" charset="-120"/>
                <a:sym typeface="+mn-ea"/>
              </a:rPr>
              <a:t>自我發展計畫至少寫</a:t>
            </a:r>
            <a:r>
              <a:rPr lang="en-US" altLang="zh-TW" dirty="0">
                <a:solidFill>
                  <a:schemeClr val="tx1"/>
                </a:solidFill>
                <a:latin typeface="微軟正黑體" panose="020B0604030504040204" pitchFamily="34" charset="-120"/>
                <a:ea typeface="微軟正黑體" panose="020B0604030504040204" pitchFamily="34" charset="-120"/>
                <a:sym typeface="+mn-ea"/>
              </a:rPr>
              <a:t>3</a:t>
            </a:r>
            <a:r>
              <a:rPr lang="zh-TW" altLang="en-US" sz="1800" dirty="0">
                <a:solidFill>
                  <a:schemeClr val="tx1"/>
                </a:solidFill>
                <a:latin typeface="微軟正黑體" panose="020B0604030504040204" pitchFamily="34" charset="-120"/>
                <a:ea typeface="微軟正黑體" panose="020B0604030504040204" pitchFamily="34" charset="-120"/>
                <a:sym typeface="+mn-ea"/>
              </a:rPr>
              <a:t>項</a:t>
            </a:r>
            <a:r>
              <a:rPr lang="en-US" altLang="zh-TW" sz="1800" dirty="0">
                <a:solidFill>
                  <a:schemeClr val="tx1"/>
                </a:solidFill>
                <a:latin typeface="微軟正黑體" panose="020B0604030504040204" pitchFamily="34" charset="-120"/>
                <a:ea typeface="微軟正黑體" panose="020B0604030504040204" pitchFamily="34" charset="-120"/>
                <a:sym typeface="+mn-ea"/>
              </a:rPr>
              <a:t>, </a:t>
            </a:r>
            <a:r>
              <a:rPr lang="zh-TW" altLang="en-US" sz="1800" b="1" dirty="0">
                <a:solidFill>
                  <a:schemeClr val="tx1"/>
                </a:solidFill>
                <a:latin typeface="微軟正黑體" panose="020B0604030504040204" pitchFamily="34" charset="-120"/>
                <a:ea typeface="微軟正黑體" panose="020B0604030504040204" pitchFamily="34" charset="-120"/>
                <a:sym typeface="+mn-ea"/>
              </a:rPr>
              <a:t>課長請加入寫報告的能力</a:t>
            </a:r>
            <a:r>
              <a:rPr lang="en-US" altLang="zh-TW" sz="1800" b="1" dirty="0">
                <a:solidFill>
                  <a:schemeClr val="tx1"/>
                </a:solidFill>
                <a:latin typeface="微軟正黑體" panose="020B0604030504040204" pitchFamily="34" charset="-120"/>
                <a:ea typeface="微軟正黑體" panose="020B0604030504040204" pitchFamily="34" charset="-120"/>
                <a:sym typeface="+mn-ea"/>
              </a:rPr>
              <a:t>(</a:t>
            </a:r>
            <a:r>
              <a:rPr lang="zh-TW" altLang="en-US" sz="1800" b="1" dirty="0">
                <a:solidFill>
                  <a:schemeClr val="tx1"/>
                </a:solidFill>
                <a:latin typeface="微軟正黑體" panose="020B0604030504040204" pitchFamily="34" charset="-120"/>
                <a:ea typeface="微軟正黑體" panose="020B0604030504040204" pitchFamily="34" charset="-120"/>
                <a:sym typeface="+mn-ea"/>
              </a:rPr>
              <a:t>課級以上必修</a:t>
            </a:r>
            <a:r>
              <a:rPr lang="en-US" altLang="zh-TW" sz="1800" b="1" dirty="0">
                <a:solidFill>
                  <a:schemeClr val="tx1"/>
                </a:solidFill>
                <a:latin typeface="微軟正黑體" panose="020B0604030504040204" pitchFamily="34" charset="-120"/>
                <a:ea typeface="微軟正黑體" panose="020B0604030504040204" pitchFamily="34" charset="-120"/>
                <a:sym typeface="+mn-ea"/>
              </a:rPr>
              <a:t>,</a:t>
            </a:r>
            <a:r>
              <a:rPr lang="zh-TW" altLang="en-US" sz="1800" b="1" dirty="0">
                <a:solidFill>
                  <a:schemeClr val="tx1"/>
                </a:solidFill>
                <a:latin typeface="微軟正黑體" panose="020B0604030504040204" pitchFamily="34" charset="-120"/>
                <a:ea typeface="微軟正黑體" panose="020B0604030504040204" pitchFamily="34" charset="-120"/>
                <a:sym typeface="+mn-ea"/>
              </a:rPr>
              <a:t>處長要求</a:t>
            </a:r>
            <a:r>
              <a:rPr lang="en-US" altLang="zh-TW" sz="1800" b="1" dirty="0">
                <a:solidFill>
                  <a:schemeClr val="tx1"/>
                </a:solidFill>
                <a:latin typeface="微軟正黑體" panose="020B0604030504040204" pitchFamily="34" charset="-120"/>
                <a:ea typeface="微軟正黑體" panose="020B0604030504040204" pitchFamily="34" charset="-120"/>
                <a:sym typeface="+mn-ea"/>
              </a:rPr>
              <a:t>)</a:t>
            </a:r>
            <a:r>
              <a:rPr lang="zh-TW" altLang="en-US" sz="1800" dirty="0">
                <a:solidFill>
                  <a:srgbClr val="FF0000"/>
                </a:solidFill>
                <a:latin typeface="微軟正黑體" panose="020B0604030504040204" pitchFamily="34" charset="-120"/>
                <a:ea typeface="微軟正黑體" panose="020B0604030504040204" pitchFamily="34" charset="-120"/>
                <a:sym typeface="+mn-ea"/>
              </a:rPr>
              <a:t>文員含助理不要求</a:t>
            </a:r>
            <a:r>
              <a:rPr lang="en-US" altLang="zh-TW" dirty="0">
                <a:solidFill>
                  <a:srgbClr val="FF0000"/>
                </a:solidFill>
                <a:latin typeface="微軟正黑體" panose="020B0604030504040204" pitchFamily="34" charset="-120"/>
                <a:ea typeface="微軟正黑體" panose="020B0604030504040204" pitchFamily="34" charset="-120"/>
                <a:sym typeface="+mn-ea"/>
              </a:rPr>
              <a:t>(</a:t>
            </a:r>
            <a:r>
              <a:rPr lang="zh-TW" altLang="en-US" dirty="0">
                <a:solidFill>
                  <a:srgbClr val="FF0000"/>
                </a:solidFill>
                <a:latin typeface="微軟正黑體" panose="020B0604030504040204" pitchFamily="34" charset="-120"/>
                <a:ea typeface="微軟正黑體" panose="020B0604030504040204" pitchFamily="34" charset="-120"/>
                <a:sym typeface="+mn-ea"/>
              </a:rPr>
              <a:t>專案要寫</a:t>
            </a:r>
            <a:r>
              <a:rPr lang="en-US" altLang="zh-TW" dirty="0" smtClean="0">
                <a:solidFill>
                  <a:srgbClr val="FF0000"/>
                </a:solidFill>
                <a:latin typeface="微軟正黑體" panose="020B0604030504040204" pitchFamily="34" charset="-120"/>
                <a:ea typeface="微軟正黑體" panose="020B0604030504040204" pitchFamily="34" charset="-120"/>
                <a:sym typeface="+mn-ea"/>
              </a:rPr>
              <a:t>)</a:t>
            </a:r>
          </a:p>
          <a:p>
            <a:r>
              <a:rPr lang="vi-VN" altLang="zh-TW" dirty="0">
                <a:solidFill>
                  <a:schemeClr val="tx1"/>
                </a:solidFill>
              </a:rPr>
              <a:t>Kế hoạch phát triển bản thân của bạn nên bao gồm ít nhất 3 mục. Trưởng phòng cũng nên bổ sung kỹ năng viết báo cáo (bắt buộc đối với cấp phòng trở lên, theo yêu cầu của ông K.S.). </a:t>
            </a:r>
            <a:r>
              <a:rPr lang="vi-VN" altLang="zh-TW" dirty="0">
                <a:solidFill>
                  <a:srgbClr val="FF0000"/>
                </a:solidFill>
              </a:rPr>
              <a:t>Không cần thư ký và trợ lý (APM cần phải viết)</a:t>
            </a:r>
            <a:endParaRPr lang="zh-TW" altLang="en-US" dirty="0">
              <a:solidFill>
                <a:srgbClr val="FF0000"/>
              </a:solidFill>
            </a:endParaRPr>
          </a:p>
        </p:txBody>
      </p:sp>
    </p:spTree>
    <p:extLst>
      <p:ext uri="{BB962C8B-B14F-4D97-AF65-F5344CB8AC3E}">
        <p14:creationId xmlns:p14="http://schemas.microsoft.com/office/powerpoint/2010/main" val="1555829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044919F4-AB79-233A-6E39-5309E5C3DF01}"/>
              </a:ext>
            </a:extLst>
          </p:cNvPr>
          <p:cNvSpPr/>
          <p:nvPr/>
        </p:nvSpPr>
        <p:spPr>
          <a:xfrm>
            <a:off x="0" y="0"/>
            <a:ext cx="12192000" cy="6858000"/>
          </a:xfrm>
          <a:prstGeom prst="rect">
            <a:avLst/>
          </a:prstGeom>
          <a:blipFill dpi="0" rotWithShape="1">
            <a:blip r:embed="rId2">
              <a:alphaModFix amt="70000"/>
              <a:extLst>
                <a:ext uri="{BEBA8EAE-BF5A-486C-A8C5-ECC9F3942E4B}">
                  <a14:imgProps xmlns:a14="http://schemas.microsoft.com/office/drawing/2010/main">
                    <a14:imgLayer r:embed="rId3">
                      <a14:imgEffect>
                        <a14:artisticBlur radius="3"/>
                      </a14:imgEffect>
                      <a14:imgEffect>
                        <a14:brightnessContrast contrast="-6000"/>
                      </a14:imgEffect>
                      <a14:imgEffect>
                        <a14:colorTemperature colorTemp="6200"/>
                      </a14:imgEffect>
                    </a14:imgLayer>
                  </a14:imgProps>
                </a:ext>
                <a:ext uri="{28A0092B-C50C-407E-A947-70E740481C1C}">
                  <a14:useLocalDpi xmlns:a14="http://schemas.microsoft.com/office/drawing/2010/main" val="0"/>
                </a:ext>
              </a:extLst>
            </a:blip>
            <a:srcRect/>
            <a:stretch>
              <a:fillRect/>
            </a:stretch>
          </a:blipFill>
          <a:ln w="38100">
            <a:noFill/>
          </a:ln>
          <a:effectLst>
            <a:softEdge rad="31750"/>
          </a:effectLst>
          <a:scene3d>
            <a:camera prst="orthographicFront"/>
            <a:lightRig rig="threePt" dir="t"/>
          </a:scene3d>
          <a:sp3d contourW="57150">
            <a:contourClr>
              <a:schemeClr val="accent3">
                <a:lumMod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ysClr val="windowText" lastClr="000000"/>
              </a:solidFill>
              <a:latin typeface="微軟正黑體" panose="020B0604030504040204" pitchFamily="34" charset="-120"/>
              <a:ea typeface="微軟正黑體" panose="020B0604030504040204" pitchFamily="34" charset="-120"/>
            </a:endParaRPr>
          </a:p>
        </p:txBody>
      </p:sp>
      <p:sp>
        <p:nvSpPr>
          <p:cNvPr id="5" name="手繪多邊形: 圖案 4">
            <a:extLst>
              <a:ext uri="{FF2B5EF4-FFF2-40B4-BE49-F238E27FC236}">
                <a16:creationId xmlns:a16="http://schemas.microsoft.com/office/drawing/2014/main" id="{6155007F-1855-1E11-6F57-2582E0B8F689}"/>
              </a:ext>
            </a:extLst>
          </p:cNvPr>
          <p:cNvSpPr/>
          <p:nvPr/>
        </p:nvSpPr>
        <p:spPr>
          <a:xfrm>
            <a:off x="7351059" y="0"/>
            <a:ext cx="4840940" cy="6858000"/>
          </a:xfrm>
          <a:custGeom>
            <a:avLst/>
            <a:gdLst>
              <a:gd name="connsiteX0" fmla="*/ 4117886 w 5593080"/>
              <a:gd name="connsiteY0" fmla="*/ 0 h 6858000"/>
              <a:gd name="connsiteX1" fmla="*/ 5593080 w 5593080"/>
              <a:gd name="connsiteY1" fmla="*/ 0 h 6858000"/>
              <a:gd name="connsiteX2" fmla="*/ 5593080 w 5593080"/>
              <a:gd name="connsiteY2" fmla="*/ 6091430 h 6858000"/>
              <a:gd name="connsiteX3" fmla="*/ 5132793 w 5593080"/>
              <a:gd name="connsiteY3" fmla="*/ 6858000 h 6858000"/>
              <a:gd name="connsiteX4" fmla="*/ 0 w 559308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3080" h="6858000">
                <a:moveTo>
                  <a:pt x="4117886" y="0"/>
                </a:moveTo>
                <a:lnTo>
                  <a:pt x="5593080" y="0"/>
                </a:lnTo>
                <a:lnTo>
                  <a:pt x="5593080" y="6091430"/>
                </a:lnTo>
                <a:lnTo>
                  <a:pt x="5132793" y="6858000"/>
                </a:lnTo>
                <a:lnTo>
                  <a:pt x="0" y="6858000"/>
                </a:lnTo>
                <a:close/>
              </a:path>
            </a:pathLst>
          </a:custGeom>
          <a:blipFill>
            <a:blip r:embed="rId4">
              <a:alphaModFix amt="70000"/>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6" name="文字方塊 5">
            <a:extLst>
              <a:ext uri="{FF2B5EF4-FFF2-40B4-BE49-F238E27FC236}">
                <a16:creationId xmlns:a16="http://schemas.microsoft.com/office/drawing/2014/main" id="{793771E5-B654-71D9-E558-5F572104EAEB}"/>
              </a:ext>
            </a:extLst>
          </p:cNvPr>
          <p:cNvSpPr txBox="1"/>
          <p:nvPr/>
        </p:nvSpPr>
        <p:spPr>
          <a:xfrm>
            <a:off x="7475369" y="5711409"/>
            <a:ext cx="4592320" cy="1015663"/>
          </a:xfrm>
          <a:prstGeom prst="rect">
            <a:avLst/>
          </a:prstGeom>
          <a:noFill/>
          <a:ln w="3175">
            <a:noFill/>
          </a:ln>
          <a:effectLst>
            <a:outerShdw blurRad="50800" dist="38100" dir="10800000" algn="r"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kumimoji="0" lang="en-US" altLang="zh-TW" sz="6000" b="1" i="0" u="none" strike="noStrike" kern="1200" cap="none" spc="0" normalizeH="0" baseline="0" noProof="0" dirty="0">
                <a:ln>
                  <a:noFill/>
                </a:ln>
                <a:solidFill>
                  <a:schemeClr val="bg1"/>
                </a:solidFill>
                <a:effectLst/>
                <a:uLnTx/>
                <a:uFillTx/>
                <a:latin typeface="Arial Black" panose="020B0A04020102020204" pitchFamily="34" charset="0"/>
                <a:ea typeface="DengXian" panose="02010600030101010101" pitchFamily="2" charset="-122"/>
              </a:rPr>
              <a:t>Thank</a:t>
            </a:r>
            <a:r>
              <a:rPr kumimoji="0" lang="en-US" altLang="zh-TW" sz="5400" b="1" i="0" u="none" strike="noStrike" kern="1200" cap="none" spc="0" normalizeH="0" baseline="0" noProof="0" dirty="0">
                <a:ln>
                  <a:noFill/>
                </a:ln>
                <a:solidFill>
                  <a:schemeClr val="bg1"/>
                </a:solidFill>
                <a:effectLst/>
                <a:uLnTx/>
                <a:uFillTx/>
                <a:latin typeface="Arial Black" panose="020B0A04020102020204" pitchFamily="34" charset="0"/>
                <a:ea typeface="DengXian" panose="02010600030101010101" pitchFamily="2" charset="-122"/>
              </a:rPr>
              <a:t> You</a:t>
            </a:r>
            <a:endParaRPr kumimoji="0" lang="zh-TW" altLang="en-US" sz="5400" b="1" i="0" u="none" strike="noStrike" kern="1200" cap="none" spc="0" normalizeH="0" baseline="0" noProof="0" dirty="0">
              <a:ln>
                <a:noFill/>
              </a:ln>
              <a:solidFill>
                <a:schemeClr val="bg1"/>
              </a:solidFill>
              <a:effectLst/>
              <a:uLnTx/>
              <a:uFillTx/>
              <a:latin typeface="Arial Black" panose="020B0A04020102020204" pitchFamily="34" charset="0"/>
              <a:ea typeface="DengXian" panose="02010600030101010101" pitchFamily="2" charset="-122"/>
            </a:endParaRPr>
          </a:p>
        </p:txBody>
      </p:sp>
    </p:spTree>
    <p:extLst>
      <p:ext uri="{BB962C8B-B14F-4D97-AF65-F5344CB8AC3E}">
        <p14:creationId xmlns:p14="http://schemas.microsoft.com/office/powerpoint/2010/main" val="66599500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00"/>
        </a:solidFill>
        <a:ln w="38100">
          <a:noFill/>
        </a:ln>
      </a:spPr>
      <a:bodyPr rtlCol="0" anchor="ctr"/>
      <a:lstStyle>
        <a:defPPr>
          <a:defRPr dirty="0">
            <a:solidFill>
              <a:sysClr val="windowText" lastClr="000000"/>
            </a:solidFill>
            <a:latin typeface="微軟正黑體" panose="020B0604030504040204" pitchFamily="34" charset="-120"/>
            <a:ea typeface="微軟正黑體" panose="020B0604030504040204" pitchFamily="34" charset="-120"/>
          </a:defRPr>
        </a:defPPr>
      </a:lstStyle>
      <a:style>
        <a:lnRef idx="2">
          <a:schemeClr val="accent1">
            <a:shade val="50000"/>
          </a:schemeClr>
        </a:lnRef>
        <a:fillRef idx="1">
          <a:schemeClr val="accent1"/>
        </a:fillRef>
        <a:effectRef idx="0">
          <a:schemeClr val="accent1"/>
        </a:effectRef>
        <a:fontRef idx="minor">
          <a:schemeClr val="lt1"/>
        </a:fontRef>
      </a:style>
    </a:spDef>
    <a:txDef>
      <a:spPr>
        <a:ln w="3175">
          <a:solidFill>
            <a:schemeClr val="bg1">
              <a:lumMod val="50000"/>
            </a:schemeClr>
          </a:solidFill>
        </a:ln>
      </a:spPr>
      <a:bodyPr wrap="square" rtlCol="0">
        <a:spAutoFit/>
      </a:bodyPr>
      <a:lstStyle>
        <a:defPPr marL="0" marR="0" indent="0" algn="ctr" defTabSz="914400" rtl="0" eaLnBrk="1" fontAlgn="auto" latinLnBrk="0" hangingPunct="1">
          <a:lnSpc>
            <a:spcPct val="100000"/>
          </a:lnSpc>
          <a:spcBef>
            <a:spcPts val="0"/>
          </a:spcBef>
          <a:spcAft>
            <a:spcPts val="0"/>
          </a:spcAft>
          <a:buClrTx/>
          <a:buSzTx/>
          <a:buFontTx/>
          <a:buNone/>
          <a:defRPr kumimoji="0" sz="1400" b="0" i="0" u="none" strike="noStrike" kern="1200" cap="none" spc="0" normalizeH="0" baseline="0" noProof="0" dirty="0">
            <a:ln>
              <a:noFill/>
            </a:ln>
            <a:solidFill>
              <a:schemeClr val="bg1">
                <a:lumMod val="50000"/>
              </a:schemeClr>
            </a:solidFill>
            <a:effectLst/>
            <a:uLnTx/>
            <a:uFillTx/>
            <a:latin typeface="DengXian" panose="02010600030101010101" pitchFamily="2" charset="-122"/>
            <a:ea typeface="DengXian" panose="02010600030101010101" pitchFamily="2" charset="-122"/>
          </a:defRPr>
        </a:defPPr>
      </a:lstStyle>
      <a:style>
        <a:lnRef idx="2">
          <a:schemeClr val="accent1"/>
        </a:lnRef>
        <a:fillRef idx="1">
          <a:schemeClr val="lt1"/>
        </a:fillRef>
        <a:effectRef idx="0">
          <a:schemeClr val="accent1"/>
        </a:effectRef>
        <a:fontRef idx="minor">
          <a:schemeClr val="dk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1028</TotalTime>
  <Words>1918</Words>
  <Application>Microsoft Office PowerPoint</Application>
  <PresentationFormat>寬螢幕</PresentationFormat>
  <Paragraphs>158</Paragraphs>
  <Slides>9</Slides>
  <Notes>0</Notes>
  <HiddenSlides>0</HiddenSlides>
  <MMClips>0</MMClips>
  <ScaleCrop>false</ScaleCrop>
  <HeadingPairs>
    <vt:vector size="6" baseType="variant">
      <vt:variant>
        <vt:lpstr>使用字型</vt:lpstr>
      </vt:variant>
      <vt:variant>
        <vt:i4>10</vt:i4>
      </vt:variant>
      <vt:variant>
        <vt:lpstr>佈景主題</vt:lpstr>
      </vt:variant>
      <vt:variant>
        <vt:i4>1</vt:i4>
      </vt:variant>
      <vt:variant>
        <vt:lpstr>投影片標題</vt:lpstr>
      </vt:variant>
      <vt:variant>
        <vt:i4>9</vt:i4>
      </vt:variant>
    </vt:vector>
  </HeadingPairs>
  <TitlesOfParts>
    <vt:vector size="20" baseType="lpstr">
      <vt:lpstr>Amasis MT Pro Black</vt:lpstr>
      <vt:lpstr>等线</vt:lpstr>
      <vt:lpstr>等线</vt:lpstr>
      <vt:lpstr>맑은 고딕</vt:lpstr>
      <vt:lpstr>微軟正黑體</vt:lpstr>
      <vt:lpstr>新細明體</vt:lpstr>
      <vt:lpstr>Arial</vt:lpstr>
      <vt:lpstr>Arial Black</vt:lpstr>
      <vt:lpstr>Calibri</vt:lpstr>
      <vt:lpstr>Calibri Light</vt:lpstr>
      <vt:lpstr>Office 佈景主題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Andy; Andy Su(蘇孝維_PVN)</dc:creator>
  <cp:lastModifiedBy>Albert Chao(PVN)</cp:lastModifiedBy>
  <cp:revision>741</cp:revision>
  <dcterms:created xsi:type="dcterms:W3CDTF">2021-03-09T11:56:00Z</dcterms:created>
  <dcterms:modified xsi:type="dcterms:W3CDTF">2026-03-03T06:46:17Z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1033-11.8.2.8426</vt:lpwstr>
  </property>
  <property fmtid="{D5CDD505-2E9C-101B-9397-08002B2CF9AE}" pid="3" name="ContentTypeId">
    <vt:lpwstr>0x010100991A3A7B58DE6F478F051059C55FE93E</vt:lpwstr>
  </property>
</Properties>
</file>