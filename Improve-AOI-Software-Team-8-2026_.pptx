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79" autoAdjust="0"/>
    <p:restoredTop sz="90233" autoAdjust="0"/>
  </p:normalViewPr>
  <p:slideViewPr>
    <p:cSldViewPr snapToGrid="0">
      <p:cViewPr varScale="1">
        <p:scale>
          <a:sx n="101" d="100"/>
          <a:sy n="101" d="100"/>
        </p:scale>
        <p:origin x="666" y="13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3" d="100"/>
        <a:sy n="33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7CE30E-23A7-4AC7-BC16-53CE7F62F46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CCBEA-0906-45D6-B3FC-4BA0A35C7F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169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2CCBEA-0906-45D6-B3FC-4BA0A35C7F8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4301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219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6357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8157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0260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3206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2537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5865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0412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8/21/2026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11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565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345441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5744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22862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9144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6983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2671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594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ound Diagonal Corner Rectangle 64"/>
          <p:cNvSpPr/>
          <p:nvPr/>
        </p:nvSpPr>
        <p:spPr>
          <a:xfrm>
            <a:off x="6034236" y="771156"/>
            <a:ext cx="5486400" cy="5870843"/>
          </a:xfrm>
          <a:prstGeom prst="round2DiagRect">
            <a:avLst>
              <a:gd name="adj1" fmla="val 11143"/>
              <a:gd name="adj2" fmla="val 0"/>
            </a:avLst>
          </a:prstGeom>
          <a:solidFill>
            <a:srgbClr val="E3E6E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" name="群組 2"/>
          <p:cNvGrpSpPr/>
          <p:nvPr/>
        </p:nvGrpSpPr>
        <p:grpSpPr>
          <a:xfrm>
            <a:off x="177100" y="804306"/>
            <a:ext cx="10117393" cy="5870843"/>
            <a:chOff x="5150945" y="1812055"/>
            <a:chExt cx="12325487" cy="1739274"/>
          </a:xfrm>
        </p:grpSpPr>
        <p:sp>
          <p:nvSpPr>
            <p:cNvPr id="78" name="Round Diagonal Corner Rectangle 77"/>
            <p:cNvSpPr/>
            <p:nvPr/>
          </p:nvSpPr>
          <p:spPr>
            <a:xfrm>
              <a:off x="5150945" y="1812055"/>
              <a:ext cx="6683792" cy="1739274"/>
            </a:xfrm>
            <a:prstGeom prst="round2DiagRect">
              <a:avLst>
                <a:gd name="adj1" fmla="val 11143"/>
                <a:gd name="adj2" fmla="val 0"/>
              </a:avLst>
            </a:prstGeom>
            <a:solidFill>
              <a:srgbClr val="E3E6E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TextBox 14"/>
            <p:cNvSpPr txBox="1"/>
            <p:nvPr/>
          </p:nvSpPr>
          <p:spPr>
            <a:xfrm>
              <a:off x="5487054" y="1948428"/>
              <a:ext cx="6151680" cy="5470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endParaRPr lang="vi-VN" sz="1200" dirty="0">
                <a:solidFill>
                  <a:sysClr val="windowText" lastClr="000000"/>
                </a:solidFill>
                <a:latin typeface="Arial" charset="0"/>
                <a:ea typeface="微軟正黑體" pitchFamily="34" charset="-120"/>
                <a:sym typeface="+mn-ea"/>
              </a:endParaRPr>
            </a:p>
          </p:txBody>
        </p:sp>
        <p:sp>
          <p:nvSpPr>
            <p:cNvPr id="23" name="TextBox 15"/>
            <p:cNvSpPr txBox="1"/>
            <p:nvPr/>
          </p:nvSpPr>
          <p:spPr>
            <a:xfrm>
              <a:off x="5544999" y="1864141"/>
              <a:ext cx="4812513" cy="7294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/>
              <a:r>
                <a:rPr lang="en-US" altLang="zh-CN" sz="1600" dirty="0" smtClean="0">
                  <a:solidFill>
                    <a:srgbClr val="00B050"/>
                  </a:solidFill>
                  <a:latin typeface="Arial" charset="0"/>
                  <a:ea typeface="微軟正黑體" pitchFamily="34" charset="-120"/>
                  <a:sym typeface="+mn-ea"/>
                </a:rPr>
                <a:t>Before Improve</a:t>
              </a:r>
              <a:endParaRPr lang="en-US" altLang="zh-CN" sz="1600" dirty="0">
                <a:solidFill>
                  <a:srgbClr val="00B050"/>
                </a:solidFill>
                <a:latin typeface="Arial" charset="0"/>
                <a:ea typeface="微軟正黑體" pitchFamily="34" charset="-120"/>
                <a:sym typeface="+mn-ea"/>
              </a:endParaRPr>
            </a:p>
          </p:txBody>
        </p:sp>
        <p:sp>
          <p:nvSpPr>
            <p:cNvPr id="46" name="TextBox 15"/>
            <p:cNvSpPr txBox="1"/>
            <p:nvPr/>
          </p:nvSpPr>
          <p:spPr>
            <a:xfrm>
              <a:off x="5487055" y="2872535"/>
              <a:ext cx="4812513" cy="7294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/>
              <a:r>
                <a:rPr lang="en-US" altLang="zh-CN" sz="1600" dirty="0" smtClean="0">
                  <a:solidFill>
                    <a:schemeClr val="accent2"/>
                  </a:solidFill>
                  <a:latin typeface="Arial" charset="0"/>
                  <a:ea typeface="微軟正黑體" pitchFamily="34" charset="-120"/>
                  <a:sym typeface="+mn-ea"/>
                </a:rPr>
                <a:t>Details Improve</a:t>
              </a:r>
              <a:endParaRPr lang="en-US" altLang="zh-CN" sz="1600" dirty="0">
                <a:solidFill>
                  <a:schemeClr val="accent2"/>
                </a:solidFill>
                <a:latin typeface="Arial" charset="0"/>
                <a:ea typeface="微軟正黑體" pitchFamily="34" charset="-120"/>
                <a:sym typeface="+mn-ea"/>
              </a:endParaRPr>
            </a:p>
          </p:txBody>
        </p:sp>
        <p:sp>
          <p:nvSpPr>
            <p:cNvPr id="47" name="TextBox 15"/>
            <p:cNvSpPr txBox="1"/>
            <p:nvPr/>
          </p:nvSpPr>
          <p:spPr>
            <a:xfrm>
              <a:off x="12663919" y="3061190"/>
              <a:ext cx="4812513" cy="7294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/>
              <a:r>
                <a:rPr lang="en-US" altLang="zh-CN" sz="1600" dirty="0" smtClean="0">
                  <a:solidFill>
                    <a:srgbClr val="7030A0"/>
                  </a:solidFill>
                  <a:latin typeface="Arial" charset="0"/>
                  <a:ea typeface="微軟正黑體" pitchFamily="34" charset="-120"/>
                  <a:sym typeface="+mn-ea"/>
                </a:rPr>
                <a:t>After Improve</a:t>
              </a:r>
              <a:endParaRPr lang="en-US" altLang="zh-CN" sz="1600" dirty="0">
                <a:solidFill>
                  <a:srgbClr val="7030A0"/>
                </a:solidFill>
                <a:latin typeface="Arial" charset="0"/>
                <a:ea typeface="微軟正黑體" pitchFamily="34" charset="-120"/>
                <a:sym typeface="+mn-ea"/>
              </a:endParaRPr>
            </a:p>
          </p:txBody>
        </p:sp>
      </p:grpSp>
      <p:sp>
        <p:nvSpPr>
          <p:cNvPr id="24" name="TextBox 14"/>
          <p:cNvSpPr txBox="1"/>
          <p:nvPr/>
        </p:nvSpPr>
        <p:spPr>
          <a:xfrm>
            <a:off x="5457870" y="5111578"/>
            <a:ext cx="6423394" cy="1846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71450" indent="-171450">
              <a:buFontTx/>
              <a:buChar char="-"/>
            </a:pPr>
            <a:endParaRPr lang="en-US" sz="1200" dirty="0">
              <a:solidFill>
                <a:srgbClr val="000000"/>
              </a:solidFill>
              <a:latin typeface="Arial" charset="0"/>
            </a:endParaRPr>
          </a:p>
        </p:txBody>
      </p:sp>
      <p:grpSp>
        <p:nvGrpSpPr>
          <p:cNvPr id="70" name="群組 42"/>
          <p:cNvGrpSpPr/>
          <p:nvPr/>
        </p:nvGrpSpPr>
        <p:grpSpPr>
          <a:xfrm>
            <a:off x="195262" y="103592"/>
            <a:ext cx="11871049" cy="588751"/>
            <a:chOff x="195262" y="163202"/>
            <a:chExt cx="11871049" cy="588751"/>
          </a:xfrm>
        </p:grpSpPr>
        <p:sp>
          <p:nvSpPr>
            <p:cNvPr id="71" name="矩形: 圓角 43"/>
            <p:cNvSpPr/>
            <p:nvPr/>
          </p:nvSpPr>
          <p:spPr>
            <a:xfrm>
              <a:off x="195262" y="247970"/>
              <a:ext cx="11801476" cy="419217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ysClr val="windowText" lastClr="000000"/>
                </a:solidFill>
                <a:latin typeface="微軟正黑體" pitchFamily="34" charset="-120"/>
                <a:ea typeface="微軟正黑體" pitchFamily="34" charset="-120"/>
              </a:endParaRPr>
            </a:p>
          </p:txBody>
        </p:sp>
        <p:grpSp>
          <p:nvGrpSpPr>
            <p:cNvPr id="72" name="群組 44"/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74" name="圆角矩形 15"/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75" name="圆角矩形 16"/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pic>
            <p:nvPicPr>
              <p:cNvPr id="76" name="圖片 49" descr="一張含有 文字, 輪子, 美工圖案, 齒輪 的圖片&#10;&#10;自動產生的描述"/>
              <p:cNvPicPr>
                <a:picLocks noChangeAspect="1"/>
              </p:cNvPicPr>
              <p:nvPr/>
            </p:nvPicPr>
            <p:blipFill rotWithShape="1">
              <a:blip r:embed="rId3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7" name="矩形 50"/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DengXian" panose="02010600030101010101" pitchFamily="2" charset="-122"/>
                    <a:ea typeface="DengXian" panose="02010600030101010101" pitchFamily="2" charset="-122"/>
                  </a:rPr>
                  <a:t>BG6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TW" sz="1100" b="1" dirty="0">
                    <a:solidFill>
                      <a:srgbClr val="A4A4A4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  <p:sp>
          <p:nvSpPr>
            <p:cNvPr id="73" name="文字方塊 45"/>
            <p:cNvSpPr txBox="1"/>
            <p:nvPr/>
          </p:nvSpPr>
          <p:spPr>
            <a:xfrm>
              <a:off x="1345044" y="196222"/>
              <a:ext cx="107212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 defTabSz="837565">
                <a:defRPr sz="3200" b="1">
                  <a:solidFill>
                    <a:srgbClr val="2E9CC8"/>
                  </a:solidFill>
                  <a:latin typeface="DengXian" panose="02010600030101010101" pitchFamily="2" charset="-122"/>
                  <a:ea typeface="DengXian" panose="02010600030101010101" pitchFamily="2" charset="-122"/>
                </a:defRPr>
              </a:lvl1pPr>
            </a:lstStyle>
            <a:p>
              <a:r>
                <a:rPr lang="vi-VN" sz="2400" dirty="0" smtClean="0">
                  <a:solidFill>
                    <a:schemeClr val="bg1"/>
                  </a:solidFill>
                  <a:latin typeface="Arial" panose="020B0604020202020204" pitchFamily="34" charset="0"/>
                  <a:ea typeface="微軟正黑體" pitchFamily="34" charset="-120"/>
                  <a:cs typeface="Arial" panose="020B0604020202020204" pitchFamily="34" charset="0"/>
                  <a:sym typeface="+mn-ea"/>
                </a:rPr>
                <a:t>Eero W/X – Setup AOI Label Station to Prevent Wrong Product Label</a:t>
              </a:r>
              <a:endPara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宋体" charset="0"/>
                <a:cs typeface="Arial" panose="020B0604020202020204" pitchFamily="34" charset="0"/>
                <a:sym typeface="+mn-ea"/>
              </a:endParaRPr>
            </a:p>
          </p:txBody>
        </p:sp>
      </p:grpSp>
      <p:grpSp>
        <p:nvGrpSpPr>
          <p:cNvPr id="34" name="群組 4"/>
          <p:cNvGrpSpPr/>
          <p:nvPr/>
        </p:nvGrpSpPr>
        <p:grpSpPr>
          <a:xfrm>
            <a:off x="11393101" y="6202812"/>
            <a:ext cx="852538" cy="655188"/>
            <a:chOff x="1677916" y="4156906"/>
            <a:chExt cx="337600" cy="259448"/>
          </a:xfrm>
        </p:grpSpPr>
        <p:sp>
          <p:nvSpPr>
            <p:cNvPr id="36" name="Oval 21"/>
            <p:cNvSpPr/>
            <p:nvPr/>
          </p:nvSpPr>
          <p:spPr>
            <a:xfrm rot="20111049">
              <a:off x="1677916" y="4156906"/>
              <a:ext cx="231072" cy="220075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rgbClr val="00B050"/>
            </a:solidFill>
            <a:ln w="3175">
              <a:solidFill>
                <a:schemeClr val="bg2">
                  <a:lumMod val="75000"/>
                </a:schemeClr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>
                <a:solidFill>
                  <a:srgbClr val="00B050"/>
                </a:solidFill>
              </a:endParaRPr>
            </a:p>
          </p:txBody>
        </p:sp>
        <p:grpSp>
          <p:nvGrpSpPr>
            <p:cNvPr id="37" name="群組 6"/>
            <p:cNvGrpSpPr/>
            <p:nvPr/>
          </p:nvGrpSpPr>
          <p:grpSpPr>
            <a:xfrm>
              <a:off x="1804850" y="4300858"/>
              <a:ext cx="210666" cy="115496"/>
              <a:chOff x="2191565" y="4279903"/>
              <a:chExt cx="210666" cy="115496"/>
            </a:xfrm>
          </p:grpSpPr>
          <p:sp>
            <p:nvSpPr>
              <p:cNvPr id="38" name="文字方塊 7"/>
              <p:cNvSpPr txBox="1"/>
              <p:nvPr/>
            </p:nvSpPr>
            <p:spPr>
              <a:xfrm>
                <a:off x="2201153" y="4279903"/>
                <a:ext cx="165243" cy="975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000" b="1" dirty="0" smtClean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rgbClr val="00B050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itchFamily="34" charset="0"/>
                  </a:rPr>
                  <a:t>FME</a:t>
                </a:r>
                <a:endParaRPr lang="zh-TW" altLang="en-US" sz="1000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rgbClr val="00B050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itchFamily="34" charset="0"/>
                </a:endParaRPr>
              </a:p>
            </p:txBody>
          </p:sp>
          <p:sp>
            <p:nvSpPr>
              <p:cNvPr id="39" name="文字方塊 8"/>
              <p:cNvSpPr txBox="1"/>
              <p:nvPr/>
            </p:nvSpPr>
            <p:spPr>
              <a:xfrm>
                <a:off x="2191565" y="4328367"/>
                <a:ext cx="210666" cy="670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500" b="1" dirty="0">
                    <a:ln w="3175">
                      <a:noFill/>
                    </a:ln>
                    <a:solidFill>
                      <a:srgbClr val="00B050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itchFamily="34" charset="0"/>
                    <a:cs typeface="Arial" pitchFamily="34" charset="0"/>
                  </a:rPr>
                  <a:t>BG6</a:t>
                </a:r>
                <a:r>
                  <a:rPr lang="zh-TW" altLang="en-US" sz="500" b="1" dirty="0">
                    <a:ln w="3175">
                      <a:noFill/>
                    </a:ln>
                    <a:solidFill>
                      <a:srgbClr val="00B050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zh-TW" sz="500" b="1" dirty="0">
                    <a:ln w="0">
                      <a:noFill/>
                    </a:ln>
                    <a:solidFill>
                      <a:srgbClr val="00B050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itchFamily="34" charset="0"/>
                    <a:cs typeface="Arial" pitchFamily="34" charset="0"/>
                  </a:rPr>
                  <a:t>PVN</a:t>
                </a:r>
                <a:endParaRPr lang="zh-TW" altLang="en-US" sz="500" b="1" dirty="0">
                  <a:ln w="0">
                    <a:noFill/>
                  </a:ln>
                  <a:solidFill>
                    <a:srgbClr val="00B050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itchFamily="34" charset="0"/>
                  <a:cs typeface="Arial" pitchFamily="34" charset="0"/>
                </a:endParaRPr>
              </a:p>
            </p:txBody>
          </p:sp>
        </p:grpSp>
      </p:grpSp>
      <p:sp>
        <p:nvSpPr>
          <p:cNvPr id="7" name="TextBox 6"/>
          <p:cNvSpPr txBox="1"/>
          <p:nvPr/>
        </p:nvSpPr>
        <p:spPr>
          <a:xfrm>
            <a:off x="338464" y="1198424"/>
            <a:ext cx="5266837" cy="31854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Issue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Current </a:t>
            </a:r>
            <a:r>
              <a:rPr lang="vi-VN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label inspection does not have an automatic check to verify actual product label vs model </a:t>
            </a: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information in SFIS.</a:t>
            </a:r>
            <a:endParaRPr lang="vi-VN" sz="11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Operator mainly performs visual inspection, creating risk of :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Wrong product label applied to product.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Model/ artwork mismatch not detected before shipment.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Human error during label checking.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Impact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Risk of incorrect DSN/POD label on finished product.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Potential customer complaint and rework.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Additional inspection and handling time.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Inspection accuracy depends on operator.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464" y="4600122"/>
            <a:ext cx="5293757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1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Improvement  – </a:t>
            </a:r>
            <a:r>
              <a:rPr lang="vi-VN" sz="11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Setup AOI Label Inspection Station.</a:t>
            </a:r>
            <a:endParaRPr lang="en-US" sz="11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Set up an additional AOI Label Station at Packing VI to automatically verify DSN label content</a:t>
            </a: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76786" y="5280053"/>
            <a:ext cx="2540741" cy="1361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100" b="1" dirty="0" smtClean="0">
                <a:latin typeface="Arial" panose="020B0604020202020204" pitchFamily="34" charset="0"/>
                <a:cs typeface="Arial" panose="020B0604020202020204" pitchFamily="34" charset="0"/>
              </a:rPr>
              <a:t>Quality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Prevent wrong product label</a:t>
            </a:r>
            <a:r>
              <a:rPr lang="vi-VN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vi-VN" sz="11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Automatically detect model/ label</a:t>
            </a:r>
            <a:r>
              <a:rPr lang="vi-VN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vi-VN" sz="11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Improve inspection accuracy</a:t>
            </a:r>
            <a:r>
              <a:rPr lang="vi-VN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vi-VN" sz="11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Standardize inspection process.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8748406" y="5286142"/>
            <a:ext cx="2641351" cy="1361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1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Productivity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Reduce manua</a:t>
            </a: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l checking and inspection</a:t>
            </a:r>
            <a:r>
              <a:rPr lang="vi-VN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1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Avoid rework caused by wrong label</a:t>
            </a:r>
            <a:endParaRPr lang="vi-VN" sz="11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Improve production </a:t>
            </a: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control</a:t>
            </a:r>
            <a:r>
              <a:rPr lang="vi-VN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vi-VN" sz="11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130557" y="995797"/>
            <a:ext cx="5293757" cy="2377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100" dirty="0">
                <a:cs typeface="Arial" panose="020B0604020202020204" pitchFamily="34" charset="0"/>
              </a:rPr>
              <a:t>Scan the DSN Label and retrieve the 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corresponding model information from SFIS</a:t>
            </a: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vi-VN" sz="11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AOI 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compares :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Model information from SFIS.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Actual model information on the physical label.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Label artwork/content according to the approved specification.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If the information matches -&gt; </a:t>
            </a:r>
            <a:r>
              <a:rPr lang="en-US" sz="11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If the information does not match -&gt; </a:t>
            </a:r>
            <a:r>
              <a:rPr lang="en-US" sz="1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FAIL / NG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, preventing the wrong label from proceeding to the next </a:t>
            </a:r>
            <a:r>
              <a:rPr lang="vi-VN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process.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9122" y="3354369"/>
            <a:ext cx="2500460" cy="1560480"/>
          </a:xfrm>
          <a:prstGeom prst="rect">
            <a:avLst/>
          </a:prstGeom>
        </p:spPr>
      </p:pic>
      <p:pic>
        <p:nvPicPr>
          <p:cNvPr id="1026" name="Picture 2" descr="cid:image002.png@01DD139D.AE495E6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441" y="5454202"/>
            <a:ext cx="2730830" cy="1047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 descr="image00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5271" y="5454202"/>
            <a:ext cx="2041407" cy="1047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2"/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8146" y="3354369"/>
            <a:ext cx="2505456" cy="1563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721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3185</TotalTime>
  <Words>232</Words>
  <Application>Microsoft Office PowerPoint</Application>
  <PresentationFormat>Widescreen</PresentationFormat>
  <Paragraphs>38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4" baseType="lpstr">
      <vt:lpstr>Amasis MT Pro Black</vt:lpstr>
      <vt:lpstr>DengXian</vt:lpstr>
      <vt:lpstr>HY그래픽M</vt:lpstr>
      <vt:lpstr>微軟正黑體</vt:lpstr>
      <vt:lpstr>新細明體</vt:lpstr>
      <vt:lpstr>宋体</vt:lpstr>
      <vt:lpstr>华文新魏</vt:lpstr>
      <vt:lpstr>Arial</vt:lpstr>
      <vt:lpstr>Calibri</vt:lpstr>
      <vt:lpstr>Trebuchet MS</vt:lpstr>
      <vt:lpstr>Wingdings</vt:lpstr>
      <vt:lpstr>Wingdings 3</vt:lpstr>
      <vt:lpstr>Facet</vt:lpstr>
      <vt:lpstr>PowerPoint Presentation</vt:lpstr>
    </vt:vector>
  </TitlesOfParts>
  <Company>Nothing1010.blogspot.com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Leon Than(THÂN NGỌC LONG_PVN)</dc:creator>
  <cp:lastModifiedBy>Admin</cp:lastModifiedBy>
  <cp:revision>69</cp:revision>
  <dcterms:created xsi:type="dcterms:W3CDTF">2025-12-22T09:14:40Z</dcterms:created>
  <dcterms:modified xsi:type="dcterms:W3CDTF">2026-08-21T06:32:55Z</dcterms:modified>
</cp:coreProperties>
</file>