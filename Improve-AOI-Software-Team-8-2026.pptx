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8" r:id="rId1"/>
  </p:sldMasterIdLst>
  <p:notesMasterIdLst>
    <p:notesMasterId r:id="rId3"/>
  </p:notes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79" autoAdjust="0"/>
    <p:restoredTop sz="90233" autoAdjust="0"/>
  </p:normalViewPr>
  <p:slideViewPr>
    <p:cSldViewPr snapToGrid="0">
      <p:cViewPr>
        <p:scale>
          <a:sx n="100" d="100"/>
          <a:sy n="100" d="100"/>
        </p:scale>
        <p:origin x="744" y="18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3" d="100"/>
        <a:sy n="33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7CE30E-23A7-4AC7-BC16-53CE7F62F46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2CCBEA-0906-45D6-B3FC-4BA0A35C7F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1698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D2CCBEA-0906-45D6-B3FC-4BA0A35C7F8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4301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1219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8/20/2026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63576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8157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8/20/2026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0260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3206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25370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58650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8/20/2026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4129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8/20/2026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211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5565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345441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65744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122862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9144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8/20/2026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16983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2671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8/20/2026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594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ound Diagonal Corner Rectangle 64"/>
          <p:cNvSpPr/>
          <p:nvPr/>
        </p:nvSpPr>
        <p:spPr>
          <a:xfrm>
            <a:off x="6034236" y="771156"/>
            <a:ext cx="5486400" cy="5870843"/>
          </a:xfrm>
          <a:prstGeom prst="round2DiagRect">
            <a:avLst>
              <a:gd name="adj1" fmla="val 11143"/>
              <a:gd name="adj2" fmla="val 0"/>
            </a:avLst>
          </a:prstGeom>
          <a:solidFill>
            <a:srgbClr val="E3E6E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" name="群組 2"/>
          <p:cNvGrpSpPr/>
          <p:nvPr/>
        </p:nvGrpSpPr>
        <p:grpSpPr>
          <a:xfrm>
            <a:off x="177100" y="804306"/>
            <a:ext cx="10117393" cy="5870843"/>
            <a:chOff x="5150945" y="1812055"/>
            <a:chExt cx="12325487" cy="1739274"/>
          </a:xfrm>
        </p:grpSpPr>
        <p:sp>
          <p:nvSpPr>
            <p:cNvPr id="78" name="Round Diagonal Corner Rectangle 77"/>
            <p:cNvSpPr/>
            <p:nvPr/>
          </p:nvSpPr>
          <p:spPr>
            <a:xfrm>
              <a:off x="5150945" y="1812055"/>
              <a:ext cx="6683792" cy="1739274"/>
            </a:xfrm>
            <a:prstGeom prst="round2DiagRect">
              <a:avLst>
                <a:gd name="adj1" fmla="val 11143"/>
                <a:gd name="adj2" fmla="val 0"/>
              </a:avLst>
            </a:prstGeom>
            <a:solidFill>
              <a:srgbClr val="E3E6E7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TextBox 14"/>
            <p:cNvSpPr txBox="1"/>
            <p:nvPr/>
          </p:nvSpPr>
          <p:spPr>
            <a:xfrm>
              <a:off x="5487054" y="1948428"/>
              <a:ext cx="6151680" cy="5470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endParaRPr lang="vi-VN" sz="1200" dirty="0">
                <a:solidFill>
                  <a:sysClr val="windowText" lastClr="000000"/>
                </a:solidFill>
                <a:latin typeface="Arial" charset="0"/>
                <a:ea typeface="微軟正黑體" pitchFamily="34" charset="-120"/>
                <a:sym typeface="+mn-ea"/>
              </a:endParaRPr>
            </a:p>
          </p:txBody>
        </p:sp>
        <p:sp>
          <p:nvSpPr>
            <p:cNvPr id="23" name="TextBox 15"/>
            <p:cNvSpPr txBox="1"/>
            <p:nvPr/>
          </p:nvSpPr>
          <p:spPr>
            <a:xfrm>
              <a:off x="5544999" y="1864141"/>
              <a:ext cx="4812513" cy="7294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/>
              <a:r>
                <a:rPr lang="en-US" altLang="zh-CN" sz="1600" dirty="0" smtClean="0">
                  <a:solidFill>
                    <a:srgbClr val="00B050"/>
                  </a:solidFill>
                  <a:latin typeface="Arial" charset="0"/>
                  <a:ea typeface="微軟正黑體" pitchFamily="34" charset="-120"/>
                  <a:sym typeface="+mn-ea"/>
                </a:rPr>
                <a:t>Before Improve</a:t>
              </a:r>
              <a:endParaRPr lang="en-US" altLang="zh-CN" sz="1600" dirty="0">
                <a:solidFill>
                  <a:srgbClr val="00B050"/>
                </a:solidFill>
                <a:latin typeface="Arial" charset="0"/>
                <a:ea typeface="微軟正黑體" pitchFamily="34" charset="-120"/>
                <a:sym typeface="+mn-ea"/>
              </a:endParaRPr>
            </a:p>
          </p:txBody>
        </p:sp>
        <p:sp>
          <p:nvSpPr>
            <p:cNvPr id="46" name="TextBox 15"/>
            <p:cNvSpPr txBox="1"/>
            <p:nvPr/>
          </p:nvSpPr>
          <p:spPr>
            <a:xfrm>
              <a:off x="5487055" y="2872535"/>
              <a:ext cx="4812513" cy="7294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/>
              <a:r>
                <a:rPr lang="en-US" altLang="zh-CN" sz="1600" dirty="0" smtClean="0">
                  <a:solidFill>
                    <a:schemeClr val="accent2"/>
                  </a:solidFill>
                  <a:latin typeface="Arial" charset="0"/>
                  <a:ea typeface="微軟正黑體" pitchFamily="34" charset="-120"/>
                  <a:sym typeface="+mn-ea"/>
                </a:rPr>
                <a:t>Details Improve</a:t>
              </a:r>
              <a:endParaRPr lang="en-US" altLang="zh-CN" sz="1600" dirty="0">
                <a:solidFill>
                  <a:schemeClr val="accent2"/>
                </a:solidFill>
                <a:latin typeface="Arial" charset="0"/>
                <a:ea typeface="微軟正黑體" pitchFamily="34" charset="-120"/>
                <a:sym typeface="+mn-ea"/>
              </a:endParaRPr>
            </a:p>
          </p:txBody>
        </p:sp>
        <p:sp>
          <p:nvSpPr>
            <p:cNvPr id="47" name="TextBox 15"/>
            <p:cNvSpPr txBox="1"/>
            <p:nvPr/>
          </p:nvSpPr>
          <p:spPr>
            <a:xfrm>
              <a:off x="12663919" y="3061190"/>
              <a:ext cx="4812513" cy="7294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/>
              <a:r>
                <a:rPr lang="en-US" altLang="zh-CN" sz="1600" dirty="0" smtClean="0">
                  <a:solidFill>
                    <a:srgbClr val="7030A0"/>
                  </a:solidFill>
                  <a:latin typeface="Arial" charset="0"/>
                  <a:ea typeface="微軟正黑體" pitchFamily="34" charset="-120"/>
                  <a:sym typeface="+mn-ea"/>
                </a:rPr>
                <a:t>After Improve</a:t>
              </a:r>
              <a:endParaRPr lang="en-US" altLang="zh-CN" sz="1600" dirty="0">
                <a:solidFill>
                  <a:srgbClr val="7030A0"/>
                </a:solidFill>
                <a:latin typeface="Arial" charset="0"/>
                <a:ea typeface="微軟正黑體" pitchFamily="34" charset="-120"/>
                <a:sym typeface="+mn-ea"/>
              </a:endParaRPr>
            </a:p>
          </p:txBody>
        </p:sp>
      </p:grpSp>
      <p:sp>
        <p:nvSpPr>
          <p:cNvPr id="24" name="TextBox 14"/>
          <p:cNvSpPr txBox="1"/>
          <p:nvPr/>
        </p:nvSpPr>
        <p:spPr>
          <a:xfrm>
            <a:off x="5457870" y="5111578"/>
            <a:ext cx="6423394" cy="1846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71450" indent="-171450">
              <a:buFontTx/>
              <a:buChar char="-"/>
            </a:pPr>
            <a:endParaRPr lang="en-US" sz="1200" dirty="0">
              <a:solidFill>
                <a:srgbClr val="000000"/>
              </a:solidFill>
              <a:latin typeface="Arial" charset="0"/>
            </a:endParaRPr>
          </a:p>
        </p:txBody>
      </p:sp>
      <p:grpSp>
        <p:nvGrpSpPr>
          <p:cNvPr id="70" name="群組 42"/>
          <p:cNvGrpSpPr/>
          <p:nvPr/>
        </p:nvGrpSpPr>
        <p:grpSpPr>
          <a:xfrm>
            <a:off x="195262" y="103592"/>
            <a:ext cx="11871049" cy="588751"/>
            <a:chOff x="195262" y="163202"/>
            <a:chExt cx="11871049" cy="588751"/>
          </a:xfrm>
        </p:grpSpPr>
        <p:sp>
          <p:nvSpPr>
            <p:cNvPr id="71" name="矩形: 圓角 43"/>
            <p:cNvSpPr/>
            <p:nvPr/>
          </p:nvSpPr>
          <p:spPr>
            <a:xfrm>
              <a:off x="195262" y="247970"/>
              <a:ext cx="11801476" cy="419217"/>
            </a:xfrm>
            <a:prstGeom prst="roundRect">
              <a:avLst>
                <a:gd name="adj" fmla="val 40804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8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>
                    <a:lumMod val="75000"/>
                    <a:lumOff val="25000"/>
                  </a:schemeClr>
                </a:gs>
              </a:gsLst>
              <a:lin ang="0" scaled="1"/>
              <a:tileRect/>
            </a:gradFill>
            <a:ln w="381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ysClr val="windowText" lastClr="000000"/>
                </a:solidFill>
                <a:latin typeface="微軟正黑體" pitchFamily="34" charset="-120"/>
                <a:ea typeface="微軟正黑體" pitchFamily="34" charset="-120"/>
              </a:endParaRPr>
            </a:p>
          </p:txBody>
        </p:sp>
        <p:grpSp>
          <p:nvGrpSpPr>
            <p:cNvPr id="72" name="群組 44"/>
            <p:cNvGrpSpPr/>
            <p:nvPr/>
          </p:nvGrpSpPr>
          <p:grpSpPr>
            <a:xfrm>
              <a:off x="600729" y="163202"/>
              <a:ext cx="1038687" cy="588751"/>
              <a:chOff x="1782913" y="2529000"/>
              <a:chExt cx="3121572" cy="1800001"/>
            </a:xfrm>
          </p:grpSpPr>
          <p:sp>
            <p:nvSpPr>
              <p:cNvPr id="74" name="圆角矩形 15"/>
              <p:cNvSpPr/>
              <p:nvPr/>
            </p:nvSpPr>
            <p:spPr>
              <a:xfrm rot="2700000">
                <a:off x="1857839" y="2529000"/>
                <a:ext cx="1800000" cy="1800001"/>
              </a:xfrm>
              <a:prstGeom prst="roundRect">
                <a:avLst/>
              </a:prstGeom>
              <a:solidFill>
                <a:srgbClr val="34B2E4"/>
              </a:solidFill>
              <a:ln>
                <a:noFill/>
              </a:ln>
              <a:effectLst>
                <a:outerShdw blurRad="127000" algn="ctr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DengXian" panose="02010600030101010101" pitchFamily="2" charset="-122"/>
                  <a:ea typeface="DengXian" panose="02010600030101010101" pitchFamily="2" charset="-122"/>
                  <a:cs typeface="+mn-ea"/>
                  <a:sym typeface="+mn-lt"/>
                </a:endParaRPr>
              </a:p>
            </p:txBody>
          </p:sp>
          <p:sp>
            <p:nvSpPr>
              <p:cNvPr id="75" name="圆角矩形 16"/>
              <p:cNvSpPr/>
              <p:nvPr/>
            </p:nvSpPr>
            <p:spPr>
              <a:xfrm rot="2700000">
                <a:off x="1782913" y="2529000"/>
                <a:ext cx="1800000" cy="1800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190500" algn="c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DengXian" panose="02010600030101010101" pitchFamily="2" charset="-122"/>
                  <a:ea typeface="DengXian" panose="02010600030101010101" pitchFamily="2" charset="-122"/>
                  <a:cs typeface="+mn-ea"/>
                  <a:sym typeface="+mn-lt"/>
                </a:endParaRPr>
              </a:p>
            </p:txBody>
          </p:sp>
          <p:pic>
            <p:nvPicPr>
              <p:cNvPr id="76" name="圖片 49" descr="一張含有 文字, 輪子, 美工圖案, 齒輪 的圖片&#10;&#10;自動產生的描述"/>
              <p:cNvPicPr>
                <a:picLocks noChangeAspect="1"/>
              </p:cNvPicPr>
              <p:nvPr/>
            </p:nvPicPr>
            <p:blipFill rotWithShape="1">
              <a:blip r:embed="rId3" cstate="print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898"/>
              <a:stretch>
                <a:fillRect/>
              </a:stretch>
            </p:blipFill>
            <p:spPr>
              <a:xfrm rot="5400000">
                <a:off x="3709805" y="2875160"/>
                <a:ext cx="1281680" cy="110768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77" name="矩形 50"/>
              <p:cNvSpPr/>
              <p:nvPr/>
            </p:nvSpPr>
            <p:spPr>
              <a:xfrm>
                <a:off x="1831379" y="2819459"/>
                <a:ext cx="1703069" cy="133752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TW" sz="11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A4A4A4"/>
                    </a:solidFill>
                    <a:effectLst/>
                    <a:uLnTx/>
                    <a:uFillTx/>
                    <a:latin typeface="DengXian" panose="02010600030101010101" pitchFamily="2" charset="-122"/>
                    <a:ea typeface="DengXian" panose="02010600030101010101" pitchFamily="2" charset="-122"/>
                  </a:rPr>
                  <a:t>BG6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en-US" altLang="zh-TW" sz="1100" b="1" dirty="0">
                    <a:solidFill>
                      <a:srgbClr val="A4A4A4"/>
                    </a:solidFill>
                    <a:latin typeface="DengXian" panose="02010600030101010101" pitchFamily="2" charset="-122"/>
                    <a:ea typeface="DengXian" panose="02010600030101010101" pitchFamily="2" charset="-122"/>
                  </a:rPr>
                  <a:t>PVN</a:t>
                </a:r>
                <a:endParaRPr kumimoji="0" lang="en-US" altLang="zh-TW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A4A4A4"/>
                  </a:solidFill>
                  <a:effectLst/>
                  <a:uLnTx/>
                  <a:uFillTx/>
                  <a:latin typeface="DengXian" panose="02010600030101010101" pitchFamily="2" charset="-122"/>
                  <a:ea typeface="DengXian" panose="02010600030101010101" pitchFamily="2" charset="-122"/>
                </a:endParaRPr>
              </a:p>
            </p:txBody>
          </p:sp>
        </p:grpSp>
        <p:sp>
          <p:nvSpPr>
            <p:cNvPr id="73" name="文字方塊 45"/>
            <p:cNvSpPr txBox="1"/>
            <p:nvPr/>
          </p:nvSpPr>
          <p:spPr>
            <a:xfrm>
              <a:off x="1345044" y="196222"/>
              <a:ext cx="1072126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TW"/>
              </a:defPPr>
              <a:lvl1pPr defTabSz="837565">
                <a:defRPr sz="3200" b="1">
                  <a:solidFill>
                    <a:srgbClr val="2E9CC8"/>
                  </a:solidFill>
                  <a:latin typeface="DengXian" panose="02010600030101010101" pitchFamily="2" charset="-122"/>
                  <a:ea typeface="DengXian" panose="02010600030101010101" pitchFamily="2" charset="-122"/>
                </a:defRPr>
              </a:lvl1pPr>
            </a:lstStyle>
            <a:p>
              <a:r>
                <a:rPr lang="vi-VN" sz="2400" dirty="0" smtClean="0">
                  <a:solidFill>
                    <a:schemeClr val="bg1"/>
                  </a:solidFill>
                  <a:latin typeface="Arial" panose="020B0604020202020204" pitchFamily="34" charset="0"/>
                  <a:ea typeface="微軟正黑體" pitchFamily="34" charset="-120"/>
                  <a:cs typeface="Arial" panose="020B0604020202020204" pitchFamily="34" charset="0"/>
                  <a:sym typeface="+mn-ea"/>
                </a:rPr>
                <a:t>Eero W/X – Setup AOI Label Station to Prevent Wrong Product Label</a:t>
              </a:r>
              <a:endParaRPr lang="en-US" altLang="zh-CN" sz="2400" dirty="0">
                <a:solidFill>
                  <a:schemeClr val="bg1"/>
                </a:solidFill>
                <a:latin typeface="Arial" panose="020B0604020202020204" pitchFamily="34" charset="0"/>
                <a:ea typeface="宋体" charset="0"/>
                <a:cs typeface="Arial" panose="020B0604020202020204" pitchFamily="34" charset="0"/>
                <a:sym typeface="+mn-ea"/>
              </a:endParaRPr>
            </a:p>
          </p:txBody>
        </p:sp>
      </p:grpSp>
      <p:grpSp>
        <p:nvGrpSpPr>
          <p:cNvPr id="34" name="群組 4"/>
          <p:cNvGrpSpPr/>
          <p:nvPr/>
        </p:nvGrpSpPr>
        <p:grpSpPr>
          <a:xfrm>
            <a:off x="11393101" y="6202812"/>
            <a:ext cx="852538" cy="655188"/>
            <a:chOff x="1677916" y="4156906"/>
            <a:chExt cx="337600" cy="259448"/>
          </a:xfrm>
        </p:grpSpPr>
        <p:sp>
          <p:nvSpPr>
            <p:cNvPr id="36" name="Oval 21"/>
            <p:cNvSpPr/>
            <p:nvPr/>
          </p:nvSpPr>
          <p:spPr>
            <a:xfrm rot="20111049">
              <a:off x="1677916" y="4156906"/>
              <a:ext cx="231072" cy="220075"/>
            </a:xfrm>
            <a:custGeom>
              <a:avLst/>
              <a:gdLst/>
              <a:ahLst/>
              <a:cxnLst/>
              <a:rect l="l" t="t" r="r" b="b"/>
              <a:pathLst>
                <a:path w="4088377" h="3321003">
                  <a:moveTo>
                    <a:pt x="1365628" y="1622218"/>
                  </a:moveTo>
                  <a:cubicBezTo>
                    <a:pt x="1121373" y="1556771"/>
                    <a:pt x="870309" y="1701722"/>
                    <a:pt x="804861" y="1945977"/>
                  </a:cubicBezTo>
                  <a:cubicBezTo>
                    <a:pt x="739413" y="2190232"/>
                    <a:pt x="884365" y="2441296"/>
                    <a:pt x="1128620" y="2506744"/>
                  </a:cubicBezTo>
                  <a:cubicBezTo>
                    <a:pt x="1372875" y="2572191"/>
                    <a:pt x="1623939" y="2427240"/>
                    <a:pt x="1689387" y="2182985"/>
                  </a:cubicBezTo>
                  <a:cubicBezTo>
                    <a:pt x="1754835" y="1938730"/>
                    <a:pt x="1609883" y="1687666"/>
                    <a:pt x="1365628" y="1622218"/>
                  </a:cubicBezTo>
                  <a:close/>
                  <a:moveTo>
                    <a:pt x="1447099" y="1318163"/>
                  </a:moveTo>
                  <a:cubicBezTo>
                    <a:pt x="1859279" y="1428606"/>
                    <a:pt x="2103885" y="1852277"/>
                    <a:pt x="1993442" y="2264456"/>
                  </a:cubicBezTo>
                  <a:cubicBezTo>
                    <a:pt x="1882999" y="2676636"/>
                    <a:pt x="1459328" y="2921242"/>
                    <a:pt x="1047149" y="2810799"/>
                  </a:cubicBezTo>
                  <a:cubicBezTo>
                    <a:pt x="634969" y="2700356"/>
                    <a:pt x="390363" y="2276685"/>
                    <a:pt x="500806" y="1864505"/>
                  </a:cubicBezTo>
                  <a:cubicBezTo>
                    <a:pt x="611249" y="1452326"/>
                    <a:pt x="1034920" y="1207720"/>
                    <a:pt x="1447099" y="1318163"/>
                  </a:cubicBezTo>
                  <a:close/>
                  <a:moveTo>
                    <a:pt x="1476725" y="1207597"/>
                  </a:moveTo>
                  <a:cubicBezTo>
                    <a:pt x="1003481" y="1080792"/>
                    <a:pt x="517045" y="1361635"/>
                    <a:pt x="390240" y="1834879"/>
                  </a:cubicBezTo>
                  <a:cubicBezTo>
                    <a:pt x="263435" y="2308124"/>
                    <a:pt x="544279" y="2794559"/>
                    <a:pt x="1017523" y="2921365"/>
                  </a:cubicBezTo>
                  <a:cubicBezTo>
                    <a:pt x="1490767" y="3048170"/>
                    <a:pt x="1977202" y="2767326"/>
                    <a:pt x="2104008" y="2294082"/>
                  </a:cubicBezTo>
                  <a:cubicBezTo>
                    <a:pt x="2230813" y="1820838"/>
                    <a:pt x="1949969" y="1334403"/>
                    <a:pt x="1476725" y="1207597"/>
                  </a:cubicBezTo>
                  <a:close/>
                  <a:moveTo>
                    <a:pt x="3290290" y="1590224"/>
                  </a:moveTo>
                  <a:cubicBezTo>
                    <a:pt x="3269727" y="1586016"/>
                    <a:pt x="3248437" y="1583806"/>
                    <a:pt x="3226630" y="1583806"/>
                  </a:cubicBezTo>
                  <a:cubicBezTo>
                    <a:pt x="3052179" y="1583806"/>
                    <a:pt x="2910758" y="1725227"/>
                    <a:pt x="2910758" y="1899678"/>
                  </a:cubicBezTo>
                  <a:cubicBezTo>
                    <a:pt x="2910758" y="2074130"/>
                    <a:pt x="3052179" y="2215551"/>
                    <a:pt x="3226630" y="2215550"/>
                  </a:cubicBezTo>
                  <a:cubicBezTo>
                    <a:pt x="3401082" y="2215551"/>
                    <a:pt x="3542503" y="2074130"/>
                    <a:pt x="3542502" y="1899678"/>
                  </a:cubicBezTo>
                  <a:cubicBezTo>
                    <a:pt x="3542503" y="1747033"/>
                    <a:pt x="3434228" y="1619677"/>
                    <a:pt x="3290290" y="1590224"/>
                  </a:cubicBezTo>
                  <a:close/>
                  <a:moveTo>
                    <a:pt x="3334055" y="1377473"/>
                  </a:moveTo>
                  <a:cubicBezTo>
                    <a:pt x="3576950" y="1427177"/>
                    <a:pt x="3759665" y="1642090"/>
                    <a:pt x="3759665" y="1899678"/>
                  </a:cubicBezTo>
                  <a:cubicBezTo>
                    <a:pt x="3759665" y="2194064"/>
                    <a:pt x="3521017" y="2432713"/>
                    <a:pt x="3226630" y="2432713"/>
                  </a:cubicBezTo>
                  <a:cubicBezTo>
                    <a:pt x="2932244" y="2432712"/>
                    <a:pt x="2693596" y="2194065"/>
                    <a:pt x="2693596" y="1899678"/>
                  </a:cubicBezTo>
                  <a:cubicBezTo>
                    <a:pt x="2693596" y="1605292"/>
                    <a:pt x="2932244" y="1366644"/>
                    <a:pt x="3226630" y="1366644"/>
                  </a:cubicBezTo>
                  <a:cubicBezTo>
                    <a:pt x="3263429" y="1366644"/>
                    <a:pt x="3299356" y="1370373"/>
                    <a:pt x="3334055" y="1377473"/>
                  </a:cubicBezTo>
                  <a:close/>
                  <a:moveTo>
                    <a:pt x="1391137" y="789478"/>
                  </a:moveTo>
                  <a:lnTo>
                    <a:pt x="1759910" y="888290"/>
                  </a:lnTo>
                  <a:lnTo>
                    <a:pt x="1754625" y="1202375"/>
                  </a:lnTo>
                  <a:lnTo>
                    <a:pt x="1744979" y="1199790"/>
                  </a:lnTo>
                  <a:cubicBezTo>
                    <a:pt x="1823578" y="1244024"/>
                    <a:pt x="1894617" y="1298265"/>
                    <a:pt x="1954704" y="1362586"/>
                  </a:cubicBezTo>
                  <a:lnTo>
                    <a:pt x="2234317" y="1293059"/>
                  </a:lnTo>
                  <a:lnTo>
                    <a:pt x="2413554" y="1630152"/>
                  </a:lnTo>
                  <a:lnTo>
                    <a:pt x="2214321" y="1809770"/>
                  </a:lnTo>
                  <a:cubicBezTo>
                    <a:pt x="2239296" y="1900740"/>
                    <a:pt x="2251067" y="1995997"/>
                    <a:pt x="2246841" y="2092825"/>
                  </a:cubicBezTo>
                  <a:lnTo>
                    <a:pt x="2495698" y="2230974"/>
                  </a:lnTo>
                  <a:lnTo>
                    <a:pt x="2396885" y="2599747"/>
                  </a:lnTo>
                  <a:lnTo>
                    <a:pt x="2094912" y="2594668"/>
                  </a:lnTo>
                  <a:cubicBezTo>
                    <a:pt x="2056732" y="2658461"/>
                    <a:pt x="2010475" y="2715996"/>
                    <a:pt x="1958644" y="2767359"/>
                  </a:cubicBezTo>
                  <a:lnTo>
                    <a:pt x="2057814" y="3026193"/>
                  </a:lnTo>
                  <a:lnTo>
                    <a:pt x="1745078" y="3245174"/>
                  </a:lnTo>
                  <a:lnTo>
                    <a:pt x="1507869" y="3039237"/>
                  </a:lnTo>
                  <a:lnTo>
                    <a:pt x="1536736" y="3019025"/>
                  </a:lnTo>
                  <a:cubicBezTo>
                    <a:pt x="1445878" y="3048429"/>
                    <a:pt x="1349798" y="3062567"/>
                    <a:pt x="1251837" y="3062021"/>
                  </a:cubicBezTo>
                  <a:lnTo>
                    <a:pt x="1108065" y="3321003"/>
                  </a:lnTo>
                  <a:lnTo>
                    <a:pt x="739291" y="3222191"/>
                  </a:lnTo>
                  <a:lnTo>
                    <a:pt x="744274" y="2926021"/>
                  </a:lnTo>
                  <a:cubicBezTo>
                    <a:pt x="666128" y="2881484"/>
                    <a:pt x="595548" y="2827017"/>
                    <a:pt x="535891" y="2762576"/>
                  </a:cubicBezTo>
                  <a:lnTo>
                    <a:pt x="540671" y="2772825"/>
                  </a:lnTo>
                  <a:lnTo>
                    <a:pt x="232276" y="2832568"/>
                  </a:lnTo>
                  <a:lnTo>
                    <a:pt x="70927" y="2486556"/>
                  </a:lnTo>
                  <a:lnTo>
                    <a:pt x="279495" y="2317444"/>
                  </a:lnTo>
                  <a:cubicBezTo>
                    <a:pt x="257233" y="2235849"/>
                    <a:pt x="245603" y="2150814"/>
                    <a:pt x="245586" y="2064274"/>
                  </a:cubicBezTo>
                  <a:lnTo>
                    <a:pt x="0" y="1927940"/>
                  </a:lnTo>
                  <a:lnTo>
                    <a:pt x="98812" y="1559167"/>
                  </a:lnTo>
                  <a:lnTo>
                    <a:pt x="380240" y="1563901"/>
                  </a:lnTo>
                  <a:cubicBezTo>
                    <a:pt x="418421" y="1496524"/>
                    <a:pt x="464524" y="1435092"/>
                    <a:pt x="516679" y="1380105"/>
                  </a:cubicBezTo>
                  <a:lnTo>
                    <a:pt x="422419" y="1089378"/>
                  </a:lnTo>
                  <a:lnTo>
                    <a:pt x="746189" y="887063"/>
                  </a:lnTo>
                  <a:lnTo>
                    <a:pt x="972292" y="1105134"/>
                  </a:lnTo>
                  <a:lnTo>
                    <a:pt x="970019" y="1106554"/>
                  </a:lnTo>
                  <a:cubicBezTo>
                    <a:pt x="1058903" y="1078586"/>
                    <a:pt x="1152743" y="1065659"/>
                    <a:pt x="1248316" y="1066709"/>
                  </a:cubicBezTo>
                  <a:lnTo>
                    <a:pt x="1238669" y="1064125"/>
                  </a:lnTo>
                  <a:close/>
                  <a:moveTo>
                    <a:pt x="3349970" y="1300109"/>
                  </a:moveTo>
                  <a:cubicBezTo>
                    <a:pt x="3310130" y="1291957"/>
                    <a:pt x="3268880" y="1287676"/>
                    <a:pt x="3226630" y="1287676"/>
                  </a:cubicBezTo>
                  <a:cubicBezTo>
                    <a:pt x="2888631" y="1287676"/>
                    <a:pt x="2614628" y="1561679"/>
                    <a:pt x="2614628" y="1899678"/>
                  </a:cubicBezTo>
                  <a:cubicBezTo>
                    <a:pt x="2614628" y="2237678"/>
                    <a:pt x="2888630" y="2511680"/>
                    <a:pt x="3226630" y="2511681"/>
                  </a:cubicBezTo>
                  <a:cubicBezTo>
                    <a:pt x="3564630" y="2511681"/>
                    <a:pt x="3838633" y="2237678"/>
                    <a:pt x="3838633" y="1899678"/>
                  </a:cubicBezTo>
                  <a:cubicBezTo>
                    <a:pt x="3838632" y="1603928"/>
                    <a:pt x="3628849" y="1357176"/>
                    <a:pt x="3349970" y="1300109"/>
                  </a:cubicBezTo>
                  <a:close/>
                  <a:moveTo>
                    <a:pt x="3358324" y="1024334"/>
                  </a:moveTo>
                  <a:lnTo>
                    <a:pt x="3410883" y="1234575"/>
                  </a:lnTo>
                  <a:lnTo>
                    <a:pt x="3403994" y="1234575"/>
                  </a:lnTo>
                  <a:cubicBezTo>
                    <a:pt x="3464268" y="1250018"/>
                    <a:pt x="3521292" y="1273478"/>
                    <a:pt x="3572818" y="1305612"/>
                  </a:cubicBezTo>
                  <a:lnTo>
                    <a:pt x="3746730" y="1209354"/>
                  </a:lnTo>
                  <a:lnTo>
                    <a:pt x="3926358" y="1401981"/>
                  </a:lnTo>
                  <a:lnTo>
                    <a:pt x="3825667" y="1557247"/>
                  </a:lnTo>
                  <a:cubicBezTo>
                    <a:pt x="3858552" y="1613408"/>
                    <a:pt x="3883404" y="1674784"/>
                    <a:pt x="3897877" y="1740062"/>
                  </a:cubicBezTo>
                  <a:lnTo>
                    <a:pt x="4088377" y="1787686"/>
                  </a:lnTo>
                  <a:lnTo>
                    <a:pt x="4088377" y="2051071"/>
                  </a:lnTo>
                  <a:lnTo>
                    <a:pt x="3886243" y="2101605"/>
                  </a:lnTo>
                  <a:cubicBezTo>
                    <a:pt x="3872191" y="2150933"/>
                    <a:pt x="3851639" y="2197531"/>
                    <a:pt x="3826272" y="2241013"/>
                  </a:cubicBezTo>
                  <a:lnTo>
                    <a:pt x="3938572" y="2395786"/>
                  </a:lnTo>
                  <a:lnTo>
                    <a:pt x="3769272" y="2597551"/>
                  </a:lnTo>
                  <a:lnTo>
                    <a:pt x="3574432" y="2502674"/>
                  </a:lnTo>
                  <a:lnTo>
                    <a:pt x="3590059" y="2484050"/>
                  </a:lnTo>
                  <a:cubicBezTo>
                    <a:pt x="3534764" y="2519868"/>
                    <a:pt x="3473263" y="2546445"/>
                    <a:pt x="3407886" y="2563572"/>
                  </a:cubicBezTo>
                  <a:lnTo>
                    <a:pt x="3358323" y="2761823"/>
                  </a:lnTo>
                  <a:lnTo>
                    <a:pt x="3094938" y="2761823"/>
                  </a:lnTo>
                  <a:lnTo>
                    <a:pt x="3045375" y="2563574"/>
                  </a:lnTo>
                  <a:cubicBezTo>
                    <a:pt x="2985349" y="2547848"/>
                    <a:pt x="2928591" y="2524155"/>
                    <a:pt x="2877330" y="2491865"/>
                  </a:cubicBezTo>
                  <a:lnTo>
                    <a:pt x="2882346" y="2497841"/>
                  </a:lnTo>
                  <a:lnTo>
                    <a:pt x="2687507" y="2592718"/>
                  </a:lnTo>
                  <a:lnTo>
                    <a:pt x="2518206" y="2390954"/>
                  </a:lnTo>
                  <a:lnTo>
                    <a:pt x="2626994" y="2241021"/>
                  </a:lnTo>
                  <a:cubicBezTo>
                    <a:pt x="2597591" y="2190623"/>
                    <a:pt x="2574657" y="2136035"/>
                    <a:pt x="2559194" y="2078370"/>
                  </a:cubicBezTo>
                  <a:lnTo>
                    <a:pt x="2371198" y="2031371"/>
                  </a:lnTo>
                  <a:lnTo>
                    <a:pt x="2371198" y="1767986"/>
                  </a:lnTo>
                  <a:lnTo>
                    <a:pt x="2559579" y="1720890"/>
                  </a:lnTo>
                  <a:cubicBezTo>
                    <a:pt x="2572992" y="1669175"/>
                    <a:pt x="2592745" y="1620006"/>
                    <a:pt x="2617681" y="1574051"/>
                  </a:cubicBezTo>
                  <a:lnTo>
                    <a:pt x="2502958" y="1397149"/>
                  </a:lnTo>
                  <a:lnTo>
                    <a:pt x="2682587" y="1204520"/>
                  </a:lnTo>
                  <a:lnTo>
                    <a:pt x="2872193" y="1309466"/>
                  </a:lnTo>
                  <a:lnTo>
                    <a:pt x="2870932" y="1310818"/>
                  </a:lnTo>
                  <a:cubicBezTo>
                    <a:pt x="2925169" y="1276310"/>
                    <a:pt x="2985393" y="1250941"/>
                    <a:pt x="3049268" y="1234575"/>
                  </a:cubicBezTo>
                  <a:lnTo>
                    <a:pt x="3042378" y="1234576"/>
                  </a:lnTo>
                  <a:lnTo>
                    <a:pt x="3094939" y="1024334"/>
                  </a:lnTo>
                  <a:close/>
                  <a:moveTo>
                    <a:pt x="2786480" y="402820"/>
                  </a:moveTo>
                  <a:cubicBezTo>
                    <a:pt x="2745900" y="389943"/>
                    <a:pt x="2701172" y="388627"/>
                    <a:pt x="2657264" y="401580"/>
                  </a:cubicBezTo>
                  <a:cubicBezTo>
                    <a:pt x="2540176" y="436121"/>
                    <a:pt x="2473258" y="559041"/>
                    <a:pt x="2507800" y="676128"/>
                  </a:cubicBezTo>
                  <a:cubicBezTo>
                    <a:pt x="2542340" y="793216"/>
                    <a:pt x="2665260" y="860133"/>
                    <a:pt x="2782348" y="825592"/>
                  </a:cubicBezTo>
                  <a:cubicBezTo>
                    <a:pt x="2899435" y="791051"/>
                    <a:pt x="2966353" y="668132"/>
                    <a:pt x="2931812" y="551045"/>
                  </a:cubicBezTo>
                  <a:cubicBezTo>
                    <a:pt x="2910223" y="477864"/>
                    <a:pt x="2854113" y="424282"/>
                    <a:pt x="2786480" y="402820"/>
                  </a:cubicBezTo>
                  <a:close/>
                  <a:moveTo>
                    <a:pt x="2932202" y="47278"/>
                  </a:moveTo>
                  <a:lnTo>
                    <a:pt x="3090904" y="140999"/>
                  </a:lnTo>
                  <a:lnTo>
                    <a:pt x="3054065" y="265147"/>
                  </a:lnTo>
                  <a:cubicBezTo>
                    <a:pt x="3087256" y="296329"/>
                    <a:pt x="3116089" y="332603"/>
                    <a:pt x="3138727" y="373550"/>
                  </a:cubicBezTo>
                  <a:lnTo>
                    <a:pt x="3276016" y="367796"/>
                  </a:lnTo>
                  <a:lnTo>
                    <a:pt x="3328165" y="544574"/>
                  </a:lnTo>
                  <a:lnTo>
                    <a:pt x="3202503" y="618514"/>
                  </a:lnTo>
                  <a:cubicBezTo>
                    <a:pt x="3202838" y="654403"/>
                    <a:pt x="3198271" y="689748"/>
                    <a:pt x="3189855" y="723955"/>
                  </a:cubicBezTo>
                  <a:lnTo>
                    <a:pt x="3295873" y="805599"/>
                  </a:lnTo>
                  <a:lnTo>
                    <a:pt x="3222192" y="974540"/>
                  </a:lnTo>
                  <a:lnTo>
                    <a:pt x="3072634" y="949439"/>
                  </a:lnTo>
                  <a:lnTo>
                    <a:pt x="3079435" y="933845"/>
                  </a:lnTo>
                  <a:cubicBezTo>
                    <a:pt x="3049413" y="968833"/>
                    <a:pt x="3013398" y="998848"/>
                    <a:pt x="2972910" y="1023288"/>
                  </a:cubicBezTo>
                  <a:lnTo>
                    <a:pt x="2978897" y="1166163"/>
                  </a:lnTo>
                  <a:lnTo>
                    <a:pt x="2802119" y="1218312"/>
                  </a:lnTo>
                  <a:lnTo>
                    <a:pt x="2729602" y="1095065"/>
                  </a:lnTo>
                  <a:cubicBezTo>
                    <a:pt x="2686199" y="1096396"/>
                    <a:pt x="2643414" y="1091732"/>
                    <a:pt x="2602615" y="1080209"/>
                  </a:cubicBezTo>
                  <a:lnTo>
                    <a:pt x="2607165" y="1083226"/>
                  </a:lnTo>
                  <a:lnTo>
                    <a:pt x="2495179" y="1185484"/>
                  </a:lnTo>
                  <a:lnTo>
                    <a:pt x="2341599" y="1083585"/>
                  </a:lnTo>
                  <a:lnTo>
                    <a:pt x="2384929" y="961414"/>
                  </a:lnTo>
                  <a:cubicBezTo>
                    <a:pt x="2355215" y="933409"/>
                    <a:pt x="2329015" y="901312"/>
                    <a:pt x="2307218" y="865670"/>
                  </a:cubicBezTo>
                  <a:lnTo>
                    <a:pt x="2171734" y="871348"/>
                  </a:lnTo>
                  <a:lnTo>
                    <a:pt x="2119584" y="694571"/>
                  </a:lnTo>
                  <a:lnTo>
                    <a:pt x="2236697" y="625662"/>
                  </a:lnTo>
                  <a:cubicBezTo>
                    <a:pt x="2235459" y="588297"/>
                    <a:pt x="2238982" y="551385"/>
                    <a:pt x="2246620" y="515603"/>
                  </a:cubicBezTo>
                  <a:lnTo>
                    <a:pt x="2134594" y="419585"/>
                  </a:lnTo>
                  <a:lnTo>
                    <a:pt x="2217016" y="254732"/>
                  </a:lnTo>
                  <a:lnTo>
                    <a:pt x="2365055" y="287627"/>
                  </a:lnTo>
                  <a:lnTo>
                    <a:pt x="2364476" y="288784"/>
                  </a:lnTo>
                  <a:cubicBezTo>
                    <a:pt x="2394046" y="254885"/>
                    <a:pt x="2429444" y="225933"/>
                    <a:pt x="2469075" y="202302"/>
                  </a:cubicBezTo>
                  <a:lnTo>
                    <a:pt x="2464452" y="203666"/>
                  </a:lnTo>
                  <a:lnTo>
                    <a:pt x="2458102" y="52150"/>
                  </a:lnTo>
                  <a:lnTo>
                    <a:pt x="2634880" y="0"/>
                  </a:lnTo>
                  <a:lnTo>
                    <a:pt x="2711784" y="130703"/>
                  </a:lnTo>
                  <a:lnTo>
                    <a:pt x="2707159" y="132067"/>
                  </a:lnTo>
                  <a:cubicBezTo>
                    <a:pt x="2750672" y="130497"/>
                    <a:pt x="2793590" y="134953"/>
                    <a:pt x="2834535" y="146319"/>
                  </a:cubicBezTo>
                  <a:close/>
                </a:path>
              </a:pathLst>
            </a:custGeom>
            <a:solidFill>
              <a:srgbClr val="00B050"/>
            </a:solidFill>
            <a:ln w="3175">
              <a:solidFill>
                <a:schemeClr val="bg2">
                  <a:lumMod val="75000"/>
                </a:schemeClr>
              </a:solidFill>
            </a:ln>
            <a:effectLst>
              <a:outerShdw blurRad="50800" dist="38100" dir="8100000" sx="97000" sy="97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ko-KR" altLang="en-US" sz="2700">
                <a:solidFill>
                  <a:srgbClr val="00B050"/>
                </a:solidFill>
              </a:endParaRPr>
            </a:p>
          </p:txBody>
        </p:sp>
        <p:grpSp>
          <p:nvGrpSpPr>
            <p:cNvPr id="37" name="群組 6"/>
            <p:cNvGrpSpPr/>
            <p:nvPr/>
          </p:nvGrpSpPr>
          <p:grpSpPr>
            <a:xfrm>
              <a:off x="1804850" y="4300858"/>
              <a:ext cx="210666" cy="115496"/>
              <a:chOff x="2191565" y="4279903"/>
              <a:chExt cx="210666" cy="115496"/>
            </a:xfrm>
          </p:grpSpPr>
          <p:sp>
            <p:nvSpPr>
              <p:cNvPr id="38" name="文字方塊 7"/>
              <p:cNvSpPr txBox="1"/>
              <p:nvPr/>
            </p:nvSpPr>
            <p:spPr>
              <a:xfrm>
                <a:off x="2201153" y="4279903"/>
                <a:ext cx="165243" cy="975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000" b="1" dirty="0" smtClean="0">
                    <a:ln w="3175">
                      <a:solidFill>
                        <a:schemeClr val="bg2">
                          <a:lumMod val="50000"/>
                        </a:schemeClr>
                      </a:solidFill>
                    </a:ln>
                    <a:solidFill>
                      <a:srgbClr val="00B050"/>
                    </a:solidFill>
                    <a:effectLst>
                      <a:innerShdw blurRad="63500" dist="50800" dir="18900000">
                        <a:prstClr val="black">
                          <a:alpha val="50000"/>
                        </a:prstClr>
                      </a:innerShdw>
                    </a:effectLst>
                    <a:latin typeface="Amasis MT Pro Black" panose="020F0502020204030204" pitchFamily="18" charset="0"/>
                    <a:cs typeface="Arial" pitchFamily="34" charset="0"/>
                  </a:rPr>
                  <a:t>FME</a:t>
                </a:r>
                <a:endParaRPr lang="zh-TW" altLang="en-US" sz="1000" b="1" dirty="0">
                  <a:ln w="3175">
                    <a:solidFill>
                      <a:schemeClr val="bg2">
                        <a:lumMod val="50000"/>
                      </a:schemeClr>
                    </a:solidFill>
                  </a:ln>
                  <a:solidFill>
                    <a:srgbClr val="00B050"/>
                  </a:solidFill>
                  <a:effectLst>
                    <a:innerShdw blurRad="63500" dist="50800" dir="18900000">
                      <a:prstClr val="black">
                        <a:alpha val="50000"/>
                      </a:prstClr>
                    </a:innerShdw>
                  </a:effectLst>
                  <a:latin typeface="Amasis MT Pro Black" panose="020F0502020204030204" pitchFamily="18" charset="0"/>
                  <a:cs typeface="Arial" pitchFamily="34" charset="0"/>
                </a:endParaRPr>
              </a:p>
            </p:txBody>
          </p:sp>
          <p:sp>
            <p:nvSpPr>
              <p:cNvPr id="39" name="文字方塊 8"/>
              <p:cNvSpPr txBox="1"/>
              <p:nvPr/>
            </p:nvSpPr>
            <p:spPr>
              <a:xfrm>
                <a:off x="2191565" y="4328367"/>
                <a:ext cx="210666" cy="670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500" b="1" dirty="0">
                    <a:ln w="3175">
                      <a:noFill/>
                    </a:ln>
                    <a:solidFill>
                      <a:srgbClr val="00B050"/>
                    </a:solidFill>
                    <a:effectLst>
                      <a:innerShdw blurRad="63500" dist="50800" dir="18900000">
                        <a:prstClr val="black">
                          <a:alpha val="50000"/>
                        </a:prstClr>
                      </a:innerShdw>
                    </a:effectLst>
                    <a:latin typeface="Arial" pitchFamily="34" charset="0"/>
                    <a:cs typeface="Arial" pitchFamily="34" charset="0"/>
                  </a:rPr>
                  <a:t>BG6</a:t>
                </a:r>
                <a:r>
                  <a:rPr lang="zh-TW" altLang="en-US" sz="500" b="1" dirty="0">
                    <a:ln w="3175">
                      <a:noFill/>
                    </a:ln>
                    <a:solidFill>
                      <a:srgbClr val="00B050"/>
                    </a:solidFill>
                    <a:effectLst>
                      <a:innerShdw blurRad="63500" dist="50800" dir="18900000">
                        <a:prstClr val="black">
                          <a:alpha val="50000"/>
                        </a:prstClr>
                      </a:innerShdw>
                    </a:effectLst>
                    <a:latin typeface="Arial" pitchFamily="34" charset="0"/>
                    <a:cs typeface="Arial" pitchFamily="34" charset="0"/>
                  </a:rPr>
                  <a:t> </a:t>
                </a:r>
                <a:r>
                  <a:rPr lang="en-US" altLang="zh-TW" sz="500" b="1" dirty="0">
                    <a:ln w="0">
                      <a:noFill/>
                    </a:ln>
                    <a:solidFill>
                      <a:srgbClr val="00B050"/>
                    </a:solidFill>
                    <a:effectLst>
                      <a:innerShdw blurRad="63500" dist="50800" dir="18900000">
                        <a:prstClr val="black">
                          <a:alpha val="50000"/>
                        </a:prstClr>
                      </a:innerShdw>
                    </a:effectLst>
                    <a:latin typeface="Arial" pitchFamily="34" charset="0"/>
                    <a:cs typeface="Arial" pitchFamily="34" charset="0"/>
                  </a:rPr>
                  <a:t>PVN</a:t>
                </a:r>
                <a:endParaRPr lang="zh-TW" altLang="en-US" sz="500" b="1" dirty="0">
                  <a:ln w="0">
                    <a:noFill/>
                  </a:ln>
                  <a:solidFill>
                    <a:srgbClr val="00B050"/>
                  </a:solidFill>
                  <a:effectLst>
                    <a:innerShdw blurRad="63500" dist="50800" dir="18900000">
                      <a:prstClr val="black">
                        <a:alpha val="50000"/>
                      </a:prstClr>
                    </a:innerShdw>
                  </a:effectLst>
                  <a:latin typeface="Arial" pitchFamily="34" charset="0"/>
                  <a:cs typeface="Arial" pitchFamily="34" charset="0"/>
                </a:endParaRPr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38464" y="1198424"/>
            <a:ext cx="5266837" cy="31854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200" b="1" dirty="0" smtClean="0">
                <a:latin typeface="Arial" panose="020B0604020202020204" pitchFamily="34" charset="0"/>
                <a:cs typeface="Arial" panose="020B0604020202020204" pitchFamily="34" charset="0"/>
              </a:rPr>
              <a:t>Issue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Current </a:t>
            </a:r>
            <a:r>
              <a:rPr lang="vi-VN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label inspection does not have an automatic check to verify actual product label vs model </a:t>
            </a:r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information in SFIS.</a:t>
            </a:r>
            <a:endParaRPr lang="vi-VN" sz="11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Operator mainly performs visual inspection, creating risk of :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Wrong product label applied to product.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Model/ artwork mismatch not detected before shipment.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Human error during label checking.</a:t>
            </a:r>
            <a:endParaRPr lang="en-US" sz="11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200" b="1" dirty="0" smtClean="0">
                <a:latin typeface="Arial" panose="020B0604020202020204" pitchFamily="34" charset="0"/>
                <a:cs typeface="Arial" panose="020B0604020202020204" pitchFamily="34" charset="0"/>
              </a:rPr>
              <a:t>Impact</a:t>
            </a:r>
            <a:endParaRPr lang="en-US" sz="1200" b="1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Risk of incorrect DSN/POD label on finished product.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Potential customer complaint and rework.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Additional inspection and handling time.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Inspection accuracy depends on operator.</a:t>
            </a:r>
            <a:endParaRPr lang="en-US" sz="11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338464" y="4600122"/>
            <a:ext cx="5293757" cy="854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100" b="1" dirty="0" smtClean="0">
                <a:latin typeface="Arial" panose="020B0604020202020204" pitchFamily="34" charset="0"/>
                <a:cs typeface="Arial" panose="020B0604020202020204" pitchFamily="34" charset="0"/>
              </a:rPr>
              <a:t>Improvement  – </a:t>
            </a:r>
            <a:r>
              <a:rPr lang="vi-VN" sz="1100" b="1" dirty="0" smtClean="0">
                <a:latin typeface="Arial" panose="020B0604020202020204" pitchFamily="34" charset="0"/>
                <a:cs typeface="Arial" panose="020B0604020202020204" pitchFamily="34" charset="0"/>
              </a:rPr>
              <a:t>Setup AOI Label Inspection Station.</a:t>
            </a:r>
            <a:endParaRPr lang="en-US" sz="1100" b="1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Set up an additional AOI Label Station at Packing VI to automatically verify DSN label content</a:t>
            </a:r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76786" y="5280053"/>
            <a:ext cx="2540741" cy="13619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100" b="1" dirty="0" smtClean="0">
                <a:latin typeface="Arial" panose="020B0604020202020204" pitchFamily="34" charset="0"/>
                <a:cs typeface="Arial" panose="020B0604020202020204" pitchFamily="34" charset="0"/>
              </a:rPr>
              <a:t>Quality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Reduce </a:t>
            </a:r>
            <a:r>
              <a:rPr lang="vi-VN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inspection variation.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Maintain inspection accuracy.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Reduce missing inspection items.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Standardize inspection process.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8748406" y="5286142"/>
            <a:ext cx="2641351" cy="13619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100" b="1" dirty="0" smtClean="0">
                <a:latin typeface="Arial" panose="020B0604020202020204" pitchFamily="34" charset="0"/>
                <a:cs typeface="Arial" panose="020B0604020202020204" pitchFamily="34" charset="0"/>
              </a:rPr>
              <a:t>Productivity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Reduce </a:t>
            </a:r>
            <a:r>
              <a:rPr lang="vi-VN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3 -&gt; 1 stations.</a:t>
            </a:r>
            <a:endParaRPr lang="en-US" sz="11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Save operator manpower.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Improve production efficiency.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Shorten production cycle time.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130557" y="995797"/>
            <a:ext cx="5293757" cy="23775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1100" dirty="0">
                <a:cs typeface="Arial" panose="020B0604020202020204" pitchFamily="34" charset="0"/>
              </a:rPr>
              <a:t>Scan the DSN Label and retrieve the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corresponding model information from SFIS</a:t>
            </a:r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sz="11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AOI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compares :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Model information from SFIS.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Actual model information on the physical label.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Label artwork/content according to the approved specification.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If the information matches -&gt; </a:t>
            </a:r>
            <a:r>
              <a:rPr lang="en-US" sz="11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PASS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If the information does not match -&gt; </a:t>
            </a:r>
            <a:r>
              <a:rPr lang="en-US" sz="11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FAIL / NG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, preventing the wrong label from proceeding to the next </a:t>
            </a:r>
            <a:r>
              <a:rPr lang="vi-VN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process.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122" y="3354369"/>
            <a:ext cx="2500460" cy="1560480"/>
          </a:xfrm>
          <a:prstGeom prst="rect">
            <a:avLst/>
          </a:prstGeom>
        </p:spPr>
      </p:pic>
      <p:pic>
        <p:nvPicPr>
          <p:cNvPr id="1026" name="Picture 2" descr="cid:image002.png@01DD139D.AE495E60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441" y="5454202"/>
            <a:ext cx="2730830" cy="1047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 descr="image008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5271" y="5454202"/>
            <a:ext cx="2041407" cy="1047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12"/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8146" y="3354369"/>
            <a:ext cx="2505456" cy="156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721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3183</TotalTime>
  <Words>233</Words>
  <Application>Microsoft Office PowerPoint</Application>
  <PresentationFormat>Widescreen</PresentationFormat>
  <Paragraphs>39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4" baseType="lpstr">
      <vt:lpstr>Amasis MT Pro Black</vt:lpstr>
      <vt:lpstr>DengXian</vt:lpstr>
      <vt:lpstr>HY그래픽M</vt:lpstr>
      <vt:lpstr>微軟正黑體</vt:lpstr>
      <vt:lpstr>新細明體</vt:lpstr>
      <vt:lpstr>宋体</vt:lpstr>
      <vt:lpstr>华文新魏</vt:lpstr>
      <vt:lpstr>Arial</vt:lpstr>
      <vt:lpstr>Calibri</vt:lpstr>
      <vt:lpstr>Trebuchet MS</vt:lpstr>
      <vt:lpstr>Wingdings</vt:lpstr>
      <vt:lpstr>Wingdings 3</vt:lpstr>
      <vt:lpstr>Facet</vt:lpstr>
      <vt:lpstr>PowerPoint Presentation</vt:lpstr>
    </vt:vector>
  </TitlesOfParts>
  <Company>Nothing1010.blogspot.com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Leon Than(THÂN NGỌC LONG_PVN)</dc:creator>
  <cp:lastModifiedBy>Leon Than(THÂN NGỌC LONG_PVN)</cp:lastModifiedBy>
  <cp:revision>68</cp:revision>
  <dcterms:created xsi:type="dcterms:W3CDTF">2025-12-22T09:14:40Z</dcterms:created>
  <dcterms:modified xsi:type="dcterms:W3CDTF">2026-08-21T06:23:12Z</dcterms:modified>
</cp:coreProperties>
</file>