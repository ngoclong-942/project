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563" autoAdjust="0"/>
    <p:restoredTop sz="90233" autoAdjust="0"/>
  </p:normalViewPr>
  <p:slideViewPr>
    <p:cSldViewPr snapToGrid="0">
      <p:cViewPr varScale="1">
        <p:scale>
          <a:sx n="104" d="100"/>
          <a:sy n="104" d="100"/>
        </p:scale>
        <p:origin x="15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CE30E-23A7-4AC7-BC16-53CE7F62F46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CCBEA-0906-45D6-B3FC-4BA0A35C7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6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CCBEA-0906-45D6-B3FC-4BA0A35C7F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3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6000">
              <a:schemeClr val="accent1">
                <a:lumMod val="5000"/>
                <a:lumOff val="95000"/>
              </a:schemeClr>
            </a:gs>
            <a:gs pos="19000">
              <a:schemeClr val="bg1">
                <a:lumMod val="75000"/>
              </a:schemeClr>
            </a:gs>
            <a:gs pos="93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 Diagonal Corner Rectangle 64"/>
          <p:cNvSpPr/>
          <p:nvPr/>
        </p:nvSpPr>
        <p:spPr>
          <a:xfrm>
            <a:off x="6034236" y="771156"/>
            <a:ext cx="5486400" cy="5870843"/>
          </a:xfrm>
          <a:prstGeom prst="round2DiagRect">
            <a:avLst>
              <a:gd name="adj1" fmla="val 11143"/>
              <a:gd name="adj2" fmla="val 0"/>
            </a:avLst>
          </a:prstGeom>
          <a:solidFill>
            <a:srgbClr val="E3E6E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77100" y="804306"/>
            <a:ext cx="10103170" cy="5870843"/>
            <a:chOff x="5150945" y="1812055"/>
            <a:chExt cx="12308160" cy="1739274"/>
          </a:xfrm>
        </p:grpSpPr>
        <p:sp>
          <p:nvSpPr>
            <p:cNvPr id="78" name="Round Diagonal Corner Rectangle 77"/>
            <p:cNvSpPr/>
            <p:nvPr/>
          </p:nvSpPr>
          <p:spPr>
            <a:xfrm>
              <a:off x="5150945" y="1812055"/>
              <a:ext cx="6683792" cy="1739274"/>
            </a:xfrm>
            <a:prstGeom prst="round2DiagRect">
              <a:avLst>
                <a:gd name="adj1" fmla="val 11143"/>
                <a:gd name="adj2" fmla="val 0"/>
              </a:avLst>
            </a:prstGeom>
            <a:solidFill>
              <a:srgbClr val="E3E6E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4"/>
            <p:cNvSpPr txBox="1"/>
            <p:nvPr/>
          </p:nvSpPr>
          <p:spPr>
            <a:xfrm>
              <a:off x="5487054" y="1948428"/>
              <a:ext cx="6151680" cy="547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23" name="TextBox 15"/>
            <p:cNvSpPr txBox="1"/>
            <p:nvPr/>
          </p:nvSpPr>
          <p:spPr>
            <a:xfrm>
              <a:off x="5544999" y="1864141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00B050"/>
                  </a:solidFill>
                  <a:latin typeface="Arial" charset="0"/>
                  <a:ea typeface="微軟正黑體" pitchFamily="34" charset="-120"/>
                  <a:sym typeface="+mn-ea"/>
                </a:rPr>
                <a:t>Before Improve</a:t>
              </a:r>
              <a:endParaRPr lang="en-US" altLang="zh-CN" sz="1600" dirty="0">
                <a:solidFill>
                  <a:srgbClr val="00B05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6" name="TextBox 15"/>
            <p:cNvSpPr txBox="1"/>
            <p:nvPr/>
          </p:nvSpPr>
          <p:spPr>
            <a:xfrm>
              <a:off x="5544999" y="2693877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chemeClr val="accent2"/>
                  </a:solidFill>
                  <a:latin typeface="Arial" charset="0"/>
                  <a:ea typeface="微軟正黑體" pitchFamily="34" charset="-120"/>
                  <a:sym typeface="+mn-ea"/>
                </a:rPr>
                <a:t>Details Improve</a:t>
              </a:r>
              <a:endParaRPr lang="en-US" altLang="zh-CN" sz="1600" dirty="0">
                <a:solidFill>
                  <a:schemeClr val="accent2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  <p:sp>
          <p:nvSpPr>
            <p:cNvPr id="47" name="TextBox 15"/>
            <p:cNvSpPr txBox="1"/>
            <p:nvPr/>
          </p:nvSpPr>
          <p:spPr>
            <a:xfrm>
              <a:off x="12646592" y="3080311"/>
              <a:ext cx="4812513" cy="729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1600" dirty="0" smtClean="0">
                  <a:solidFill>
                    <a:srgbClr val="7030A0"/>
                  </a:solidFill>
                  <a:latin typeface="Arial" charset="0"/>
                  <a:ea typeface="微軟正黑體" pitchFamily="34" charset="-120"/>
                  <a:sym typeface="+mn-ea"/>
                </a:rPr>
                <a:t>After Improve</a:t>
              </a:r>
              <a:endParaRPr lang="en-US" altLang="zh-CN" sz="1600" dirty="0">
                <a:solidFill>
                  <a:srgbClr val="7030A0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</p:grpSp>
      <p:sp>
        <p:nvSpPr>
          <p:cNvPr id="24" name="TextBox 14"/>
          <p:cNvSpPr txBox="1"/>
          <p:nvPr/>
        </p:nvSpPr>
        <p:spPr>
          <a:xfrm>
            <a:off x="5457870" y="5111578"/>
            <a:ext cx="6423394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0" name="群組 42"/>
          <p:cNvGrpSpPr/>
          <p:nvPr/>
        </p:nvGrpSpPr>
        <p:grpSpPr>
          <a:xfrm>
            <a:off x="195262" y="103592"/>
            <a:ext cx="11801476" cy="588751"/>
            <a:chOff x="195262" y="163202"/>
            <a:chExt cx="11801476" cy="588751"/>
          </a:xfrm>
        </p:grpSpPr>
        <p:sp>
          <p:nvSpPr>
            <p:cNvPr id="71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grpSp>
          <p:nvGrpSpPr>
            <p:cNvPr id="72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74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75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76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73" name="文字方塊 45"/>
            <p:cNvSpPr txBox="1"/>
            <p:nvPr/>
          </p:nvSpPr>
          <p:spPr>
            <a:xfrm>
              <a:off x="1563891" y="196222"/>
              <a:ext cx="10354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sz="24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itchFamily="34" charset="-120"/>
                  <a:cs typeface="Arial" panose="020B0604020202020204" pitchFamily="34" charset="0"/>
                  <a:sym typeface="+mn-ea"/>
                </a:rPr>
                <a:t>4P – CCX400 – Missing Screw Detection Accuracy Improvement</a:t>
              </a:r>
              <a:endPara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宋体" charset="0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34" name="群組 4"/>
          <p:cNvGrpSpPr/>
          <p:nvPr/>
        </p:nvGrpSpPr>
        <p:grpSpPr>
          <a:xfrm>
            <a:off x="11393101" y="6202812"/>
            <a:ext cx="852538" cy="655188"/>
            <a:chOff x="1677916" y="4156906"/>
            <a:chExt cx="337600" cy="259448"/>
          </a:xfrm>
        </p:grpSpPr>
        <p:sp>
          <p:nvSpPr>
            <p:cNvPr id="36" name="Oval 21"/>
            <p:cNvSpPr/>
            <p:nvPr/>
          </p:nvSpPr>
          <p:spPr>
            <a:xfrm rot="20111049">
              <a:off x="1677916" y="4156906"/>
              <a:ext cx="231072" cy="22007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rgbClr val="00B050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rgbClr val="00B050"/>
                </a:solidFill>
              </a:endParaRPr>
            </a:p>
          </p:txBody>
        </p:sp>
        <p:grpSp>
          <p:nvGrpSpPr>
            <p:cNvPr id="37" name="群組 6"/>
            <p:cNvGrpSpPr/>
            <p:nvPr/>
          </p:nvGrpSpPr>
          <p:grpSpPr>
            <a:xfrm>
              <a:off x="1804850" y="4300858"/>
              <a:ext cx="210666" cy="115496"/>
              <a:chOff x="2191565" y="4279903"/>
              <a:chExt cx="210666" cy="115496"/>
            </a:xfrm>
          </p:grpSpPr>
          <p:sp>
            <p:nvSpPr>
              <p:cNvPr id="38" name="文字方塊 7"/>
              <p:cNvSpPr txBox="1"/>
              <p:nvPr/>
            </p:nvSpPr>
            <p:spPr>
              <a:xfrm>
                <a:off x="2201153" y="4279903"/>
                <a:ext cx="165243" cy="97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00" b="1" dirty="0" smtClean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itchFamily="34" charset="0"/>
                  </a:rPr>
                  <a:t>FME</a:t>
                </a:r>
                <a:endParaRPr lang="zh-TW" altLang="en-US" sz="1000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itchFamily="34" charset="0"/>
                </a:endParaRPr>
              </a:p>
            </p:txBody>
          </p:sp>
          <p:sp>
            <p:nvSpPr>
              <p:cNvPr id="39" name="文字方塊 8"/>
              <p:cNvSpPr txBox="1"/>
              <p:nvPr/>
            </p:nvSpPr>
            <p:spPr>
              <a:xfrm>
                <a:off x="2191565" y="4328367"/>
                <a:ext cx="210666" cy="6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BG6</a:t>
                </a:r>
                <a:r>
                  <a:rPr lang="zh-TW" altLang="en-US" sz="500" b="1" dirty="0">
                    <a:ln w="3175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altLang="zh-TW" sz="500" b="1" dirty="0">
                    <a:ln w="0">
                      <a:noFill/>
                    </a:ln>
                    <a:solidFill>
                      <a:srgbClr val="00B050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itchFamily="34" charset="0"/>
                    <a:cs typeface="Arial" pitchFamily="34" charset="0"/>
                  </a:rPr>
                  <a:t>PVN</a:t>
                </a:r>
                <a:endParaRPr lang="zh-TW" altLang="en-US" sz="500" b="1" dirty="0">
                  <a:ln w="0">
                    <a:noFill/>
                  </a:ln>
                  <a:solidFill>
                    <a:srgbClr val="00B050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235774" y="1186773"/>
            <a:ext cx="5266837" cy="2608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AOI External Station detects Missing Screw at Position 7 incorrectly.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AI recognition result is affected by environmental light variation.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Open inspection area allows external light to enter the camera field.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Brightness changes cause unstable image quality and false NG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judgement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Increased false call rate.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Reduced AOI inspection efficiency.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Risk of unnecessary product hold.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35774" y="4002630"/>
            <a:ext cx="4817072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Improvement #1 – AI Model Optimization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Collect false detection cases from production and compare production images with training images.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Identify brightness variation at screw inspection area.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Retrain and 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US" sz="1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PegaAI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recognition model.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761" y="2654824"/>
            <a:ext cx="1634642" cy="117958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413" y="2918417"/>
            <a:ext cx="730069" cy="702257"/>
          </a:xfrm>
          <a:prstGeom prst="rect">
            <a:avLst/>
          </a:prstGeom>
        </p:spPr>
      </p:pic>
      <p:sp>
        <p:nvSpPr>
          <p:cNvPr id="50" name="Right Arrow 49"/>
          <p:cNvSpPr/>
          <p:nvPr/>
        </p:nvSpPr>
        <p:spPr>
          <a:xfrm>
            <a:off x="4460640" y="3166046"/>
            <a:ext cx="324535" cy="2307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8-Point Star 50"/>
          <p:cNvSpPr/>
          <p:nvPr/>
        </p:nvSpPr>
        <p:spPr>
          <a:xfrm>
            <a:off x="3677245" y="3112967"/>
            <a:ext cx="337400" cy="263293"/>
          </a:xfrm>
          <a:prstGeom prst="star8">
            <a:avLst>
              <a:gd name="adj" fmla="val 31351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093332" y="2184999"/>
            <a:ext cx="4817072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Improvement #2 – Build Fixed Inspection Box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Design a closed inspection box for AOI External Station.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Use black internal panels to absorb ambient light.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Isolate external factory lighting.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Stabilize image acquisition conditions.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945" y="4743035"/>
            <a:ext cx="612805" cy="593804"/>
          </a:xfrm>
          <a:prstGeom prst="rect">
            <a:avLst/>
          </a:prstGeom>
        </p:spPr>
      </p:pic>
      <p:pic>
        <p:nvPicPr>
          <p:cNvPr id="54" name="Picture 53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836" y="4743035"/>
            <a:ext cx="612648" cy="594360"/>
          </a:xfrm>
          <a:prstGeom prst="rect">
            <a:avLst/>
          </a:prstGeom>
        </p:spPr>
      </p:pic>
      <p:sp>
        <p:nvSpPr>
          <p:cNvPr id="55" name="Left-Right Arrow 54"/>
          <p:cNvSpPr/>
          <p:nvPr/>
        </p:nvSpPr>
        <p:spPr>
          <a:xfrm>
            <a:off x="4560159" y="4959874"/>
            <a:ext cx="283820" cy="19238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143" y="5749897"/>
            <a:ext cx="2257005" cy="754426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464" y="5495892"/>
            <a:ext cx="1963962" cy="1096877"/>
          </a:xfrm>
          <a:prstGeom prst="rect">
            <a:avLst/>
          </a:prstGeom>
        </p:spPr>
      </p:pic>
      <p:sp>
        <p:nvSpPr>
          <p:cNvPr id="58" name="Right Arrow 57"/>
          <p:cNvSpPr/>
          <p:nvPr/>
        </p:nvSpPr>
        <p:spPr>
          <a:xfrm>
            <a:off x="2507308" y="6064585"/>
            <a:ext cx="395227" cy="2191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4403354" y="6044330"/>
            <a:ext cx="53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smtClean="0">
                <a:solidFill>
                  <a:srgbClr val="FF0000"/>
                </a:solidFill>
                <a:latin typeface="+mj-lt"/>
              </a:rPr>
              <a:t>NG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61" name="Picture 60"/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243" y="1049859"/>
            <a:ext cx="1965960" cy="1097280"/>
          </a:xfrm>
          <a:prstGeom prst="rect">
            <a:avLst/>
          </a:prstGeom>
        </p:spPr>
      </p:pic>
      <p:pic>
        <p:nvPicPr>
          <p:cNvPr id="63" name="Picture 62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082105" y="1303720"/>
            <a:ext cx="2258568" cy="758952"/>
          </a:xfrm>
          <a:prstGeom prst="rect">
            <a:avLst/>
          </a:prstGeom>
        </p:spPr>
      </p:pic>
      <p:sp>
        <p:nvSpPr>
          <p:cNvPr id="64" name="Right Arrow 63"/>
          <p:cNvSpPr/>
          <p:nvPr/>
        </p:nvSpPr>
        <p:spPr>
          <a:xfrm>
            <a:off x="8439656" y="1555806"/>
            <a:ext cx="395227" cy="2191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10473835" y="1612767"/>
            <a:ext cx="53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smtClean="0">
                <a:solidFill>
                  <a:srgbClr val="00B050"/>
                </a:solidFill>
                <a:latin typeface="+mj-lt"/>
              </a:rPr>
              <a:t>OK</a:t>
            </a:r>
            <a:endParaRPr lang="en-US" dirty="0">
              <a:solidFill>
                <a:srgbClr val="00B050"/>
              </a:solidFill>
              <a:latin typeface="+mj-lt"/>
            </a:endParaRPr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200621" y="3702500"/>
            <a:ext cx="1401439" cy="1051079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6076786" y="5280053"/>
            <a:ext cx="3180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false NG judgement.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Missing Screw detection accuracy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Increase customer confidence</a:t>
            </a: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082105" y="5296244"/>
            <a:ext cx="26413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Productivity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Reduce operator review workload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AOI station efficiency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Shorten product verification time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ight Arrow 84"/>
          <p:cNvSpPr/>
          <p:nvPr/>
        </p:nvSpPr>
        <p:spPr>
          <a:xfrm>
            <a:off x="7575455" y="4147005"/>
            <a:ext cx="395227" cy="2191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ight Arrow 85"/>
          <p:cNvSpPr/>
          <p:nvPr/>
        </p:nvSpPr>
        <p:spPr>
          <a:xfrm>
            <a:off x="9555985" y="4126802"/>
            <a:ext cx="395227" cy="2191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335" y="3473002"/>
            <a:ext cx="1127634" cy="1441847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257" y="3510437"/>
            <a:ext cx="1266222" cy="141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2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1597</TotalTime>
  <Words>185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5" baseType="lpstr">
      <vt:lpstr>Amasis MT Pro Black</vt:lpstr>
      <vt:lpstr>DengXian</vt:lpstr>
      <vt:lpstr>HY그래픽M</vt:lpstr>
      <vt:lpstr>微軟正黑體</vt:lpstr>
      <vt:lpstr>新細明體</vt:lpstr>
      <vt:lpstr>宋体</vt:lpstr>
      <vt:lpstr>华文新魏</vt:lpstr>
      <vt:lpstr>Arial</vt:lpstr>
      <vt:lpstr>Calibri</vt:lpstr>
      <vt:lpstr>Tahoma</vt:lpstr>
      <vt:lpstr>Trebuchet MS</vt:lpstr>
      <vt:lpstr>Wingdings</vt:lpstr>
      <vt:lpstr>Wingdings 3</vt:lpstr>
      <vt:lpstr>Facet</vt:lpstr>
      <vt:lpstr>PowerPoint Presentation</vt:lpstr>
    </vt:vector>
  </TitlesOfParts>
  <Company>Nothing1010.blogspot.com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 Than(THÂN NGỌC LONG_PVN)</dc:creator>
  <cp:lastModifiedBy>Leon Than(THÂN NGỌC LONG_PVN)</cp:lastModifiedBy>
  <cp:revision>65</cp:revision>
  <dcterms:created xsi:type="dcterms:W3CDTF">2025-12-22T09:14:40Z</dcterms:created>
  <dcterms:modified xsi:type="dcterms:W3CDTF">2026-06-24T02:41:12Z</dcterms:modified>
</cp:coreProperties>
</file>