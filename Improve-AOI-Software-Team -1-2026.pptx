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/>
          <p:nvPr/>
        </p:nvPicPr>
        <p:blipFill>
          <a:blip r:embed="rId2">
            <a:lum bright="-20001"/>
          </a:blip>
          <a:stretch>
            <a:fillRect/>
          </a:stretch>
        </p:blipFill>
        <p:spPr>
          <a:xfrm>
            <a:off x="9990144" y="903405"/>
            <a:ext cx="2063612" cy="553666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" name="群組 4"/>
          <p:cNvGrpSpPr/>
          <p:nvPr/>
        </p:nvGrpSpPr>
        <p:grpSpPr>
          <a:xfrm>
            <a:off x="11201218" y="6071600"/>
            <a:ext cx="852538" cy="655188"/>
            <a:chOff x="1677916" y="4156906"/>
            <a:chExt cx="337600" cy="259448"/>
          </a:xfrm>
        </p:grpSpPr>
        <p:sp>
          <p:nvSpPr>
            <p:cNvPr id="7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8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9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10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4" name="群組 42"/>
          <p:cNvGrpSpPr/>
          <p:nvPr/>
        </p:nvGrpSpPr>
        <p:grpSpPr>
          <a:xfrm>
            <a:off x="195262" y="103592"/>
            <a:ext cx="11801476" cy="588751"/>
            <a:chOff x="195262" y="163202"/>
            <a:chExt cx="11801476" cy="588751"/>
          </a:xfrm>
        </p:grpSpPr>
        <p:sp>
          <p:nvSpPr>
            <p:cNvPr id="15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16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2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7" name="文字方塊 45"/>
            <p:cNvSpPr txBox="1"/>
            <p:nvPr/>
          </p:nvSpPr>
          <p:spPr>
            <a:xfrm>
              <a:off x="1563891" y="196222"/>
              <a:ext cx="10354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PVN- LINE </a:t>
              </a:r>
              <a:r>
                <a:rPr lang="vi-VN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4</a:t>
              </a:r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K- Improve station </a:t>
              </a:r>
              <a:r>
                <a:rPr lang="vi-VN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AOI </a:t>
              </a:r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Carton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71" y="1715573"/>
            <a:ext cx="7370253" cy="48026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7192" y="1087739"/>
            <a:ext cx="511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AOI Carton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98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lowchart: Alternate Process 79"/>
          <p:cNvSpPr/>
          <p:nvPr/>
        </p:nvSpPr>
        <p:spPr>
          <a:xfrm>
            <a:off x="267323" y="885847"/>
            <a:ext cx="4396926" cy="620726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 Diagonal Corner Rectangle 77"/>
          <p:cNvSpPr/>
          <p:nvPr/>
        </p:nvSpPr>
        <p:spPr>
          <a:xfrm>
            <a:off x="5311877" y="808583"/>
            <a:ext cx="6606578" cy="6002526"/>
          </a:xfrm>
          <a:prstGeom prst="round2DiagRect">
            <a:avLst/>
          </a:prstGeom>
          <a:solidFill>
            <a:srgbClr val="E3E6E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4"/>
          <p:cNvSpPr txBox="1"/>
          <p:nvPr/>
        </p:nvSpPr>
        <p:spPr>
          <a:xfrm>
            <a:off x="5703464" y="1500151"/>
            <a:ext cx="591442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During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production: The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Operator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 </a:t>
            </a:r>
            <a:r>
              <a:rPr lang="vi-VN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(OP)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 may make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incorrect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actions and arrange products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not according to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SOP</a:t>
            </a:r>
          </a:p>
          <a:p>
            <a:pPr marL="171450" indent="-171450">
              <a:buFontTx/>
              <a:buChar char="-"/>
            </a:pP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This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leads to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failure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in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 ensuring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the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quality and accuracy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of 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the carton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packaging process.</a:t>
            </a:r>
            <a:endParaRPr lang="vi-VN" altLang="zh-CN" sz="1200" dirty="0" smtClean="0">
              <a:latin typeface="Arial" charset="0"/>
              <a:ea typeface="DengXian" panose="02010600030101010101" pitchFamily="2" charset="-122"/>
              <a:sym typeface="+mn-ea"/>
            </a:endParaRPr>
          </a:p>
        </p:txBody>
      </p:sp>
      <p:sp>
        <p:nvSpPr>
          <p:cNvPr id="20" name="TextBox 14"/>
          <p:cNvSpPr txBox="1"/>
          <p:nvPr/>
        </p:nvSpPr>
        <p:spPr>
          <a:xfrm>
            <a:off x="5702271" y="2604868"/>
            <a:ext cx="607896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Program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Improvement :</a:t>
            </a:r>
            <a:endParaRPr lang="en-US" sz="1200" dirty="0" smtClean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Added a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camera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function to check the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product status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and ensure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all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units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are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correctly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arranged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inside the carton.</a:t>
            </a:r>
            <a:endParaRPr lang="vi-VN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If the unit is not placed at the correct position =&gt; The program fails and carton printing is disabled.</a:t>
            </a:r>
            <a:endParaRPr lang="vi-VN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PLC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Improvement :</a:t>
            </a:r>
            <a:endParaRPr lang="en-US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Integrated PLC checking to verify the product quantity and correctness.</a:t>
            </a:r>
          </a:p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When the operator arrange product incorrect =&gt; The program fails =&gt; Red warning light and alarm signal are activated</a:t>
            </a:r>
            <a:endParaRPr lang="en-US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</p:txBody>
      </p:sp>
      <p:sp>
        <p:nvSpPr>
          <p:cNvPr id="21" name="TextBox 13"/>
          <p:cNvSpPr txBox="1"/>
          <p:nvPr/>
        </p:nvSpPr>
        <p:spPr>
          <a:xfrm>
            <a:off x="5702271" y="4346585"/>
            <a:ext cx="4802007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rgbClr val="004B00"/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22" name="TextBox 13"/>
          <p:cNvSpPr txBox="1"/>
          <p:nvPr/>
        </p:nvSpPr>
        <p:spPr>
          <a:xfrm>
            <a:off x="5662381" y="1189981"/>
            <a:ext cx="4830581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23" name="TextBox 15"/>
          <p:cNvSpPr txBox="1"/>
          <p:nvPr/>
        </p:nvSpPr>
        <p:spPr>
          <a:xfrm>
            <a:off x="5662381" y="2281304"/>
            <a:ext cx="4812513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5702271" y="4137953"/>
            <a:ext cx="6423394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0" name="群組 42"/>
          <p:cNvGrpSpPr/>
          <p:nvPr/>
        </p:nvGrpSpPr>
        <p:grpSpPr>
          <a:xfrm>
            <a:off x="195262" y="103592"/>
            <a:ext cx="11801476" cy="588751"/>
            <a:chOff x="195262" y="163202"/>
            <a:chExt cx="11801476" cy="588751"/>
          </a:xfrm>
        </p:grpSpPr>
        <p:sp>
          <p:nvSpPr>
            <p:cNvPr id="71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72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74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75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76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73" name="文字方塊 45"/>
            <p:cNvSpPr txBox="1"/>
            <p:nvPr/>
          </p:nvSpPr>
          <p:spPr>
            <a:xfrm>
              <a:off x="1563891" y="196222"/>
              <a:ext cx="10354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PVN- LINE </a:t>
              </a:r>
              <a:r>
                <a:rPr lang="vi-VN" sz="24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4</a:t>
              </a:r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K- Improve station </a:t>
              </a:r>
              <a:r>
                <a:rPr lang="vi-VN" sz="24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AOI </a:t>
              </a:r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Carton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sp>
        <p:nvSpPr>
          <p:cNvPr id="79" name="文本框 73"/>
          <p:cNvSpPr txBox="1"/>
          <p:nvPr/>
        </p:nvSpPr>
        <p:spPr>
          <a:xfrm>
            <a:off x="267322" y="911465"/>
            <a:ext cx="45807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</a:t>
            </a:r>
            <a:r>
              <a:rPr lang="en-US" altLang="zh-CN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:</a:t>
            </a:r>
            <a:r>
              <a:rPr lang="vi-VN" altLang="en-US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 4</a:t>
            </a:r>
            <a:r>
              <a:rPr lang="en-US" altLang="en-US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K</a:t>
            </a:r>
            <a:r>
              <a:rPr lang="en-US" altLang="zh-CN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– Panasonic – </a:t>
            </a:r>
            <a:r>
              <a:rPr lang="en-US" altLang="zh-CN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S</a:t>
            </a:r>
            <a:r>
              <a:rPr lang="vi-VN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tation AOI</a:t>
            </a:r>
            <a:r>
              <a:rPr lang="en-US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Carton</a:t>
            </a:r>
            <a:endParaRPr lang="en-US" sz="1100" i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Model</a:t>
            </a:r>
            <a:r>
              <a:rPr lang="vi-VN" altLang="en-US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: Model </a:t>
            </a:r>
            <a:r>
              <a:rPr lang="en-US" altLang="en-US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Panasonic</a:t>
            </a:r>
            <a:endParaRPr lang="en-US" altLang="zh-CN" sz="1100" i="1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  <a:sym typeface="+mn-ea"/>
              </a:rPr>
              <a:t>Improvement: </a:t>
            </a:r>
            <a:r>
              <a:rPr lang="en-US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Improve </a:t>
            </a:r>
            <a:r>
              <a:rPr lang="vi-VN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station AOI</a:t>
            </a:r>
            <a:r>
              <a:rPr lang="en-US" sz="1100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</a:t>
            </a:r>
            <a:r>
              <a:rPr lang="en-US" sz="1100" i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Carton</a:t>
            </a:r>
            <a:endParaRPr lang="vi-VN" altLang="vi-VN" sz="1100" i="1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8189" y="1631871"/>
            <a:ext cx="4889821" cy="52261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5217" y="1853845"/>
            <a:ext cx="1722004" cy="1291503"/>
          </a:xfrm>
          <a:prstGeom prst="rect">
            <a:avLst/>
          </a:prstGeom>
        </p:spPr>
      </p:pic>
      <p:pic>
        <p:nvPicPr>
          <p:cNvPr id="6" name="Picture 5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71401" y="1852875"/>
            <a:ext cx="1719072" cy="1289304"/>
          </a:xfrm>
          <a:prstGeom prst="rect">
            <a:avLst/>
          </a:prstGeom>
        </p:spPr>
      </p:pic>
      <p:sp>
        <p:nvSpPr>
          <p:cNvPr id="26" name="圆角矩形 5"/>
          <p:cNvSpPr/>
          <p:nvPr/>
        </p:nvSpPr>
        <p:spPr>
          <a:xfrm>
            <a:off x="1096715" y="6382518"/>
            <a:ext cx="2711446" cy="428590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Station 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P6</a:t>
            </a:r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Carton Label) after 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</a:rPr>
              <a:t>improve</a:t>
            </a:r>
            <a:endParaRPr lang="en-US" altLang="zh-CN" sz="1200" dirty="0">
              <a:solidFill>
                <a:sysClr val="windowText" lastClr="000000"/>
              </a:solidFill>
              <a:ea typeface="SimSun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" y="3834300"/>
            <a:ext cx="1747620" cy="1167374"/>
          </a:xfrm>
          <a:prstGeom prst="rect">
            <a:avLst/>
          </a:prstGeom>
        </p:spPr>
      </p:pic>
      <p:pic>
        <p:nvPicPr>
          <p:cNvPr id="12" name="Picture 11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71792" y="5165194"/>
            <a:ext cx="1746504" cy="1170432"/>
          </a:xfrm>
          <a:prstGeom prst="rect">
            <a:avLst/>
          </a:prstGeom>
        </p:spPr>
      </p:pic>
      <p:sp>
        <p:nvSpPr>
          <p:cNvPr id="33" name="Notched Right Arrow 32"/>
          <p:cNvSpPr/>
          <p:nvPr/>
        </p:nvSpPr>
        <p:spPr>
          <a:xfrm>
            <a:off x="2321804" y="5032973"/>
            <a:ext cx="261269" cy="154183"/>
          </a:xfrm>
          <a:prstGeom prst="notch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圆角矩形 5"/>
          <p:cNvSpPr/>
          <p:nvPr/>
        </p:nvSpPr>
        <p:spPr>
          <a:xfrm>
            <a:off x="1117215" y="3326383"/>
            <a:ext cx="2711446" cy="464336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Station 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P6</a:t>
            </a:r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Carton Label</a:t>
            </a:r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</a:rPr>
              <a:t>before </a:t>
            </a:r>
            <a:r>
              <a:rPr lang="en-US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</a:rPr>
              <a:t>improve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635" y="3828208"/>
            <a:ext cx="1741838" cy="1173466"/>
          </a:xfrm>
          <a:prstGeom prst="rect">
            <a:avLst/>
          </a:prstGeom>
        </p:spPr>
      </p:pic>
      <p:pic>
        <p:nvPicPr>
          <p:cNvPr id="5" name="Pictur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85" y="5175997"/>
            <a:ext cx="1746504" cy="1170432"/>
          </a:xfrm>
          <a:prstGeom prst="rect">
            <a:avLst/>
          </a:prstGeom>
        </p:spPr>
      </p:pic>
      <p:grpSp>
        <p:nvGrpSpPr>
          <p:cNvPr id="34" name="群組 4"/>
          <p:cNvGrpSpPr/>
          <p:nvPr/>
        </p:nvGrpSpPr>
        <p:grpSpPr>
          <a:xfrm>
            <a:off x="11273127" y="6054924"/>
            <a:ext cx="852538" cy="655188"/>
            <a:chOff x="1677916" y="4156906"/>
            <a:chExt cx="337600" cy="259448"/>
          </a:xfrm>
        </p:grpSpPr>
        <p:sp>
          <p:nvSpPr>
            <p:cNvPr id="36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37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38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39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40" name="TextBox 14"/>
          <p:cNvSpPr txBox="1"/>
          <p:nvPr/>
        </p:nvSpPr>
        <p:spPr>
          <a:xfrm>
            <a:off x="5702271" y="4649767"/>
            <a:ext cx="607896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The AOI system automatically verify carton arrangement before printing label.</a:t>
            </a:r>
          </a:p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Incorrect cartons are detected immediately and prevented from entering the next process</a:t>
            </a:r>
          </a:p>
          <a:p>
            <a:pPr marL="171450" indent="-171450">
              <a:buFontTx/>
              <a:buChar char="-"/>
            </a:pP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Operator dependency is reduced, ensuring consistent packaging quality</a:t>
            </a:r>
            <a:endParaRPr lang="vi-VN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920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</TotalTime>
  <Words>214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4" baseType="lpstr">
      <vt:lpstr>Amasis MT Pro Black</vt:lpstr>
      <vt:lpstr>DengXian</vt:lpstr>
      <vt:lpstr>HY그래픽M</vt:lpstr>
      <vt:lpstr>微軟正黑體</vt:lpstr>
      <vt:lpstr>SimSun</vt:lpstr>
      <vt:lpstr>SimSun</vt:lpstr>
      <vt:lpstr>华文新魏</vt:lpstr>
      <vt:lpstr>Arial</vt:lpstr>
      <vt:lpstr>Times New Roman</vt:lpstr>
      <vt:lpstr>Trebuchet MS</vt:lpstr>
      <vt:lpstr>Wingdings 3</vt:lpstr>
      <vt:lpstr>Facet</vt:lpstr>
      <vt:lpstr>PowerPoint Presentation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 Than(THÂN NGỌC LONG_PVN)</dc:creator>
  <cp:lastModifiedBy>Leon Than(THÂN NGỌC LONG_PVN)</cp:lastModifiedBy>
  <cp:revision>21</cp:revision>
  <dcterms:created xsi:type="dcterms:W3CDTF">2025-12-22T09:14:40Z</dcterms:created>
  <dcterms:modified xsi:type="dcterms:W3CDTF">2026-01-12T07:02:07Z</dcterms:modified>
</cp:coreProperties>
</file>