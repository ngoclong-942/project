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459" autoAdjust="0"/>
    <p:restoredTop sz="90349" autoAdjust="0"/>
  </p:normalViewPr>
  <p:slideViewPr>
    <p:cSldViewPr snapToGrid="0">
      <p:cViewPr varScale="1">
        <p:scale>
          <a:sx n="94" d="100"/>
          <a:sy n="94" d="100"/>
        </p:scale>
        <p:origin x="8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7CE30E-23A7-4AC7-BC16-53CE7F62F46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CCBEA-0906-45D6-B3FC-4BA0A35C7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169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smtClean="0">
                <a:solidFill>
                  <a:srgbClr val="FF0000"/>
                </a:solidFill>
              </a:rPr>
              <a:t>1.</a:t>
            </a:r>
            <a:r>
              <a:rPr lang="zh-TW" altLang="en-US" dirty="0" smtClean="0">
                <a:solidFill>
                  <a:srgbClr val="FF0000"/>
                </a:solidFill>
              </a:rPr>
              <a:t> 看不懂改成</a:t>
            </a:r>
            <a:r>
              <a:rPr lang="en-US" altLang="zh-TW" dirty="0" smtClean="0">
                <a:solidFill>
                  <a:srgbClr val="FF0000"/>
                </a:solidFill>
              </a:rPr>
              <a:t>bypass</a:t>
            </a:r>
            <a:r>
              <a:rPr lang="zh-TW" altLang="en-US" dirty="0" smtClean="0">
                <a:solidFill>
                  <a:srgbClr val="FF0000"/>
                </a:solidFill>
              </a:rPr>
              <a:t>的用意是什麼</a:t>
            </a:r>
            <a:r>
              <a:rPr lang="en-US" altLang="zh-TW" dirty="0" smtClean="0">
                <a:solidFill>
                  <a:srgbClr val="FF0000"/>
                </a:solidFill>
              </a:rPr>
              <a:t>?</a:t>
            </a:r>
            <a:r>
              <a:rPr lang="vi-VN" altLang="zh-TW" dirty="0" smtClean="0">
                <a:solidFill>
                  <a:srgbClr val="FF0000"/>
                </a:solidFill>
              </a:rPr>
              <a:t>  -&gt; </a:t>
            </a:r>
            <a:r>
              <a:rPr lang="en-US" altLang="zh-TW" dirty="0" smtClean="0">
                <a:solidFill>
                  <a:srgbClr val="FF0000"/>
                </a:solidFill>
              </a:rPr>
              <a:t>The purpose of the bypass is that since the K10 and WET stations were previously </a:t>
            </a:r>
            <a:r>
              <a:rPr lang="vi-VN" altLang="zh-TW" dirty="0" smtClean="0">
                <a:solidFill>
                  <a:srgbClr val="FF0000"/>
                </a:solidFill>
              </a:rPr>
              <a:t>operate</a:t>
            </a:r>
            <a:r>
              <a:rPr lang="en-US" altLang="zh-TW" dirty="0" smtClean="0">
                <a:solidFill>
                  <a:srgbClr val="FF0000"/>
                </a:solidFill>
              </a:rPr>
              <a:t> manually, the AOI machine only task is to transport the </a:t>
            </a:r>
            <a:r>
              <a:rPr lang="vi-VN" altLang="zh-TW" dirty="0" smtClean="0">
                <a:solidFill>
                  <a:srgbClr val="FF0000"/>
                </a:solidFill>
              </a:rPr>
              <a:t>carton</a:t>
            </a:r>
            <a:r>
              <a:rPr lang="en-US" altLang="zh-TW" dirty="0" smtClean="0">
                <a:solidFill>
                  <a:srgbClr val="FF0000"/>
                </a:solidFill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smtClean="0">
                <a:solidFill>
                  <a:srgbClr val="FF0000"/>
                </a:solidFill>
              </a:rPr>
              <a:t>2.</a:t>
            </a:r>
            <a:r>
              <a:rPr lang="zh-TW" altLang="en-US" dirty="0" smtClean="0">
                <a:solidFill>
                  <a:srgbClr val="FF0000"/>
                </a:solidFill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Zumba</a:t>
            </a:r>
            <a:r>
              <a:rPr lang="zh-TW" altLang="en-US" dirty="0" smtClean="0">
                <a:solidFill>
                  <a:srgbClr val="FF0000"/>
                </a:solidFill>
              </a:rPr>
              <a:t>不用檢查嗎</a:t>
            </a:r>
            <a:r>
              <a:rPr lang="en-US" altLang="zh-TW" dirty="0" smtClean="0">
                <a:solidFill>
                  <a:srgbClr val="FF0000"/>
                </a:solidFill>
              </a:rPr>
              <a:t>?</a:t>
            </a:r>
            <a:r>
              <a:rPr lang="vi-VN" altLang="zh-TW" dirty="0" smtClean="0">
                <a:solidFill>
                  <a:srgbClr val="FF0000"/>
                </a:solidFill>
              </a:rPr>
              <a:t>  -&gt; </a:t>
            </a:r>
            <a:r>
              <a:rPr lang="en-US" sz="1200" b="0" i="0" kern="1200" dirty="0" smtClean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Because the</a:t>
            </a:r>
            <a:r>
              <a:rPr lang="vi-VN" sz="1200" b="0" i="0" kern="1200" baseline="0" dirty="0" smtClean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smtClean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label</a:t>
            </a:r>
            <a:r>
              <a:rPr lang="vi-VN" sz="1200" b="0" i="0" kern="1200" dirty="0" smtClean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 of Zumba</a:t>
            </a:r>
            <a:r>
              <a:rPr lang="en-US" sz="1200" b="0" i="0" kern="1200" dirty="0" smtClean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 is positioned horizontally instead of vertically like the Yamaha/Panasonic models,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automatic AOI machine cannot be used.</a:t>
            </a:r>
            <a:r>
              <a:rPr lang="vi-V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thought that issue had been discussed</a:t>
            </a:r>
            <a:r>
              <a:rPr 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IE implemented the layout redesign.</a:t>
            </a:r>
            <a:endParaRPr lang="vi-V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smtClean="0">
                <a:solidFill>
                  <a:srgbClr val="FF0000"/>
                </a:solidFill>
              </a:rPr>
              <a:t>3.</a:t>
            </a:r>
            <a:r>
              <a:rPr lang="zh-TW" altLang="en-US" dirty="0" smtClean="0">
                <a:solidFill>
                  <a:srgbClr val="FF0000"/>
                </a:solidFill>
              </a:rPr>
              <a:t> 改善前後的成效是什麼</a:t>
            </a:r>
            <a:r>
              <a:rPr lang="en-US" altLang="zh-TW" dirty="0" smtClean="0">
                <a:solidFill>
                  <a:srgbClr val="FF0000"/>
                </a:solidFill>
              </a:rPr>
              <a:t>?</a:t>
            </a:r>
            <a:r>
              <a:rPr lang="zh-TW" altLang="en-US" dirty="0" smtClean="0">
                <a:solidFill>
                  <a:srgbClr val="FF0000"/>
                </a:solidFill>
              </a:rPr>
              <a:t> 增加</a:t>
            </a:r>
            <a:r>
              <a:rPr lang="en-US" altLang="zh-TW" dirty="0" smtClean="0">
                <a:solidFill>
                  <a:srgbClr val="FF0000"/>
                </a:solidFill>
              </a:rPr>
              <a:t>UPH</a:t>
            </a:r>
            <a:r>
              <a:rPr lang="zh-TW" altLang="en-US" dirty="0" smtClean="0">
                <a:solidFill>
                  <a:srgbClr val="FF0000"/>
                </a:solidFill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or? </a:t>
            </a:r>
            <a:r>
              <a:rPr lang="zh-TW" altLang="en-US" dirty="0" smtClean="0">
                <a:solidFill>
                  <a:srgbClr val="FF0000"/>
                </a:solidFill>
              </a:rPr>
              <a:t>請數據化</a:t>
            </a:r>
            <a:r>
              <a:rPr lang="vi-VN" altLang="zh-TW" dirty="0" smtClean="0">
                <a:solidFill>
                  <a:srgbClr val="FF0000"/>
                </a:solidFill>
              </a:rPr>
              <a:t> -&gt; </a:t>
            </a:r>
            <a:r>
              <a:rPr lang="en-US" altLang="zh-TW" dirty="0" smtClean="0">
                <a:solidFill>
                  <a:srgbClr val="FF0000"/>
                </a:solidFill>
              </a:rPr>
              <a:t>The effectiveness of improvements helps to enhance product quality and prevent the risk of errors during the work process. </a:t>
            </a:r>
            <a:r>
              <a:rPr lang="vi-VN" altLang="zh-TW" dirty="0" smtClean="0">
                <a:solidFill>
                  <a:srgbClr val="FF0000"/>
                </a:solidFill>
              </a:rPr>
              <a:t>I</a:t>
            </a:r>
            <a:r>
              <a:rPr lang="en-US" altLang="zh-TW" dirty="0" smtClean="0">
                <a:solidFill>
                  <a:srgbClr val="FF0000"/>
                </a:solidFill>
              </a:rPr>
              <a:t>t's difficult to provide data.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CCBEA-0906-45D6-B3FC-4BA0A35C7F8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430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6000">
              <a:schemeClr val="accent1">
                <a:lumMod val="5000"/>
                <a:lumOff val="95000"/>
              </a:schemeClr>
            </a:gs>
            <a:gs pos="19000">
              <a:schemeClr val="bg1">
                <a:lumMod val="75000"/>
              </a:schemeClr>
            </a:gs>
            <a:gs pos="93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jpe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ound Diagonal Corner Rectangle 64"/>
          <p:cNvSpPr/>
          <p:nvPr/>
        </p:nvSpPr>
        <p:spPr>
          <a:xfrm>
            <a:off x="6034236" y="771156"/>
            <a:ext cx="5486400" cy="5870843"/>
          </a:xfrm>
          <a:prstGeom prst="round2DiagRect">
            <a:avLst>
              <a:gd name="adj1" fmla="val 11143"/>
              <a:gd name="adj2" fmla="val 0"/>
            </a:avLst>
          </a:prstGeom>
          <a:solidFill>
            <a:srgbClr val="E3E6E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群組 2"/>
          <p:cNvGrpSpPr/>
          <p:nvPr/>
        </p:nvGrpSpPr>
        <p:grpSpPr>
          <a:xfrm>
            <a:off x="177100" y="804306"/>
            <a:ext cx="10033085" cy="5870843"/>
            <a:chOff x="5150945" y="1812055"/>
            <a:chExt cx="12222779" cy="1739274"/>
          </a:xfrm>
        </p:grpSpPr>
        <p:sp>
          <p:nvSpPr>
            <p:cNvPr id="78" name="Round Diagonal Corner Rectangle 77"/>
            <p:cNvSpPr/>
            <p:nvPr/>
          </p:nvSpPr>
          <p:spPr>
            <a:xfrm>
              <a:off x="5150945" y="1812055"/>
              <a:ext cx="6683792" cy="1739274"/>
            </a:xfrm>
            <a:prstGeom prst="round2DiagRect">
              <a:avLst>
                <a:gd name="adj1" fmla="val 11143"/>
                <a:gd name="adj2" fmla="val 0"/>
              </a:avLst>
            </a:prstGeom>
            <a:solidFill>
              <a:srgbClr val="E3E6E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TextBox 14"/>
            <p:cNvSpPr txBox="1"/>
            <p:nvPr/>
          </p:nvSpPr>
          <p:spPr>
            <a:xfrm>
              <a:off x="5487054" y="1948428"/>
              <a:ext cx="6151680" cy="5470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endParaRPr lang="vi-VN" sz="1200" dirty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endParaRPr>
            </a:p>
          </p:txBody>
        </p:sp>
        <p:sp>
          <p:nvSpPr>
            <p:cNvPr id="23" name="TextBox 15"/>
            <p:cNvSpPr txBox="1"/>
            <p:nvPr/>
          </p:nvSpPr>
          <p:spPr>
            <a:xfrm>
              <a:off x="5487055" y="1852418"/>
              <a:ext cx="4812513" cy="7294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/>
              <a:r>
                <a:rPr lang="en-US" altLang="zh-CN" sz="1600" dirty="0" smtClean="0">
                  <a:solidFill>
                    <a:srgbClr val="00B050"/>
                  </a:solidFill>
                  <a:latin typeface="Arial" charset="0"/>
                  <a:ea typeface="微軟正黑體" pitchFamily="34" charset="-120"/>
                  <a:sym typeface="+mn-ea"/>
                </a:rPr>
                <a:t>Before Improve</a:t>
              </a:r>
              <a:endParaRPr lang="en-US" altLang="zh-CN" sz="1600" dirty="0">
                <a:solidFill>
                  <a:srgbClr val="00B050"/>
                </a:solidFill>
                <a:latin typeface="Arial" charset="0"/>
                <a:ea typeface="微軟正黑體" pitchFamily="34" charset="-120"/>
                <a:sym typeface="+mn-ea"/>
              </a:endParaRPr>
            </a:p>
          </p:txBody>
        </p:sp>
        <p:sp>
          <p:nvSpPr>
            <p:cNvPr id="46" name="TextBox 15"/>
            <p:cNvSpPr txBox="1"/>
            <p:nvPr/>
          </p:nvSpPr>
          <p:spPr>
            <a:xfrm>
              <a:off x="5447695" y="2788784"/>
              <a:ext cx="4812513" cy="7294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/>
              <a:r>
                <a:rPr lang="en-US" altLang="zh-CN" sz="1600" dirty="0" smtClean="0">
                  <a:solidFill>
                    <a:schemeClr val="accent2"/>
                  </a:solidFill>
                  <a:latin typeface="Arial" charset="0"/>
                  <a:ea typeface="微軟正黑體" pitchFamily="34" charset="-120"/>
                  <a:sym typeface="+mn-ea"/>
                </a:rPr>
                <a:t>Details Improve</a:t>
              </a:r>
              <a:endParaRPr lang="en-US" altLang="zh-CN" sz="1600" dirty="0">
                <a:solidFill>
                  <a:schemeClr val="accent2"/>
                </a:solidFill>
                <a:latin typeface="Arial" charset="0"/>
                <a:ea typeface="微軟正黑體" pitchFamily="34" charset="-120"/>
                <a:sym typeface="+mn-ea"/>
              </a:endParaRPr>
            </a:p>
          </p:txBody>
        </p:sp>
        <p:sp>
          <p:nvSpPr>
            <p:cNvPr id="47" name="TextBox 15"/>
            <p:cNvSpPr txBox="1"/>
            <p:nvPr/>
          </p:nvSpPr>
          <p:spPr>
            <a:xfrm>
              <a:off x="12561211" y="2551910"/>
              <a:ext cx="4812513" cy="7294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/>
              <a:r>
                <a:rPr lang="en-US" altLang="zh-CN" sz="1600" dirty="0" smtClean="0">
                  <a:solidFill>
                    <a:srgbClr val="7030A0"/>
                  </a:solidFill>
                  <a:latin typeface="Arial" charset="0"/>
                  <a:ea typeface="微軟正黑體" pitchFamily="34" charset="-120"/>
                  <a:sym typeface="+mn-ea"/>
                </a:rPr>
                <a:t>After Improve</a:t>
              </a:r>
              <a:endParaRPr lang="en-US" altLang="zh-CN" sz="1600" dirty="0">
                <a:solidFill>
                  <a:srgbClr val="7030A0"/>
                </a:solidFill>
                <a:latin typeface="Arial" charset="0"/>
                <a:ea typeface="微軟正黑體" pitchFamily="34" charset="-120"/>
                <a:sym typeface="+mn-ea"/>
              </a:endParaRPr>
            </a:p>
          </p:txBody>
        </p:sp>
      </p:grpSp>
      <p:sp>
        <p:nvSpPr>
          <p:cNvPr id="24" name="TextBox 14"/>
          <p:cNvSpPr txBox="1"/>
          <p:nvPr/>
        </p:nvSpPr>
        <p:spPr>
          <a:xfrm>
            <a:off x="5457870" y="5111578"/>
            <a:ext cx="6423394" cy="1846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buFontTx/>
              <a:buChar char="-"/>
            </a:pPr>
            <a:endParaRPr lang="en-US" sz="1200" dirty="0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70" name="群組 42"/>
          <p:cNvGrpSpPr/>
          <p:nvPr/>
        </p:nvGrpSpPr>
        <p:grpSpPr>
          <a:xfrm>
            <a:off x="195262" y="103592"/>
            <a:ext cx="11801476" cy="588751"/>
            <a:chOff x="195262" y="163202"/>
            <a:chExt cx="11801476" cy="588751"/>
          </a:xfrm>
        </p:grpSpPr>
        <p:sp>
          <p:nvSpPr>
            <p:cNvPr id="71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  <p:grpSp>
          <p:nvGrpSpPr>
            <p:cNvPr id="72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74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75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76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3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73" name="文字方塊 45"/>
            <p:cNvSpPr txBox="1"/>
            <p:nvPr/>
          </p:nvSpPr>
          <p:spPr>
            <a:xfrm>
              <a:off x="1563891" y="196222"/>
              <a:ext cx="103545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en-US" sz="24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軟正黑體" pitchFamily="34" charset="-120"/>
                  <a:cs typeface="Arial" panose="020B0604020202020204" pitchFamily="34" charset="0"/>
                  <a:sym typeface="+mn-ea"/>
                </a:rPr>
                <a:t>4K – Zumba - Station AOI Carton – Improvement </a:t>
              </a:r>
              <a:endPara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宋体" charset="0"/>
                <a:cs typeface="Arial" panose="020B0604020202020204" pitchFamily="34" charset="0"/>
                <a:sym typeface="+mn-ea"/>
              </a:endParaRPr>
            </a:p>
          </p:txBody>
        </p:sp>
      </p:grpSp>
      <p:grpSp>
        <p:nvGrpSpPr>
          <p:cNvPr id="34" name="群組 4"/>
          <p:cNvGrpSpPr/>
          <p:nvPr/>
        </p:nvGrpSpPr>
        <p:grpSpPr>
          <a:xfrm>
            <a:off x="11393101" y="6202812"/>
            <a:ext cx="852538" cy="655188"/>
            <a:chOff x="1677916" y="4156906"/>
            <a:chExt cx="337600" cy="259448"/>
          </a:xfrm>
        </p:grpSpPr>
        <p:sp>
          <p:nvSpPr>
            <p:cNvPr id="36" name="Oval 21"/>
            <p:cNvSpPr/>
            <p:nvPr/>
          </p:nvSpPr>
          <p:spPr>
            <a:xfrm rot="20111049">
              <a:off x="1677916" y="4156906"/>
              <a:ext cx="231072" cy="220075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rgbClr val="00B050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>
                <a:solidFill>
                  <a:srgbClr val="00B050"/>
                </a:solidFill>
              </a:endParaRPr>
            </a:p>
          </p:txBody>
        </p:sp>
        <p:grpSp>
          <p:nvGrpSpPr>
            <p:cNvPr id="37" name="群組 6"/>
            <p:cNvGrpSpPr/>
            <p:nvPr/>
          </p:nvGrpSpPr>
          <p:grpSpPr>
            <a:xfrm>
              <a:off x="1804850" y="4300858"/>
              <a:ext cx="210666" cy="115496"/>
              <a:chOff x="2191565" y="4279903"/>
              <a:chExt cx="210666" cy="115496"/>
            </a:xfrm>
          </p:grpSpPr>
          <p:sp>
            <p:nvSpPr>
              <p:cNvPr id="38" name="文字方塊 7"/>
              <p:cNvSpPr txBox="1"/>
              <p:nvPr/>
            </p:nvSpPr>
            <p:spPr>
              <a:xfrm>
                <a:off x="2201153" y="4279903"/>
                <a:ext cx="165243" cy="975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000" b="1" dirty="0" smtClean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rgbClr val="00B050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itchFamily="34" charset="0"/>
                  </a:rPr>
                  <a:t>FME</a:t>
                </a:r>
                <a:endParaRPr lang="zh-TW" altLang="en-US" sz="1000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rgbClr val="00B050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itchFamily="34" charset="0"/>
                </a:endParaRPr>
              </a:p>
            </p:txBody>
          </p:sp>
          <p:sp>
            <p:nvSpPr>
              <p:cNvPr id="39" name="文字方塊 8"/>
              <p:cNvSpPr txBox="1"/>
              <p:nvPr/>
            </p:nvSpPr>
            <p:spPr>
              <a:xfrm>
                <a:off x="2191565" y="4328367"/>
                <a:ext cx="210666" cy="67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500" b="1" dirty="0">
                    <a:ln w="3175">
                      <a:noFill/>
                    </a:ln>
                    <a:solidFill>
                      <a:srgbClr val="00B050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itchFamily="34" charset="0"/>
                    <a:cs typeface="Arial" pitchFamily="34" charset="0"/>
                  </a:rPr>
                  <a:t>BG6</a:t>
                </a:r>
                <a:r>
                  <a:rPr lang="zh-TW" altLang="en-US" sz="500" b="1" dirty="0">
                    <a:ln w="3175">
                      <a:noFill/>
                    </a:ln>
                    <a:solidFill>
                      <a:srgbClr val="00B050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zh-TW" sz="500" b="1" dirty="0">
                    <a:ln w="0">
                      <a:noFill/>
                    </a:ln>
                    <a:solidFill>
                      <a:srgbClr val="00B050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itchFamily="34" charset="0"/>
                    <a:cs typeface="Arial" pitchFamily="34" charset="0"/>
                  </a:rPr>
                  <a:t>PVN</a:t>
                </a:r>
                <a:endParaRPr lang="zh-TW" altLang="en-US" sz="500" b="1" dirty="0">
                  <a:ln w="0">
                    <a:noFill/>
                  </a:ln>
                  <a:solidFill>
                    <a:srgbClr val="00B050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23" y="2280290"/>
            <a:ext cx="1259993" cy="167338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7" name="TextBox 6"/>
          <p:cNvSpPr txBox="1"/>
          <p:nvPr/>
        </p:nvSpPr>
        <p:spPr>
          <a:xfrm>
            <a:off x="300960" y="1232541"/>
            <a:ext cx="42957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Due to their large size, the K10 and WET stations of the Zumba model must be operated manually. After operation, the cartons must be manually moved onto pallets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This results in increased time, labor, and a potential risk of </a:t>
            </a:r>
            <a:r>
              <a:rPr lang="vi-VN" sz="1200" dirty="0">
                <a:cs typeface="Arial" panose="020B0604020202020204" pitchFamily="34" charset="0"/>
              </a:rPr>
              <a:t>collisions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during transportation.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818111" y="4869467"/>
            <a:ext cx="1819656" cy="136474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800760" y="4906497"/>
            <a:ext cx="1817573" cy="128629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0" name="Right Arrow 39"/>
          <p:cNvSpPr/>
          <p:nvPr/>
        </p:nvSpPr>
        <p:spPr>
          <a:xfrm>
            <a:off x="8605189" y="5402163"/>
            <a:ext cx="311244" cy="2451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6108558" y="3571508"/>
            <a:ext cx="49144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After manually operating the K10 and WET stations, the operator (OP) uses the bypass mode of the AOI </a:t>
            </a:r>
            <a:r>
              <a:rPr lang="vi-VN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arton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transport the cartons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Thensuresis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reduces operating time and 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no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collisions occur during transport.</a:t>
            </a:r>
          </a:p>
        </p:txBody>
      </p:sp>
      <p:pic>
        <p:nvPicPr>
          <p:cNvPr id="2" name="Picture 1"/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034999" y="2318133"/>
            <a:ext cx="1261872" cy="167335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Picture 4"/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122329" y="2280290"/>
            <a:ext cx="1261872" cy="167335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1" name="Right Arrow 40"/>
          <p:cNvSpPr/>
          <p:nvPr/>
        </p:nvSpPr>
        <p:spPr>
          <a:xfrm>
            <a:off x="1698908" y="2979761"/>
            <a:ext cx="311244" cy="2451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ight Arrow 41"/>
          <p:cNvSpPr/>
          <p:nvPr/>
        </p:nvSpPr>
        <p:spPr>
          <a:xfrm>
            <a:off x="3468507" y="2956737"/>
            <a:ext cx="311244" cy="2451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9423" y="5024164"/>
            <a:ext cx="2114395" cy="149928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9" name="TextBox 8"/>
          <p:cNvSpPr txBox="1"/>
          <p:nvPr/>
        </p:nvSpPr>
        <p:spPr>
          <a:xfrm>
            <a:off x="195262" y="4385799"/>
            <a:ext cx="227598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Added bypass function, </a:t>
            </a:r>
            <a:r>
              <a:rPr lang="vi-V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transmit</a:t>
            </a: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 the</a:t>
            </a:r>
            <a:r>
              <a:rPr lang="vi-V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 M0</a:t>
            </a:r>
            <a:r>
              <a:rPr lang="vi-VN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M5 signal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to the PLC.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41973" y="4392556"/>
            <a:ext cx="271849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The PLC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receives M0 and M5 signals from the program. The conveyor will automatically move</a:t>
            </a: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3314914" y="5037541"/>
            <a:ext cx="2112264" cy="149961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9" name="Picture 18"/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6259827" y="1647763"/>
            <a:ext cx="2112264" cy="149961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04670" y="1678176"/>
            <a:ext cx="2112264" cy="146920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8" name="TextBox 47"/>
          <p:cNvSpPr txBox="1"/>
          <p:nvPr/>
        </p:nvSpPr>
        <p:spPr>
          <a:xfrm>
            <a:off x="6177967" y="1154182"/>
            <a:ext cx="22759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Bypass mode is set.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09628" y="1158789"/>
            <a:ext cx="26196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I/O signal has been </a:t>
            </a:r>
            <a:r>
              <a:rPr lang="vi-VN" sz="1100" dirty="0">
                <a:latin typeface="Arial" panose="020B0604020202020204" pitchFamily="34" charset="0"/>
                <a:cs typeface="Arial" panose="020B0604020202020204" pitchFamily="34" charset="0"/>
              </a:rPr>
              <a:t>connected</a:t>
            </a: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vi-V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11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ypass</a:t>
            </a: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mode testing is </a:t>
            </a:r>
            <a:r>
              <a:rPr lang="vi-VN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completed</a:t>
            </a: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3721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391</TotalTime>
  <Words>290</Words>
  <Application>Microsoft Office PowerPoint</Application>
  <PresentationFormat>Widescreen</PresentationFormat>
  <Paragraphs>20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3" baseType="lpstr">
      <vt:lpstr>Amasis MT Pro Black</vt:lpstr>
      <vt:lpstr>DengXian</vt:lpstr>
      <vt:lpstr>HY그래픽M</vt:lpstr>
      <vt:lpstr>宋体</vt:lpstr>
      <vt:lpstr>华文新魏</vt:lpstr>
      <vt:lpstr>微軟正黑體</vt:lpstr>
      <vt:lpstr>新細明體</vt:lpstr>
      <vt:lpstr>Arial</vt:lpstr>
      <vt:lpstr>Calibri</vt:lpstr>
      <vt:lpstr>Trebuchet MS</vt:lpstr>
      <vt:lpstr>Wingdings 3</vt:lpstr>
      <vt:lpstr>Facet</vt:lpstr>
      <vt:lpstr>PowerPoint Presentation</vt:lpstr>
    </vt:vector>
  </TitlesOfParts>
  <Company>Nothing1010.blogspot.com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Leon Than(THÂN NGỌC LONG_PVN)</dc:creator>
  <cp:lastModifiedBy>Leon Than(THÂN NGỌC LONG_PVN)</cp:lastModifiedBy>
  <cp:revision>60</cp:revision>
  <dcterms:created xsi:type="dcterms:W3CDTF">2025-12-22T09:14:40Z</dcterms:created>
  <dcterms:modified xsi:type="dcterms:W3CDTF">2026-03-24T03:26:52Z</dcterms:modified>
</cp:coreProperties>
</file>